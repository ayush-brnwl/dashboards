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144" autoAdjust="0"/>
  </p:normalViewPr>
  <p:slideViewPr>
    <p:cSldViewPr snapToGrid="0" snapToObjects="1">
      <p:cViewPr varScale="1">
        <p:scale>
          <a:sx n="59" d="100"/>
          <a:sy n="59" d="100"/>
        </p:scale>
        <p:origin x="921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48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- Start with a simple framing: this is not just a Grafana dashboard; it is a governance intelligence layer built on GitHub Enterprise audit logs.
- Set expectation that the audience does not need deep GitHub admin knowledge.
- Mention the flow: first basic audit-log concepts, then the architecture, then how raw events become reviewable findings, then the live demo.
Do:
- Keep the opening under 2 minutes.
- Avoid jumping into BigQuery or Grafana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- Explain audit logs using a normal business analogy: they are a record of important actions.
- Use one example: if someone disables push protection, the audit log tells us the actor, action, repository and time.
- Emphasize that raw audit logs are necessary but not sufficient; they do not automatically tell whether an event is risky or expected.
Do:
- Point to the five fields: who, what, where, affected identity, timestamp.
- Keep this slide accessible; avoid platform jargon.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- The platform was built because manual audit review does not scale.
- The real goal is to reduce time-to-answer: who changed what, where, was it expected, and does it need review?
- Highlight the important design choice: we do not hide approved bot activity; we classify and explain it.
Do:
- Use a concrete example: branch protection override by a human is different from an approved repo-provisioning bot applying a standard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- Walk left to right. GitHub produces audit events; files land in GCS; processing normalizes data; BigQuery stores both normalized and curated governance tables; Grafana makes it reviewable.
- Point out the two important middle pieces: classifier and exception control.
- Explain that the architecture keeps raw data and governance findings separate, so findings remain traceable.
Do:
- Spend 5–6 minutes here. This is the core slide for non-platform people.
- Avoid low-level implementation detail unless someone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- The value comes from converting a technical event into a reviewable finding.
- Explain that every finding has a rule_id, rule_version and review_reason so the platform can be audited itself.
- Mention exceptions: approved automation is not ignored; it receives an override and remains visible.
Do:
- Use this as a bridge between architecture and demo.
- If someone asks about false positives, say the exception register and rule versioning are designed for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- This is the impact slide. Frame the platform as a faster way to answer governance questions, not just a dashboard collection.
- Pick two examples that matter to your audience: security control disabled, and bot exception approval.
- Mention that these questions previously required raw audit queries or manual log inspection.
Do:
- Ask the audience which of these questions they have had to answer before. It creates engagement without derailing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- Explain why fewer dashboards are better. The goal is to make the product usable for managers and reviewers.
- Overview is the entry point; drilldowns are for investigation; reports are for evidence; classifier operations is for platform owners.
- Mention that pipeline health was embedded into Overview instead of keeping a separate dashboard.
Do:
- Do not open every dashboard in the live demo. Use this slide to show the map, then demo only the core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- Explain that the demo will follow three questions, not every screen.
Suggested demo questions:
1. Which critical/high governance events appeared recently?
2. Who changed this repository control and was it expected?
3. Can we produce evidence for the review period?
Do:
- Before the session, bookmark one good security-control event, one access event and one approved automation event.
- Avoid typing complex SQL live unless asked. Use dashboards first; keep BigQuery as backup.
- If Grafana is slow, switch to the prepared BigQuery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
- Summarize the impact in three words: faster, explainable, controlled.
- Be clear that the next step is not more dashboards; it is review workflow, alerts and better operationalization.
- Invite feedback: ask people what governance questions they currently struggle to answer.
Do:
- End with a clear ask for feedback and potential use cases.
- Leave 5–10 minutes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49808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700" b="1" dirty="0">
                <a:solidFill>
                  <a:srgbClr val="F6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 Governance Platform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21792" y="142646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6C5D7"/>
                </a:solidFill>
              </a:rPr>
              <a:t>Turning GitHub Enterprise audit logs into actionable governance insights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" y="1993392"/>
            <a:ext cx="2971800" cy="0"/>
          </a:xfrm>
          <a:prstGeom prst="line">
            <a:avLst/>
          </a:prstGeom>
          <a:noFill/>
          <a:ln w="29210">
            <a:solidFill>
              <a:srgbClr val="4DA3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393192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132B4D"/>
          </a:solidFill>
          <a:ln w="10160">
            <a:solidFill>
              <a:srgbClr val="2A4B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4160520"/>
            <a:ext cx="402336" cy="402336"/>
          </a:xfrm>
          <a:prstGeom prst="ellipse">
            <a:avLst/>
          </a:prstGeom>
          <a:solidFill>
            <a:srgbClr val="4DA3FF">
              <a:alpha val="90000"/>
            </a:srgbClr>
          </a:solidFill>
          <a:ln w="12700">
            <a:solidFill>
              <a:srgbClr val="4DA3FF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42153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16736" y="41056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8FB"/>
                </a:solidFill>
              </a:rPr>
              <a:t>Audit logs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16736" y="4416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5D7"/>
                </a:solidFill>
              </a:rPr>
              <a:t>What happened in GitHub?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85032" y="393192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132B4D"/>
          </a:solidFill>
          <a:ln w="10160">
            <a:solidFill>
              <a:srgbClr val="2A4B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9624" y="4160520"/>
            <a:ext cx="402336" cy="402336"/>
          </a:xfrm>
          <a:prstGeom prst="ellipse">
            <a:avLst/>
          </a:prstGeom>
          <a:solidFill>
            <a:srgbClr val="B875FF">
              <a:alpha val="90000"/>
            </a:srgbClr>
          </a:solidFill>
          <a:ln w="12700">
            <a:solidFill>
              <a:srgbClr val="B875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42153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79976" y="41056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8FB"/>
                </a:solidFill>
              </a:rPr>
              <a:t>Governance intelligence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79976" y="4416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5D7"/>
                </a:solidFill>
              </a:rPr>
              <a:t>What needs review?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48272" y="3931920"/>
            <a:ext cx="2651760" cy="1078992"/>
          </a:xfrm>
          <a:prstGeom prst="roundRect">
            <a:avLst>
              <a:gd name="adj" fmla="val 6780"/>
            </a:avLst>
          </a:prstGeom>
          <a:solidFill>
            <a:srgbClr val="132B4D"/>
          </a:solidFill>
          <a:ln w="10160">
            <a:solidFill>
              <a:srgbClr val="2A4B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12864" y="4160520"/>
            <a:ext cx="402336" cy="402336"/>
          </a:xfrm>
          <a:prstGeom prst="ellipse">
            <a:avLst/>
          </a:prstGeom>
          <a:solidFill>
            <a:srgbClr val="65D17A">
              <a:alpha val="90000"/>
            </a:srgbClr>
          </a:solidFill>
          <a:ln w="12700">
            <a:solidFill>
              <a:srgbClr val="65D17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42153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43216" y="41056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6F8FB"/>
                </a:solidFill>
              </a:rPr>
              <a:t>Evidence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43216" y="44165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5D7"/>
                </a:solidFill>
              </a:rPr>
              <a:t>How do we prove it?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1792" y="5687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6F8FB"/>
                </a:solidFill>
              </a:rPr>
              <a:t>Ayush Baranwal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" y="59618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5D7"/>
                </a:solidFill>
              </a:rPr>
              <a:t>Engineering Brown Bag Session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1480" y="6446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5D7"/>
                </a:solidFill>
              </a:rPr>
              <a:t>GitHub Governance Platform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6C5D7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are GitHub audit logs?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5D7"/>
                </a:solidFill>
              </a:rPr>
              <a:t>A basic view for people who do not work with platform audit data every day.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389888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10243F"/>
          </a:solidFill>
          <a:ln w="10160">
            <a:solidFill>
              <a:srgbClr val="2A4B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64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4D3E4"/>
                </a:solidFill>
              </a:rPr>
              <a:t>AUDIT LOG = EVENT RECORD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6F8FB"/>
                </a:solidFill>
              </a:rPr>
              <a:t>Every important GitHub action can produce an audit event.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2679192"/>
            <a:ext cx="82296" cy="82296"/>
          </a:xfrm>
          <a:prstGeom prst="ellipse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6060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8FB"/>
                </a:solidFill>
              </a:rPr>
              <a:t>Who did it?  actor, actor_id, IP, user 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108960"/>
            <a:ext cx="82296" cy="82296"/>
          </a:xfrm>
          <a:prstGeom prst="ellipse">
            <a:avLst/>
          </a:prstGeom>
          <a:solidFill>
            <a:srgbClr val="65D17A"/>
          </a:solidFill>
          <a:ln w="12700">
            <a:solidFill>
              <a:srgbClr val="65D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03580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8FB"/>
                </a:solidFill>
              </a:rPr>
              <a:t>What happened?  action and category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538728"/>
            <a:ext cx="82296" cy="82296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4655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8FB"/>
                </a:solidFill>
              </a:rPr>
              <a:t>Where?  organization and repository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968496"/>
            <a:ext cx="82296" cy="82296"/>
          </a:xfrm>
          <a:prstGeom prst="ellipse">
            <a:avLst/>
          </a:prstGeom>
          <a:solidFill>
            <a:srgbClr val="B875FF"/>
          </a:solidFill>
          <a:ln w="12700">
            <a:solidFill>
              <a:srgbClr val="B875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8953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8FB"/>
                </a:solidFill>
              </a:rPr>
              <a:t>Who/what was affected?  user, token, app or repo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398264"/>
            <a:ext cx="82296" cy="82296"/>
          </a:xfrm>
          <a:prstGeom prst="ellipse">
            <a:avLst/>
          </a:prstGeom>
          <a:solidFill>
            <a:srgbClr val="FF4D67"/>
          </a:solidFill>
          <a:ln w="12700">
            <a:solidFill>
              <a:srgbClr val="FF4D6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3272" y="43251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6F8FB"/>
                </a:solidFill>
              </a:rPr>
              <a:t>When and where from?  timestamp, source file, request 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389888"/>
            <a:ext cx="4983480" cy="4343400"/>
          </a:xfrm>
          <a:prstGeom prst="roundRect">
            <a:avLst>
              <a:gd name="adj" fmla="val 1684"/>
            </a:avLst>
          </a:prstGeom>
          <a:solidFill>
            <a:srgbClr val="132B4D"/>
          </a:solidFill>
          <a:ln w="10160">
            <a:solidFill>
              <a:srgbClr val="2A4B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664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84D"/>
                </a:solidFill>
              </a:rPr>
              <a:t>EXAMPLES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29400" y="20574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4DA3FF"/>
                </a:solidFill>
              </a:rPr>
              <a:t>repo.change_merge_setting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9189720" y="20574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6F8FB"/>
                </a:solidFill>
              </a:rPr>
              <a:t>Merge policy changed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629400" y="2423160"/>
            <a:ext cx="4389120" cy="0"/>
          </a:xfrm>
          <a:prstGeom prst="line">
            <a:avLst/>
          </a:prstGeom>
          <a:noFill/>
          <a:ln w="7620">
            <a:solidFill>
              <a:srgbClr val="2A4B74">
                <a:alpha val="7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6243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4DA3FF"/>
                </a:solidFill>
              </a:rPr>
              <a:t>protected_branch.policy_override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9189720" y="262432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6F8FB"/>
                </a:solidFill>
              </a:rPr>
              <a:t>Branch protection bypassed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6629400" y="2990088"/>
            <a:ext cx="4389120" cy="0"/>
          </a:xfrm>
          <a:prstGeom prst="line">
            <a:avLst/>
          </a:prstGeom>
          <a:noFill/>
          <a:ln w="7620">
            <a:solidFill>
              <a:srgbClr val="2A4B74">
                <a:alpha val="7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31912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4DA3FF"/>
                </a:solidFill>
              </a:rPr>
              <a:t>repository_security_configuration.update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9189720" y="319125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6F8FB"/>
                </a:solidFill>
              </a:rPr>
              <a:t>Security control changed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629400" y="3557016"/>
            <a:ext cx="4389120" cy="0"/>
          </a:xfrm>
          <a:prstGeom prst="line">
            <a:avLst/>
          </a:prstGeom>
          <a:noFill/>
          <a:ln w="7620">
            <a:solidFill>
              <a:srgbClr val="2A4B74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7581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4DA3FF"/>
                </a:solidFill>
              </a:rPr>
              <a:t>team.add_member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9189720" y="37581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6F8FB"/>
                </a:solidFill>
              </a:rPr>
              <a:t>Access granted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6629400" y="4123944"/>
            <a:ext cx="4389120" cy="0"/>
          </a:xfrm>
          <a:prstGeom prst="line">
            <a:avLst/>
          </a:prstGeom>
          <a:noFill/>
          <a:ln w="7620">
            <a:solidFill>
              <a:srgbClr val="2A4B74">
                <a:alpha val="7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9400" y="43251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4DA3FF"/>
                </a:solidFill>
              </a:rPr>
              <a:t>user.suspended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189720" y="43251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F6F8FB"/>
                </a:solidFill>
              </a:rPr>
              <a:t>Account lifecycle event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6629400" y="4690872"/>
            <a:ext cx="4389120" cy="0"/>
          </a:xfrm>
          <a:prstGeom prst="line">
            <a:avLst/>
          </a:prstGeom>
          <a:noFill/>
          <a:ln w="7620">
            <a:solidFill>
              <a:srgbClr val="2A4B74">
                <a:alpha val="7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5166360"/>
            <a:ext cx="4251960" cy="310896"/>
          </a:xfrm>
          <a:prstGeom prst="roundRect">
            <a:avLst>
              <a:gd name="adj" fmla="val 23529"/>
            </a:avLst>
          </a:prstGeom>
          <a:solidFill>
            <a:srgbClr val="B875FF">
              <a:alpha val="92000"/>
            </a:srgbClr>
          </a:solidFill>
          <a:ln w="8890">
            <a:solidFill>
              <a:srgbClr val="B875FF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9712" y="5239512"/>
            <a:ext cx="4014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6F8FB"/>
                </a:solidFill>
              </a:rPr>
              <a:t>Raw logs tell us facts — governance needs interpretation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6446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5D7"/>
                </a:solidFill>
              </a:rPr>
              <a:t>GitHub Governance Platform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6C5D7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build a governance platform?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5D7"/>
                </a:solidFill>
              </a:rPr>
              <a:t>The problem was not lack of data. The problem was finding the right signal quickly.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474720" cy="1572768"/>
          </a:xfrm>
          <a:prstGeom prst="roundRect">
            <a:avLst>
              <a:gd name="adj" fmla="val 4651"/>
            </a:avLst>
          </a:prstGeom>
          <a:solidFill>
            <a:srgbClr val="10243F"/>
          </a:solidFill>
          <a:ln w="10160">
            <a:solidFill>
              <a:srgbClr val="4DA3FF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417320"/>
            <a:ext cx="64008" cy="1572768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618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Raw audit volume is high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1947672"/>
            <a:ext cx="3154680" cy="9052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Large event streams are hard to inspect manually. Useful signals are mixed with routine automation and noise.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474720" cy="1572768"/>
          </a:xfrm>
          <a:prstGeom prst="roundRect">
            <a:avLst>
              <a:gd name="adj" fmla="val 4651"/>
            </a:avLst>
          </a:prstGeom>
          <a:solidFill>
            <a:srgbClr val="10243F"/>
          </a:solidFill>
          <a:ln w="10160">
            <a:solidFill>
              <a:srgbClr val="B875FF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417320"/>
            <a:ext cx="64008" cy="1572768"/>
          </a:xfrm>
          <a:prstGeom prst="rect">
            <a:avLst/>
          </a:prstGeom>
          <a:solidFill>
            <a:srgbClr val="B875FF"/>
          </a:solidFill>
          <a:ln w="12700">
            <a:solidFill>
              <a:srgbClr val="B875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618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Actions are low-level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1947672"/>
            <a:ext cx="3154680" cy="9052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GitHub gives technical actions. Governance reviewers need business meaning: access change, security control disabled, branch policy override.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092440" y="1417320"/>
            <a:ext cx="3474720" cy="1572768"/>
          </a:xfrm>
          <a:prstGeom prst="roundRect">
            <a:avLst>
              <a:gd name="adj" fmla="val 4651"/>
            </a:avLst>
          </a:prstGeom>
          <a:solidFill>
            <a:srgbClr val="10243F"/>
          </a:solidFill>
          <a:ln w="10160">
            <a:solidFill>
              <a:srgbClr val="FF4D67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2440" y="1417320"/>
            <a:ext cx="64008" cy="1572768"/>
          </a:xfrm>
          <a:prstGeom prst="rect">
            <a:avLst/>
          </a:prstGeom>
          <a:solidFill>
            <a:srgbClr val="FF4D67"/>
          </a:solidFill>
          <a:ln w="12700">
            <a:solidFill>
              <a:srgbClr val="FF4D6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618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Review priority is missing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02752" y="1947672"/>
            <a:ext cx="3154680" cy="9052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A raw event does not say whether it is Critical, High, Medium or Low for governance review.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594360" y="3337560"/>
            <a:ext cx="3474720" cy="1572768"/>
          </a:xfrm>
          <a:prstGeom prst="roundRect">
            <a:avLst>
              <a:gd name="adj" fmla="val 4651"/>
            </a:avLst>
          </a:prstGeom>
          <a:solidFill>
            <a:srgbClr val="10243F"/>
          </a:solidFill>
          <a:ln w="10160">
            <a:solidFill>
              <a:srgbClr val="65D17A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337560"/>
            <a:ext cx="64008" cy="1572768"/>
          </a:xfrm>
          <a:prstGeom prst="rect">
            <a:avLst/>
          </a:prstGeom>
          <a:solidFill>
            <a:srgbClr val="65D17A"/>
          </a:solidFill>
          <a:ln w="12700">
            <a:solidFill>
              <a:srgbClr val="65D17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35387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Approved automation needs context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4672" y="3867912"/>
            <a:ext cx="3154680" cy="9052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Platform bots can create high-volume changes. They must stay visible, but expected changes should not distract reviewers.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4343400" y="3337560"/>
            <a:ext cx="3474720" cy="1572768"/>
          </a:xfrm>
          <a:prstGeom prst="roundRect">
            <a:avLst>
              <a:gd name="adj" fmla="val 4651"/>
            </a:avLst>
          </a:prstGeom>
          <a:solidFill>
            <a:srgbClr val="10243F"/>
          </a:solidFill>
          <a:ln w="1016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43400" y="3337560"/>
            <a:ext cx="64008" cy="157276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35387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Evidence is hard to prepare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53712" y="3867912"/>
            <a:ext cx="3154680" cy="9052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Managers need weekly evidence: what changed, who did it, what was affected and why it matters.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8092440" y="3337560"/>
            <a:ext cx="3474720" cy="1572768"/>
          </a:xfrm>
          <a:prstGeom prst="roundRect">
            <a:avLst>
              <a:gd name="adj" fmla="val 4651"/>
            </a:avLst>
          </a:prstGeom>
          <a:solidFill>
            <a:srgbClr val="10243F"/>
          </a:solidFill>
          <a:ln w="10160">
            <a:solidFill>
              <a:srgbClr val="34D3E4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92440" y="3337560"/>
            <a:ext cx="64008" cy="1572768"/>
          </a:xfrm>
          <a:prstGeom prst="rect">
            <a:avLst/>
          </a:prstGeom>
          <a:solidFill>
            <a:srgbClr val="34D3E4"/>
          </a:solidFill>
          <a:ln w="12700">
            <a:solidFill>
              <a:srgbClr val="34D3E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02752" y="35387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Dashboards need trust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02752" y="3867912"/>
            <a:ext cx="3154680" cy="9052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Every dashboard count must trace back to source audit data, classifier rule and review reason.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411480" y="6446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5D7"/>
                </a:solidFill>
              </a:rPr>
              <a:t>GitHub Governance Platform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6C5D7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Architecture: from audit stream to governance intelligence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5D7"/>
                </a:solidFill>
              </a:rPr>
              <a:t>A layered path from GitHub Enterprise events to dashboards, reports and review evidence.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1920240"/>
            <a:ext cx="685800" cy="0"/>
          </a:xfrm>
          <a:prstGeom prst="line">
            <a:avLst/>
          </a:prstGeom>
          <a:noFill/>
          <a:ln w="15240">
            <a:solidFill>
              <a:srgbClr val="4DA3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60520" y="1920240"/>
            <a:ext cx="640080" cy="0"/>
          </a:xfrm>
          <a:prstGeom prst="line">
            <a:avLst/>
          </a:prstGeom>
          <a:noFill/>
          <a:ln w="15240">
            <a:solidFill>
              <a:srgbClr val="4DA3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355080" y="1920240"/>
            <a:ext cx="640080" cy="0"/>
          </a:xfrm>
          <a:prstGeom prst="line">
            <a:avLst/>
          </a:prstGeom>
          <a:noFill/>
          <a:ln w="15240">
            <a:solidFill>
              <a:srgbClr val="4DA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732520" y="1920240"/>
            <a:ext cx="594360" cy="0"/>
          </a:xfrm>
          <a:prstGeom prst="line">
            <a:avLst/>
          </a:prstGeom>
          <a:noFill/>
          <a:ln w="15240">
            <a:solidFill>
              <a:srgbClr val="4DA3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49240" y="2788920"/>
            <a:ext cx="0" cy="868680"/>
          </a:xfrm>
          <a:prstGeom prst="line">
            <a:avLst/>
          </a:prstGeom>
          <a:noFill/>
          <a:ln w="15240">
            <a:solidFill>
              <a:srgbClr val="B875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92440" y="2788920"/>
            <a:ext cx="0" cy="868680"/>
          </a:xfrm>
          <a:prstGeom prst="line">
            <a:avLst/>
          </a:prstGeom>
          <a:noFill/>
          <a:ln w="15240">
            <a:solidFill>
              <a:srgbClr val="B875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1389888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32B4D"/>
          </a:solidFill>
          <a:ln w="10160">
            <a:solidFill>
              <a:srgbClr val="4DA3FF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" y="1554480"/>
            <a:ext cx="402336" cy="402336"/>
          </a:xfrm>
          <a:prstGeom prst="ellipse">
            <a:avLst/>
          </a:prstGeom>
          <a:solidFill>
            <a:srgbClr val="4DA3FF">
              <a:alpha val="90000"/>
            </a:srgbClr>
          </a:solidFill>
          <a:ln w="12700">
            <a:solidFill>
              <a:srgbClr val="4DA3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" y="160934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GH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52728" y="1572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GitHub Enterprise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52728" y="1847088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Audit log stream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Actor, action, org, repo, affected user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788920" y="1389888"/>
            <a:ext cx="1508760" cy="1097280"/>
          </a:xfrm>
          <a:prstGeom prst="roundRect">
            <a:avLst>
              <a:gd name="adj" fmla="val 6667"/>
            </a:avLst>
          </a:prstGeom>
          <a:solidFill>
            <a:srgbClr val="132B4D"/>
          </a:solidFill>
          <a:ln w="10160">
            <a:solidFill>
              <a:srgbClr val="65D17A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53512" y="1554480"/>
            <a:ext cx="402336" cy="402336"/>
          </a:xfrm>
          <a:prstGeom prst="ellipse">
            <a:avLst/>
          </a:prstGeom>
          <a:solidFill>
            <a:srgbClr val="65D17A">
              <a:alpha val="90000"/>
            </a:srgbClr>
          </a:solidFill>
          <a:ln w="12700">
            <a:solidFill>
              <a:srgbClr val="65D17A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53512" y="160934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GCS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47288" y="1572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GCS landing zone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47288" y="1847088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Raw files per environment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Partitioned by time/source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800600" y="1389888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132B4D"/>
          </a:solidFill>
          <a:ln w="10160">
            <a:solidFill>
              <a:srgbClr val="FFB84D">
                <a:alpha val="8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65192" y="1554480"/>
            <a:ext cx="402336" cy="402336"/>
          </a:xfrm>
          <a:prstGeom prst="ellipse">
            <a:avLst/>
          </a:prstGeom>
          <a:solidFill>
            <a:srgbClr val="FFB84D">
              <a:alpha val="90000"/>
            </a:srgbClr>
          </a:solidFill>
          <a:ln w="12700">
            <a:solidFill>
              <a:srgbClr val="FFB84D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160934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ETL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58968" y="1572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Processing layer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58968" y="18470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Parse JSON, normalize fields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Deduplicate, validate, enrich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995160" y="1389888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132B4D"/>
          </a:solidFill>
          <a:ln w="10160">
            <a:solidFill>
              <a:srgbClr val="B875FF">
                <a:alpha val="8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59752" y="1554480"/>
            <a:ext cx="402336" cy="402336"/>
          </a:xfrm>
          <a:prstGeom prst="ellipse">
            <a:avLst/>
          </a:prstGeom>
          <a:solidFill>
            <a:srgbClr val="B875FF">
              <a:alpha val="90000"/>
            </a:srgbClr>
          </a:solidFill>
          <a:ln w="12700">
            <a:solidFill>
              <a:srgbClr val="B875FF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9752" y="160934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BQ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653528" y="15727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BigQuery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653528" y="18470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Normalized events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Curated governance events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Exception register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9326880" y="1389888"/>
            <a:ext cx="1828800" cy="1097280"/>
          </a:xfrm>
          <a:prstGeom prst="roundRect">
            <a:avLst>
              <a:gd name="adj" fmla="val 6667"/>
            </a:avLst>
          </a:prstGeom>
          <a:solidFill>
            <a:srgbClr val="132B4D"/>
          </a:solidFill>
          <a:ln w="10160">
            <a:solidFill>
              <a:srgbClr val="34D3E4">
                <a:alpha val="8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91472" y="1554480"/>
            <a:ext cx="402336" cy="402336"/>
          </a:xfrm>
          <a:prstGeom prst="ellipse">
            <a:avLst/>
          </a:prstGeom>
          <a:solidFill>
            <a:srgbClr val="34D3E4">
              <a:alpha val="90000"/>
            </a:srgbClr>
          </a:solidFill>
          <a:ln w="12700">
            <a:solidFill>
              <a:srgbClr val="34D3E4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91472" y="160934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UI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985248" y="15727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Grafana &amp; evidence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985248" y="184708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Overview, drilldowns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Review queues, exports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4160520" y="365760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132B4D"/>
          </a:solidFill>
          <a:ln w="10160">
            <a:solidFill>
              <a:srgbClr val="FF4D67">
                <a:alpha val="8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25112" y="3822192"/>
            <a:ext cx="402336" cy="402336"/>
          </a:xfrm>
          <a:prstGeom prst="ellipse">
            <a:avLst/>
          </a:prstGeom>
          <a:solidFill>
            <a:srgbClr val="FF4D67">
              <a:alpha val="90000"/>
            </a:srgbClr>
          </a:solidFill>
          <a:ln w="12700">
            <a:solidFill>
              <a:srgbClr val="FF4D67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25112" y="38770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RULE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18888" y="384048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Governance classifier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18888" y="41148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Rules map low-level actions to governance areas, event types and priority.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812280" y="3657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32B4D"/>
          </a:solidFill>
          <a:ln w="10160">
            <a:solidFill>
              <a:srgbClr val="FF7A45">
                <a:alpha val="8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76872" y="3822192"/>
            <a:ext cx="402336" cy="402336"/>
          </a:xfrm>
          <a:prstGeom prst="ellipse">
            <a:avLst/>
          </a:prstGeom>
          <a:solidFill>
            <a:srgbClr val="FF7A45">
              <a:alpha val="90000"/>
            </a:srgbClr>
          </a:solidFill>
          <a:ln w="12700">
            <a:solidFill>
              <a:srgbClr val="FF7A45">
                <a:alpha val="8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76872" y="387705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EXC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70648" y="3840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Exception control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470648" y="41148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Approved automation remains traceable but can receive a lower final priority.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94360" y="5230368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0E2038"/>
          </a:solidFill>
          <a:ln w="10160">
            <a:solidFill>
              <a:srgbClr val="2A4B7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5431536"/>
            <a:ext cx="10012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6C5D7"/>
                </a:solidFill>
              </a:rPr>
              <a:t>Security and operations controls: IAM least privilege • Secret management • VPC/service controls • pipeline health • queryable lineage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11480" y="6446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5D7"/>
                </a:solidFill>
              </a:rPr>
              <a:t>GitHub Governance Platform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6C5D7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journey: from event to reviewable finding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5D7"/>
                </a:solidFill>
              </a:rPr>
              <a:t>Each step adds context without losing source traceability.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0" y="2834640"/>
            <a:ext cx="384048" cy="0"/>
          </a:xfrm>
          <a:prstGeom prst="line">
            <a:avLst/>
          </a:prstGeom>
          <a:noFill/>
          <a:ln w="15240">
            <a:solidFill>
              <a:srgbClr val="4DA3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434840" y="2834640"/>
            <a:ext cx="384048" cy="0"/>
          </a:xfrm>
          <a:prstGeom prst="line">
            <a:avLst/>
          </a:prstGeom>
          <a:noFill/>
          <a:ln w="15240">
            <a:solidFill>
              <a:srgbClr val="4DA3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83680" y="2834640"/>
            <a:ext cx="384048" cy="0"/>
          </a:xfrm>
          <a:prstGeom prst="line">
            <a:avLst/>
          </a:prstGeom>
          <a:noFill/>
          <a:ln w="15240">
            <a:solidFill>
              <a:srgbClr val="4DA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732520" y="2834640"/>
            <a:ext cx="384048" cy="0"/>
          </a:xfrm>
          <a:prstGeom prst="line">
            <a:avLst/>
          </a:prstGeom>
          <a:noFill/>
          <a:ln w="15240">
            <a:solidFill>
              <a:srgbClr val="4DA3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4DA3FF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313432"/>
            <a:ext cx="402336" cy="402336"/>
          </a:xfrm>
          <a:prstGeom prst="ellipse">
            <a:avLst/>
          </a:prstGeom>
          <a:solidFill>
            <a:srgbClr val="4DA3FF">
              <a:alpha val="90000"/>
            </a:srgbClr>
          </a:solidFill>
          <a:ln w="12700">
            <a:solidFill>
              <a:srgbClr val="4DA3F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3682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Raw audit event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44168" y="2606040"/>
            <a:ext cx="777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repo.change_merge_setting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actor, org, repo, timestamp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834640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65D17A">
                <a:alpha val="8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99232" y="2313432"/>
            <a:ext cx="402336" cy="402336"/>
          </a:xfrm>
          <a:prstGeom prst="ellipse">
            <a:avLst/>
          </a:prstGeom>
          <a:solidFill>
            <a:srgbClr val="65D17A">
              <a:alpha val="90000"/>
            </a:srgbClr>
          </a:solidFill>
          <a:ln w="12700">
            <a:solidFill>
              <a:srgbClr val="65D17A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99232" y="23682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93008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Normalized event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93008" y="2606040"/>
            <a:ext cx="777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consistent columns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event_key, source_file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983480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B875FF">
                <a:alpha val="8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8072" y="2313432"/>
            <a:ext cx="402336" cy="402336"/>
          </a:xfrm>
          <a:prstGeom prst="ellipse">
            <a:avLst/>
          </a:prstGeom>
          <a:solidFill>
            <a:srgbClr val="B875FF">
              <a:alpha val="90000"/>
            </a:srgbClr>
          </a:solidFill>
          <a:ln w="12700">
            <a:solidFill>
              <a:srgbClr val="B875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48072" y="23682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41848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Classifier rule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41848" y="2606040"/>
            <a:ext cx="777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governance_area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event_type, rule_id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132320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FF4D67">
                <a:alpha val="8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96912" y="2313432"/>
            <a:ext cx="402336" cy="402336"/>
          </a:xfrm>
          <a:prstGeom prst="ellipse">
            <a:avLst/>
          </a:prstGeom>
          <a:solidFill>
            <a:srgbClr val="FF4D67">
              <a:alpha val="90000"/>
            </a:srgbClr>
          </a:solidFill>
          <a:ln w="12700">
            <a:solidFill>
              <a:srgbClr val="FF4D67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6912" y="23682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90688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Priority decision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90688" y="2606040"/>
            <a:ext cx="777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CRITICAL / HIGH /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MEDIUM / LOW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9281160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34D3E4">
                <a:alpha val="8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445752" y="2313432"/>
            <a:ext cx="402336" cy="402336"/>
          </a:xfrm>
          <a:prstGeom prst="ellipse">
            <a:avLst/>
          </a:prstGeom>
          <a:solidFill>
            <a:srgbClr val="34D3E4">
              <a:alpha val="90000"/>
            </a:srgbClr>
          </a:solidFill>
          <a:ln w="12700">
            <a:solidFill>
              <a:srgbClr val="34D3E4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45752" y="2368296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6F8FB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39528" y="23317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6F8FB"/>
                </a:solidFill>
              </a:rPr>
              <a:t>Review output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939528" y="2606040"/>
            <a:ext cx="777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dashboard queue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B6C5D7"/>
                </a:solidFill>
              </a:rPr>
              <a:t>evidence export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1005840" y="4297680"/>
            <a:ext cx="10149840" cy="1097280"/>
          </a:xfrm>
          <a:prstGeom prst="roundRect">
            <a:avLst>
              <a:gd name="adj" fmla="val 6667"/>
            </a:avLst>
          </a:prstGeom>
          <a:solidFill>
            <a:srgbClr val="132B4D"/>
          </a:solidFill>
          <a:ln w="10160">
            <a:solidFill>
              <a:srgbClr val="FFB84D">
                <a:alpha val="7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25880" y="45079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4D"/>
                </a:solidFill>
              </a:rPr>
              <a:t>Example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31720" y="448056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F6F8FB"/>
                </a:solidFill>
              </a:rPr>
              <a:t>protected_branch.policy_override → PROTECTED_BRANCH_POLICY_OVERRIDE → HIGH unless matched by an approved automation exception</a:t>
            </a:r>
            <a:endParaRPr lang="en-US" sz="1230" dirty="0"/>
          </a:p>
        </p:txBody>
      </p:sp>
      <p:sp>
        <p:nvSpPr>
          <p:cNvPr id="38" name="Text 36"/>
          <p:cNvSpPr/>
          <p:nvPr/>
        </p:nvSpPr>
        <p:spPr>
          <a:xfrm>
            <a:off x="2331720" y="48554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5D7"/>
                </a:solidFill>
              </a:rPr>
              <a:t>Traceability fields retained: event_key, source_file, rule_id, rule_version, review_reason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6446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5D7"/>
                </a:solidFill>
              </a:rPr>
              <a:t>GitHub Governance Platform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6C5D7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this helps answer faster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5D7"/>
                </a:solidFill>
              </a:rPr>
              <a:t>The platform is useful because it changes investigation from manual searching to guided review.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0243F"/>
          </a:solidFill>
          <a:ln w="10160">
            <a:solidFill>
              <a:srgbClr val="4DA3FF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417320"/>
            <a:ext cx="64008" cy="1005840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6184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Who changed branch protection?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4846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Actor, repo, action, time, rule reason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373368" y="1417320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0243F"/>
          </a:solidFill>
          <a:ln w="10160">
            <a:solidFill>
              <a:srgbClr val="FF4D67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73368" y="1417320"/>
            <a:ext cx="64008" cy="1005840"/>
          </a:xfrm>
          <a:prstGeom prst="rect">
            <a:avLst/>
          </a:prstGeom>
          <a:solidFill>
            <a:srgbClr val="FF4D67"/>
          </a:solidFill>
          <a:ln w="12700">
            <a:solidFill>
              <a:srgbClr val="FF4D6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6184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Was a security control disabled?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1947672"/>
            <a:ext cx="4846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Push protection, CodeQL, secret scanning, Advanced Security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58368" y="2862072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0243F"/>
          </a:solidFill>
          <a:ln w="10160">
            <a:solidFill>
              <a:srgbClr val="65D17A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862072"/>
            <a:ext cx="64008" cy="1005840"/>
          </a:xfrm>
          <a:prstGeom prst="rect">
            <a:avLst/>
          </a:prstGeom>
          <a:solidFill>
            <a:srgbClr val="65D17A"/>
          </a:solidFill>
          <a:ln w="12700">
            <a:solidFill>
              <a:srgbClr val="65D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632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Is this bot activity approved?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3392424"/>
            <a:ext cx="4846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Exception register, owner team, priority override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373368" y="2862072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0243F"/>
          </a:solidFill>
          <a:ln w="10160">
            <a:solidFill>
              <a:srgbClr val="FFB84D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2862072"/>
            <a:ext cx="64008" cy="100584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0632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Which repos need review?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83680" y="3392424"/>
            <a:ext cx="4846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High/Critical queue by repository and organization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658368" y="4306824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0243F"/>
          </a:solidFill>
          <a:ln w="10160">
            <a:solidFill>
              <a:srgbClr val="B875FF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4306824"/>
            <a:ext cx="64008" cy="1005840"/>
          </a:xfrm>
          <a:prstGeom prst="rect">
            <a:avLst/>
          </a:prstGeom>
          <a:solidFill>
            <a:srgbClr val="B875FF"/>
          </a:solidFill>
          <a:ln w="12700">
            <a:solidFill>
              <a:srgbClr val="B875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5079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Whose access changed?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8680" y="4837176"/>
            <a:ext cx="4846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Initiating actor versus affected identity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373368" y="4306824"/>
            <a:ext cx="5166360" cy="1005840"/>
          </a:xfrm>
          <a:prstGeom prst="roundRect">
            <a:avLst>
              <a:gd name="adj" fmla="val 7273"/>
            </a:avLst>
          </a:prstGeom>
          <a:solidFill>
            <a:srgbClr val="10243F"/>
          </a:solidFill>
          <a:ln w="10160">
            <a:solidFill>
              <a:srgbClr val="34D3E4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4306824"/>
            <a:ext cx="64008" cy="1005840"/>
          </a:xfrm>
          <a:prstGeom prst="rect">
            <a:avLst/>
          </a:prstGeom>
          <a:solidFill>
            <a:srgbClr val="34D3E4"/>
          </a:solidFill>
          <a:ln w="12700">
            <a:solidFill>
              <a:srgbClr val="34D3E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5079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Can we export evidence?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83680" y="4837176"/>
            <a:ext cx="4846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Reports and evidence tables with source lineage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411480" y="6446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5D7"/>
                </a:solidFill>
              </a:rPr>
              <a:t>GitHub Governance Platform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6C5D7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model: enough coverage without overwhelming users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5D7"/>
                </a:solidFill>
              </a:rPr>
              <a:t>Six main dashboards, with specialist views kept out of the main path.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4DA3F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45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Overview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6C5D7"/>
                </a:solidFill>
              </a:rPr>
              <a:t>Executive posture, trends, pipeline last success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65D17A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45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Repository Drilldown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3440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6C5D7"/>
                </a:solidFill>
              </a:rPr>
              <a:t>Investigate one org or repository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B875FF">
                <a:alpha val="7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16459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User Activity &amp; Access Review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458200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6C5D7"/>
                </a:solidFill>
              </a:rPr>
              <a:t>Actor and affected-identity review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0080" y="32461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FF4D67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4747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Advanced Security &amp; Controls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3813048"/>
            <a:ext cx="28346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6C5D7"/>
                </a:solidFill>
              </a:rPr>
              <a:t>Push protection, CodeQL, security config changes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4434840" y="32461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FFB84D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4747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Reports &amp; Evidence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63440" y="3813048"/>
            <a:ext cx="28346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6C5D7"/>
                </a:solidFill>
              </a:rPr>
              <a:t>Weekly reports and export-ready evidence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229600" y="324612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132B4D"/>
          </a:solidFill>
          <a:ln w="10160">
            <a:solidFill>
              <a:srgbClr val="34D3E4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747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Classifier Operations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58200" y="3813048"/>
            <a:ext cx="28346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B6C5D7"/>
                </a:solidFill>
              </a:rPr>
              <a:t>Rule versions, exceptions, mismatch checks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2057400" y="5413248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0E2038"/>
          </a:solidFill>
          <a:ln w="10160">
            <a:solidFill>
              <a:srgbClr val="2A4B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5623560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6C5D7"/>
                </a:solidFill>
              </a:rPr>
              <a:t>Specialist dashboards are archived unless regular users prove they need them daily.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1480" y="6446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5D7"/>
                </a:solidFill>
              </a:rPr>
              <a:t>GitHub Governance Platform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6C5D7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path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5D7"/>
                </a:solidFill>
              </a:rPr>
              <a:t>Use real questions instead of clicking every panel.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77240" y="1344168"/>
            <a:ext cx="411480" cy="4114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2A4B7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3560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6F8FB"/>
                </a:solidFill>
              </a:rPr>
              <a:t>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6F8FB"/>
                </a:solidFill>
              </a:rPr>
              <a:t>Start with Overview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4434840" y="132588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B6C5D7"/>
                </a:solidFill>
              </a:rPr>
              <a:t>Show total events, high/critical posture, pipeline last success.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777240" y="2212848"/>
            <a:ext cx="411480" cy="411480"/>
          </a:xfrm>
          <a:prstGeom prst="ellipse">
            <a:avLst/>
          </a:prstGeom>
          <a:solidFill>
            <a:srgbClr val="4DA3FF"/>
          </a:solidFill>
          <a:ln w="12700">
            <a:solidFill>
              <a:srgbClr val="2A4B7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0428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6F8FB"/>
                </a:solidFill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7320" y="219456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6F8FB"/>
                </a:solidFill>
              </a:rPr>
              <a:t>Pick one security/control event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4434840" y="21945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B6C5D7"/>
                </a:solidFill>
              </a:rPr>
              <a:t>Open Advanced Security or Repository Drilldown.</a:t>
            </a:r>
            <a:endParaRPr lang="en-US" sz="1110" dirty="0"/>
          </a:p>
        </p:txBody>
      </p:sp>
      <p:sp>
        <p:nvSpPr>
          <p:cNvPr id="14" name="Shape 12"/>
          <p:cNvSpPr/>
          <p:nvPr/>
        </p:nvSpPr>
        <p:spPr>
          <a:xfrm>
            <a:off x="777240" y="3081528"/>
            <a:ext cx="411480" cy="411480"/>
          </a:xfrm>
          <a:prstGeom prst="ellipse">
            <a:avLst/>
          </a:prstGeom>
          <a:solidFill>
            <a:srgbClr val="B875FF"/>
          </a:solidFill>
          <a:ln w="12700">
            <a:solidFill>
              <a:srgbClr val="2A4B7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7296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6F8FB"/>
                </a:solidFill>
              </a:rPr>
              <a:t>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417320" y="30632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6F8FB"/>
                </a:solidFill>
              </a:rPr>
              <a:t>Investigate actor or identity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4434840" y="306324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B6C5D7"/>
                </a:solidFill>
              </a:rPr>
              <a:t>Use User Activity &amp; Access Review to show who initiated the change and who/what was affected.</a:t>
            </a:r>
            <a:endParaRPr lang="en-US" sz="1110" dirty="0"/>
          </a:p>
        </p:txBody>
      </p:sp>
      <p:sp>
        <p:nvSpPr>
          <p:cNvPr id="18" name="Shape 16"/>
          <p:cNvSpPr/>
          <p:nvPr/>
        </p:nvSpPr>
        <p:spPr>
          <a:xfrm>
            <a:off x="777240" y="3950208"/>
            <a:ext cx="411480" cy="411480"/>
          </a:xfrm>
          <a:prstGeom prst="ellipse">
            <a:avLst/>
          </a:prstGeom>
          <a:solidFill>
            <a:srgbClr val="B875FF"/>
          </a:solidFill>
          <a:ln w="12700">
            <a:solidFill>
              <a:srgbClr val="2A4B7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4164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6F8FB"/>
                </a:solidFill>
              </a:rPr>
              <a:t>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17320" y="393192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6F8FB"/>
                </a:solidFill>
              </a:rPr>
              <a:t>Show exception handling</a:t>
            </a:r>
            <a:endParaRPr lang="en-US" sz="1360" dirty="0"/>
          </a:p>
        </p:txBody>
      </p:sp>
      <p:sp>
        <p:nvSpPr>
          <p:cNvPr id="21" name="Text 19"/>
          <p:cNvSpPr/>
          <p:nvPr/>
        </p:nvSpPr>
        <p:spPr>
          <a:xfrm>
            <a:off x="4434840" y="39319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B6C5D7"/>
                </a:solidFill>
              </a:rPr>
              <a:t>Use Classifier Operations to prove approved bots remain visible and controlled.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777240" y="4818888"/>
            <a:ext cx="411480" cy="411480"/>
          </a:xfrm>
          <a:prstGeom prst="ellipse">
            <a:avLst/>
          </a:prstGeom>
          <a:solidFill>
            <a:srgbClr val="65D17A"/>
          </a:solidFill>
          <a:ln w="12700">
            <a:solidFill>
              <a:srgbClr val="2A4B7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9103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6F8FB"/>
                </a:solidFill>
              </a:rPr>
              <a:t>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17320" y="48006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60" b="1" dirty="0">
                <a:solidFill>
                  <a:srgbClr val="F6F8FB"/>
                </a:solidFill>
              </a:rPr>
              <a:t>Close with evidence</a:t>
            </a:r>
            <a:endParaRPr lang="en-US" sz="1360" dirty="0"/>
          </a:p>
        </p:txBody>
      </p:sp>
      <p:sp>
        <p:nvSpPr>
          <p:cNvPr id="25" name="Text 23"/>
          <p:cNvSpPr/>
          <p:nvPr/>
        </p:nvSpPr>
        <p:spPr>
          <a:xfrm>
            <a:off x="4434840" y="480060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dirty="0">
                <a:solidFill>
                  <a:srgbClr val="B6C5D7"/>
                </a:solidFill>
              </a:rPr>
              <a:t>Use Reports &amp; Evidence to show how the data can be exported for review.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777240" y="5870448"/>
            <a:ext cx="10515600" cy="438912"/>
          </a:xfrm>
          <a:prstGeom prst="roundRect">
            <a:avLst>
              <a:gd name="adj" fmla="val 16667"/>
            </a:avLst>
          </a:prstGeom>
          <a:solidFill>
            <a:srgbClr val="132B4D"/>
          </a:solidFill>
          <a:ln w="10160">
            <a:solidFill>
              <a:srgbClr val="FFB84D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6016752"/>
            <a:ext cx="10149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6F8FB"/>
                </a:solidFill>
              </a:rPr>
              <a:t>Demo goal: prove that a finding can move from dashboard count → event row → actor/repo context → source evidence.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411480" y="6446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5D7"/>
                </a:solidFill>
              </a:rPr>
              <a:t>GitHub Governance Platform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6C5D7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426"/>
          </a:solidFill>
          <a:ln w="12700">
            <a:solidFill>
              <a:srgbClr val="0714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6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 and next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6C5D7"/>
                </a:solidFill>
              </a:rPr>
              <a:t>What changes once governance intelligence is available as a product, not a one-off query.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0243F"/>
          </a:solidFill>
          <a:ln w="10160">
            <a:solidFill>
              <a:srgbClr val="4DA3FF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17320"/>
            <a:ext cx="64008" cy="1325880"/>
          </a:xfrm>
          <a:prstGeom prst="rect">
            <a:avLst/>
          </a:prstGeom>
          <a:solidFill>
            <a:srgbClr val="4DA3FF"/>
          </a:solidFill>
          <a:ln w="12700">
            <a:solidFill>
              <a:srgbClr val="4DA3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184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Faster investigation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96112" y="1947672"/>
            <a:ext cx="306324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Reviewers can start from a curated queue instead of raw audit-log search.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407408" y="1417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0243F"/>
          </a:solidFill>
          <a:ln w="10160">
            <a:solidFill>
              <a:srgbClr val="B875FF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417320"/>
            <a:ext cx="64008" cy="1325880"/>
          </a:xfrm>
          <a:prstGeom prst="rect">
            <a:avLst/>
          </a:prstGeom>
          <a:solidFill>
            <a:srgbClr val="B875FF"/>
          </a:solidFill>
          <a:ln w="12700">
            <a:solidFill>
              <a:srgbClr val="B875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6184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Explainable governance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1947672"/>
            <a:ext cx="306324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Each finding carries event type, priority, rule id, rule version and review reason.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138160" y="141732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10243F"/>
          </a:solidFill>
          <a:ln w="10160">
            <a:solidFill>
              <a:srgbClr val="65D17A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417320"/>
            <a:ext cx="64008" cy="1325880"/>
          </a:xfrm>
          <a:prstGeom prst="rect">
            <a:avLst/>
          </a:prstGeom>
          <a:solidFill>
            <a:srgbClr val="65D17A"/>
          </a:solidFill>
          <a:ln w="12700">
            <a:solidFill>
              <a:srgbClr val="65D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48472" y="16184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6F8FB"/>
                </a:solidFill>
              </a:rPr>
              <a:t>Automation with control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48472" y="1947672"/>
            <a:ext cx="306324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B6C5D7"/>
                </a:solidFill>
              </a:rPr>
              <a:t>Approved platform automation can be lowered in priority without losing visibility.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85800" y="333756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132B4D"/>
          </a:solidFill>
          <a:ln w="10160">
            <a:solidFill>
              <a:srgbClr val="FFB84D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6118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B"/>
                </a:solidFill>
              </a:rPr>
              <a:t>Next improvements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87552" y="4114800"/>
            <a:ext cx="82296" cy="82296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0416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6F8FB"/>
                </a:solidFill>
              </a:rPr>
              <a:t>Review status table: NEW → IN_REVIEW → CLOSED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87552" y="4443984"/>
            <a:ext cx="82296" cy="82296"/>
          </a:xfrm>
          <a:prstGeom prst="ellipse">
            <a:avLst/>
          </a:prstGeom>
          <a:solidFill>
            <a:srgbClr val="FF4D67"/>
          </a:solidFill>
          <a:ln w="12700">
            <a:solidFill>
              <a:srgbClr val="FF4D6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2144" y="43708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6F8FB"/>
                </a:solidFill>
              </a:rPr>
              <a:t>Alerts for stalled pipeline and new critical events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217920" y="3337560"/>
            <a:ext cx="5166360" cy="1508760"/>
          </a:xfrm>
          <a:prstGeom prst="roundRect">
            <a:avLst>
              <a:gd name="adj" fmla="val 4848"/>
            </a:avLst>
          </a:prstGeom>
          <a:solidFill>
            <a:srgbClr val="132B4D"/>
          </a:solidFill>
          <a:ln w="10160">
            <a:solidFill>
              <a:srgbClr val="34D3E4">
                <a:alpha val="7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6118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6F8FB"/>
                </a:solidFill>
              </a:rPr>
              <a:t>Future direction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19672" y="4114800"/>
            <a:ext cx="82296" cy="82296"/>
          </a:xfrm>
          <a:prstGeom prst="ellipse">
            <a:avLst/>
          </a:prstGeom>
          <a:solidFill>
            <a:srgbClr val="34D3E4"/>
          </a:solidFill>
          <a:ln w="12700">
            <a:solidFill>
              <a:srgbClr val="34D3E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84264" y="404164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6F8FB"/>
                </a:solidFill>
              </a:rPr>
              <a:t>Read-only AI assistant over curated governance data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519672" y="4443984"/>
            <a:ext cx="82296" cy="82296"/>
          </a:xfrm>
          <a:prstGeom prst="ellipse">
            <a:avLst/>
          </a:prstGeom>
          <a:solidFill>
            <a:srgbClr val="65D17A"/>
          </a:solidFill>
          <a:ln w="12700">
            <a:solidFill>
              <a:srgbClr val="65D17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84264" y="43708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F6F8FB"/>
                </a:solidFill>
              </a:rPr>
              <a:t>Weekly evidence packs with drill-back to source events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1051560" y="5596128"/>
            <a:ext cx="10012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6F8FB"/>
                </a:solidFill>
              </a:rPr>
              <a:t>Close with: “If your team has a governance question we should answer faster, share it after the session.”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11480" y="6446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6C5D7"/>
                </a:solidFill>
              </a:rPr>
              <a:t>GitHub Governance Platform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384280" y="6446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6C5D7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1974</Words>
  <Application>Microsoft Office PowerPoint</Application>
  <PresentationFormat>Widescreen</PresentationFormat>
  <Paragraphs>201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Deutsche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Governance Platform</dc:title>
  <dc:subject>GitHub Governance Platform brown bag presentation</dc:subject>
  <dc:creator>Ayush Baranwal</dc:creator>
  <cp:lastModifiedBy>Ayush Baranwal</cp:lastModifiedBy>
  <cp:revision>2</cp:revision>
  <dcterms:created xsi:type="dcterms:W3CDTF">2026-07-29T18:23:53Z</dcterms:created>
  <dcterms:modified xsi:type="dcterms:W3CDTF">2026-07-29T18:46:00Z</dcterms:modified>
</cp:coreProperties>
</file>