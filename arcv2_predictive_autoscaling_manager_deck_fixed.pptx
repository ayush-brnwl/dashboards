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1AA625-D9E4-41AB-9543-50521C9490D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C350F8-43B1-4DE1-AEA3-B273AE797E5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5B3E33-757F-438A-8E00-52327B3720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95C849-8CE3-411C-A0D8-536BD238F1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5957DA-A04F-4B10-B319-26478A66C3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138231-3BF1-4DAF-962C-E0B4F8F5FF2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24E20A-D112-4504-889B-4DBB9AE18F8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69E68C-BB26-40CA-8325-4FB2986F32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2BEC86-BB33-477A-AEAA-261DB8BEDE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575B09-6EC6-47C2-A0E4-E2E67AC0B4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947D26-72CA-4037-9CF5-3FD3953E37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06CB2-62E8-4624-A993-520A9BE8ED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EC1DE0-4EC9-4BEE-ABA0-BFD6A96032D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18EB72-39B9-4F66-BBC6-A762B7B8BE3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5166360"/>
            <a:ext cx="12191400" cy="169128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40080" y="658440"/>
            <a:ext cx="1325520" cy="31968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13160" y="726840"/>
            <a:ext cx="1179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2e8f0"/>
                </a:solidFill>
                <a:effectLst/>
                <a:uFillTx/>
                <a:latin typeface="Aptos"/>
                <a:ea typeface="Aptos"/>
              </a:rPr>
              <a:t>Initial proposal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371600"/>
            <a:ext cx="7406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Predictive autoscaling for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ARC v2 enterprise runners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58440" y="290772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My recommendation: start with dynamic warm-pool scaling first, then move to predictive scaling only after we prove the baseline.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412480" y="4754880"/>
            <a:ext cx="2926080" cy="360"/>
          </a:xfrm>
          <a:prstGeom prst="line">
            <a:avLst/>
          </a:prstGeom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 flipV="1">
            <a:off x="8412480" y="4212720"/>
            <a:ext cx="243720" cy="8820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 flipV="1">
            <a:off x="8656200" y="3948120"/>
            <a:ext cx="243720" cy="26460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 flipV="1">
            <a:off x="8899920" y="2890080"/>
            <a:ext cx="244080" cy="10580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9144000" y="2890080"/>
            <a:ext cx="243720" cy="7052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 flipV="1">
            <a:off x="9387720" y="2008080"/>
            <a:ext cx="243720" cy="15872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9631440" y="2008080"/>
            <a:ext cx="244080" cy="12344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9875520" y="3242520"/>
            <a:ext cx="243720" cy="79380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0119240" y="4036320"/>
            <a:ext cx="243720" cy="35280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 flipV="1">
            <a:off x="10362960" y="4300920"/>
            <a:ext cx="244080" cy="8820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200" bIns="432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 flipV="1">
            <a:off x="10607040" y="4124520"/>
            <a:ext cx="243720" cy="17640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 flipV="1">
            <a:off x="10850760" y="3066480"/>
            <a:ext cx="243720" cy="10580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 flipV="1">
            <a:off x="11094480" y="1920240"/>
            <a:ext cx="244080" cy="11462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8412480" y="4389120"/>
            <a:ext cx="29260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8321040" y="489204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3b5c9"/>
                </a:solidFill>
                <a:effectLst/>
                <a:uFillTx/>
                <a:latin typeface="Aptos"/>
                <a:ea typeface="Aptos"/>
              </a:rPr>
              <a:t>current pattern: static floor + predictable peaks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58440" y="577908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5e7eb"/>
                </a:solidFill>
                <a:effectLst/>
                <a:uFillTx/>
                <a:latin typeface="Aptos"/>
              </a:rPr>
              <a:t>Ayush Baranwal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658440" y="606240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Aptos"/>
              </a:rPr>
              <a:t>GitHub Runners Platform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Why I started looking at this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567000" y="86868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The current warm-pool setup gives us good readiness, but it also keeps a large runner floor alive even when the real workload is low.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777240" y="5166360"/>
            <a:ext cx="493776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1563480" y="4382640"/>
            <a:ext cx="255600" cy="783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1883520" y="4210200"/>
            <a:ext cx="255600" cy="95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2203560" y="3755520"/>
            <a:ext cx="255600" cy="1410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777240" y="5276160"/>
            <a:ext cx="2468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PRD enterprise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4032360" y="3285360"/>
            <a:ext cx="255600" cy="1880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4352400" y="3018960"/>
            <a:ext cx="255600" cy="2147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1"/>
          <p:cNvSpPr/>
          <p:nvPr/>
        </p:nvSpPr>
        <p:spPr>
          <a:xfrm>
            <a:off x="4672440" y="2109600"/>
            <a:ext cx="255600" cy="3056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3246120" y="5276160"/>
            <a:ext cx="2468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UAT enterprise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777240" y="1563480"/>
            <a:ext cx="109440" cy="109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941760" y="154548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Min floor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5"/>
          <p:cNvSpPr/>
          <p:nvPr/>
        </p:nvSpPr>
        <p:spPr>
          <a:xfrm>
            <a:off x="1783080" y="1563480"/>
            <a:ext cx="109440" cy="109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1947600" y="154548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Mean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7"/>
          <p:cNvSpPr/>
          <p:nvPr/>
        </p:nvSpPr>
        <p:spPr>
          <a:xfrm>
            <a:off x="2788920" y="1563480"/>
            <a:ext cx="109440" cy="109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2953440" y="154548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Max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6583680" y="1691640"/>
            <a:ext cx="21942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2c55e"/>
                </a:solidFill>
                <a:effectLst/>
                <a:uFillTx/>
                <a:latin typeface="Aptos Display"/>
                <a:ea typeface="Aptos Display"/>
              </a:rPr>
              <a:t>~50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6583680" y="217620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PRD runner floor seen in 7-day graph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9006840" y="1691640"/>
            <a:ext cx="2285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2c55e"/>
                </a:solidFill>
                <a:effectLst/>
                <a:uFillTx/>
                <a:latin typeface="Aptos Display"/>
                <a:ea typeface="Aptos Display"/>
              </a:rPr>
              <a:t>~120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9006840" y="21762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UAT runner floor seen in 7-day graph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6583680" y="2788920"/>
            <a:ext cx="4845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My read: the floor is mostly configuration-driven, not purely demand-driven. That means dynamic minRunners can give real savings without changing max capacity.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4"/>
          <p:cNvSpPr/>
          <p:nvPr/>
        </p:nvSpPr>
        <p:spPr>
          <a:xfrm>
            <a:off x="777240" y="5623560"/>
            <a:ext cx="1060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Numbers are from current dashboard screenshots and should be verified from Prometheus export before making a cost claim.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Current setup, simplified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567000" y="8686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From the values file, each shard has its own min/max. Across many shards, the small number becomes a big 24/7 floor.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685800" y="1554480"/>
            <a:ext cx="4205880" cy="342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80" rIns="2880" tIns="2880" bIns="28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enterprise-pat-prd-06: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minRunners: 5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maxRunners: 10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enterprise-pat-prd-07: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minRunners: 5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maxRunners: 10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...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enterprise-pat-prd-10: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minRunners: 5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maxRunners: 10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5650920" y="3090600"/>
            <a:ext cx="9144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8211240" y="3090600"/>
            <a:ext cx="5850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4983480" y="2560320"/>
            <a:ext cx="1416960" cy="1060200"/>
          </a:xfrm>
          <a:prstGeom prst="roundRect">
            <a:avLst>
              <a:gd name="adj" fmla="val 6897"/>
            </a:avLst>
          </a:prstGeom>
          <a:solidFill>
            <a:srgbClr val="e0f2fe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5056560" y="2679120"/>
            <a:ext cx="127080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enterprise-batch-prd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logical pool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6720840" y="2560320"/>
            <a:ext cx="1416960" cy="1060200"/>
          </a:xfrm>
          <a:prstGeom prst="roundRect">
            <a:avLst>
              <a:gd name="adj" fmla="val 6897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6793920" y="2679120"/>
            <a:ext cx="127080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capacity floor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comes from shards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8979480" y="2541960"/>
            <a:ext cx="214848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9052560" y="2660760"/>
            <a:ext cx="2002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prd-01 / prd-02 / ... / prd-10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small min repeated many times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5074920" y="5074920"/>
            <a:ext cx="576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If 10 similar shards keep minRunners=5, we create ~50 warm runners before any job arrives.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Problem statement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567000" y="8686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I see this as three connected problems. Predictive scaling only helps if we handle all three.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822960" y="1645920"/>
            <a:ext cx="566640" cy="566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822960" y="178308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645920" y="160020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Cost / capacity waste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937760" y="1581840"/>
            <a:ext cx="5988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Idle runners reserve CPU and memory even when there is no immediate GitHub demand.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822960" y="2971800"/>
            <a:ext cx="566640" cy="566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822960" y="310896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1645920" y="29260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Queue-time risk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4937760" y="2907720"/>
            <a:ext cx="5988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If we reduce the warm pool too much, short jobs will feel runner cold-start delay very quickly.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822960" y="4297680"/>
            <a:ext cx="566640" cy="566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822960" y="443484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1645920" y="425196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Operational blockers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4937760" y="4233600"/>
            <a:ext cx="59889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safe-to-evict and orphan/zombie runners must be fixed, otherwise scale-down results will be misleading.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822960" y="555948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My view: do not start by adding ML. First make the warm pool controllable and measurable.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Important principle: do not fight ARC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567000" y="868680"/>
            <a:ext cx="10789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ARC is already doing event-driven autoscaling from GitHub assigned jobs. We should not put HPA/KEDA directly on runner pods and create a second owner.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1600200" y="3017520"/>
            <a:ext cx="11610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4343400" y="3017520"/>
            <a:ext cx="11430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6903720" y="3017520"/>
            <a:ext cx="11430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9464040" y="3017520"/>
            <a:ext cx="100584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685800" y="2514600"/>
            <a:ext cx="1325520" cy="100548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758880" y="2633400"/>
            <a:ext cx="1179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GitHub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assigned jobs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2880360" y="2514600"/>
            <a:ext cx="1554120" cy="100548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2953440" y="2633400"/>
            <a:ext cx="140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ARC listener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&amp; controller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5623560" y="2514600"/>
            <a:ext cx="141696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5696640" y="2633400"/>
            <a:ext cx="1270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Autoscaling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RunnerSet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8183880" y="2514600"/>
            <a:ext cx="12798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8256960" y="2633400"/>
            <a:ext cx="1133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Runner pods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10561320" y="2514600"/>
            <a:ext cx="105120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10634400" y="2633400"/>
            <a:ext cx="905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GKE nodes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6336720" y="2212560"/>
            <a:ext cx="360" cy="201240"/>
          </a:xfrm>
          <a:prstGeom prst="line">
            <a:avLst/>
          </a:prstGeom>
          <a:ln w="19050">
            <a:solidFill>
              <a:srgbClr val="f59e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9"/>
          <p:cNvSpPr/>
          <p:nvPr/>
        </p:nvSpPr>
        <p:spPr>
          <a:xfrm>
            <a:off x="5212080" y="1481400"/>
            <a:ext cx="2239920" cy="69444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5285160" y="1600200"/>
            <a:ext cx="2093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Our control point: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dynamic minRunners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1"/>
          <p:cNvSpPr/>
          <p:nvPr/>
        </p:nvSpPr>
        <p:spPr>
          <a:xfrm>
            <a:off x="1005840" y="4892040"/>
            <a:ext cx="10058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Keep ARC responsible for real demand. Use prediction only to decide how many idle runners we want ready before demand arrives.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What I would and would not forecast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567000" y="8686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The current runner graph is useful, but it is not the right signal to train a model on.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731520" y="1645920"/>
            <a:ext cx="2194200" cy="785880"/>
          </a:xfrm>
          <a:prstGeom prst="roundRect">
            <a:avLst>
              <a:gd name="adj" fmla="val 9302"/>
            </a:avLst>
          </a:prstGeom>
          <a:solidFill>
            <a:srgbClr val="fee2e2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804600" y="1764720"/>
            <a:ext cx="2048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Total runners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includes static floor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3429000" y="1645920"/>
            <a:ext cx="2194200" cy="785880"/>
          </a:xfrm>
          <a:prstGeom prst="roundRect">
            <a:avLst>
              <a:gd name="adj" fmla="val 9302"/>
            </a:avLst>
          </a:prstGeom>
          <a:solidFill>
            <a:srgbClr val="fee2e2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3502080" y="1764720"/>
            <a:ext cx="2048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Forecasting this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can reproduce waste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2926080" y="2048040"/>
            <a:ext cx="502920" cy="360"/>
          </a:xfrm>
          <a:prstGeom prst="line">
            <a:avLst/>
          </a:prstGeom>
          <a:ln w="19050">
            <a:solidFill>
              <a:srgbClr val="ef444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731520" y="3566160"/>
            <a:ext cx="2194200" cy="785880"/>
          </a:xfrm>
          <a:prstGeom prst="roundRect">
            <a:avLst>
              <a:gd name="adj" fmla="val 9302"/>
            </a:avLst>
          </a:prstGeom>
          <a:solidFill>
            <a:srgbClr val="dcfce7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804600" y="3684960"/>
            <a:ext cx="2048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Job arrivals/min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actual demand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3429000" y="3566160"/>
            <a:ext cx="2194200" cy="785880"/>
          </a:xfrm>
          <a:prstGeom prst="roundRect">
            <a:avLst>
              <a:gd name="adj" fmla="val 9302"/>
            </a:avLst>
          </a:prstGeom>
          <a:solidFill>
            <a:srgbClr val="dcfce7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3502080" y="3684960"/>
            <a:ext cx="2048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Warm capacity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 cold-start window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2926080" y="3968280"/>
            <a:ext cx="502920" cy="360"/>
          </a:xfrm>
          <a:prstGeom prst="line">
            <a:avLst/>
          </a:prstGeom>
          <a:ln w="19050">
            <a:solidFill>
              <a:srgbClr val="22c5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6492240" y="15728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Better input metrics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6510600" y="1965960"/>
            <a:ext cx="44802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jobs started / minute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assigned vs running jobs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busy and idle runners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job startup p95/p99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pending runner pods and node scale-up time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6492240" y="4827960"/>
            <a:ext cx="4480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Prediction horizon should be based on our cold-start time, not copied as a fixed 5 minutes.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The graphs already show seasonality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567000" y="86868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There is visible weekday/daytime rise and weekend/off-hour reduction. That means a simple schedule can probably give a big first win.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822960" y="1691640"/>
            <a:ext cx="10332360" cy="324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1143000" y="1965960"/>
            <a:ext cx="9692640" cy="360"/>
          </a:xfrm>
          <a:prstGeom prst="line">
            <a:avLst/>
          </a:prstGeom>
          <a:ln w="6350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1143000" y="2468880"/>
            <a:ext cx="9692640" cy="360"/>
          </a:xfrm>
          <a:prstGeom prst="line">
            <a:avLst/>
          </a:prstGeom>
          <a:ln w="6350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1143000" y="2971800"/>
            <a:ext cx="9692640" cy="360"/>
          </a:xfrm>
          <a:prstGeom prst="line">
            <a:avLst/>
          </a:prstGeom>
          <a:ln w="6350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1143000" y="3474720"/>
            <a:ext cx="9692640" cy="360"/>
          </a:xfrm>
          <a:prstGeom prst="line">
            <a:avLst/>
          </a:prstGeom>
          <a:ln w="6350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1143000" y="3977640"/>
            <a:ext cx="9692640" cy="360"/>
          </a:xfrm>
          <a:prstGeom prst="line">
            <a:avLst/>
          </a:prstGeom>
          <a:ln w="6350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0"/>
          <p:cNvSpPr/>
          <p:nvPr/>
        </p:nvSpPr>
        <p:spPr>
          <a:xfrm>
            <a:off x="1143000" y="4480560"/>
            <a:ext cx="9692640" cy="360"/>
          </a:xfrm>
          <a:prstGeom prst="line">
            <a:avLst/>
          </a:prstGeom>
          <a:ln w="6350">
            <a:solidFill>
              <a:srgbClr val="eef2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 flipV="1">
            <a:off x="1143000" y="4361400"/>
            <a:ext cx="403560" cy="824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2"/>
          <p:cNvSpPr/>
          <p:nvPr/>
        </p:nvSpPr>
        <p:spPr>
          <a:xfrm flipV="1">
            <a:off x="1546560" y="4114800"/>
            <a:ext cx="403920" cy="24660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 flipV="1">
            <a:off x="1950480" y="3126960"/>
            <a:ext cx="403920" cy="9878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2354400" y="3126960"/>
            <a:ext cx="403920" cy="49392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 flipV="1">
            <a:off x="2758320" y="3291840"/>
            <a:ext cx="403920" cy="3290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6"/>
          <p:cNvSpPr/>
          <p:nvPr/>
        </p:nvSpPr>
        <p:spPr>
          <a:xfrm flipV="1">
            <a:off x="3162240" y="2304000"/>
            <a:ext cx="403920" cy="9878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7"/>
          <p:cNvSpPr/>
          <p:nvPr/>
        </p:nvSpPr>
        <p:spPr>
          <a:xfrm>
            <a:off x="3566160" y="2304000"/>
            <a:ext cx="403560" cy="57636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3969720" y="2880360"/>
            <a:ext cx="403920" cy="9050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4373640" y="3785400"/>
            <a:ext cx="403920" cy="824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0"/>
          <p:cNvSpPr/>
          <p:nvPr/>
        </p:nvSpPr>
        <p:spPr>
          <a:xfrm flipV="1">
            <a:off x="4777560" y="3703320"/>
            <a:ext cx="403920" cy="16452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1"/>
          <p:cNvSpPr/>
          <p:nvPr/>
        </p:nvSpPr>
        <p:spPr>
          <a:xfrm flipV="1">
            <a:off x="5181480" y="2633400"/>
            <a:ext cx="403920" cy="106992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2"/>
          <p:cNvSpPr/>
          <p:nvPr/>
        </p:nvSpPr>
        <p:spPr>
          <a:xfrm flipV="1">
            <a:off x="5585400" y="2057400"/>
            <a:ext cx="403920" cy="57600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3"/>
          <p:cNvSpPr/>
          <p:nvPr/>
        </p:nvSpPr>
        <p:spPr>
          <a:xfrm>
            <a:off x="5989320" y="2057400"/>
            <a:ext cx="403560" cy="131652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4"/>
          <p:cNvSpPr/>
          <p:nvPr/>
        </p:nvSpPr>
        <p:spPr>
          <a:xfrm>
            <a:off x="6392880" y="3373920"/>
            <a:ext cx="403920" cy="74088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5"/>
          <p:cNvSpPr/>
          <p:nvPr/>
        </p:nvSpPr>
        <p:spPr>
          <a:xfrm>
            <a:off x="6796800" y="4114800"/>
            <a:ext cx="403920" cy="3290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6"/>
          <p:cNvSpPr/>
          <p:nvPr/>
        </p:nvSpPr>
        <p:spPr>
          <a:xfrm>
            <a:off x="7200720" y="4443840"/>
            <a:ext cx="403920" cy="824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7"/>
          <p:cNvSpPr/>
          <p:nvPr/>
        </p:nvSpPr>
        <p:spPr>
          <a:xfrm flipV="1">
            <a:off x="7604640" y="4443840"/>
            <a:ext cx="403920" cy="824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8"/>
          <p:cNvSpPr/>
          <p:nvPr/>
        </p:nvSpPr>
        <p:spPr>
          <a:xfrm flipV="1">
            <a:off x="8008560" y="4361400"/>
            <a:ext cx="403920" cy="8244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9"/>
          <p:cNvSpPr/>
          <p:nvPr/>
        </p:nvSpPr>
        <p:spPr>
          <a:xfrm flipV="1">
            <a:off x="8412480" y="4196880"/>
            <a:ext cx="403560" cy="16452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 flipV="1">
            <a:off x="8816040" y="4032360"/>
            <a:ext cx="403920" cy="16452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1"/>
          <p:cNvSpPr/>
          <p:nvPr/>
        </p:nvSpPr>
        <p:spPr>
          <a:xfrm flipV="1">
            <a:off x="9219960" y="3867840"/>
            <a:ext cx="403920" cy="16452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2"/>
          <p:cNvSpPr/>
          <p:nvPr/>
        </p:nvSpPr>
        <p:spPr>
          <a:xfrm flipV="1">
            <a:off x="9623880" y="3126960"/>
            <a:ext cx="403920" cy="74088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3"/>
          <p:cNvSpPr/>
          <p:nvPr/>
        </p:nvSpPr>
        <p:spPr>
          <a:xfrm flipV="1">
            <a:off x="10027800" y="2386440"/>
            <a:ext cx="403920" cy="74052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4"/>
          <p:cNvSpPr/>
          <p:nvPr/>
        </p:nvSpPr>
        <p:spPr>
          <a:xfrm flipV="1">
            <a:off x="10431720" y="2139480"/>
            <a:ext cx="403920" cy="246960"/>
          </a:xfrm>
          <a:prstGeom prst="line">
            <a:avLst/>
          </a:prstGeom>
          <a:ln w="381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5"/>
          <p:cNvSpPr/>
          <p:nvPr/>
        </p:nvSpPr>
        <p:spPr>
          <a:xfrm>
            <a:off x="1143000" y="4526280"/>
            <a:ext cx="969264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6"/>
          <p:cNvSpPr/>
          <p:nvPr/>
        </p:nvSpPr>
        <p:spPr>
          <a:xfrm>
            <a:off x="1143000" y="466344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off-hours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7"/>
          <p:cNvSpPr/>
          <p:nvPr/>
        </p:nvSpPr>
        <p:spPr>
          <a:xfrm>
            <a:off x="4343400" y="466344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business hours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8"/>
          <p:cNvSpPr/>
          <p:nvPr/>
        </p:nvSpPr>
        <p:spPr>
          <a:xfrm>
            <a:off x="6583680" y="466344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weekend / low period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9"/>
          <p:cNvSpPr/>
          <p:nvPr/>
        </p:nvSpPr>
        <p:spPr>
          <a:xfrm>
            <a:off x="9144000" y="466344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next weekday rise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0"/>
          <p:cNvSpPr/>
          <p:nvPr/>
        </p:nvSpPr>
        <p:spPr>
          <a:xfrm>
            <a:off x="914400" y="5486400"/>
            <a:ext cx="10332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My takeaway: first prove scheduled dynamic minRunners. Use ML only if the schedule leaves a gap.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Phase 1 recommendation: scheduled dynamic warm pool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567000" y="8686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This is the lowest-risk way to prove the idea. We change minRunners by time window but keep maxRunners unchanged.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"/>
          <p:cNvSpPr/>
          <p:nvPr/>
        </p:nvSpPr>
        <p:spPr>
          <a:xfrm>
            <a:off x="777240" y="1572840"/>
            <a:ext cx="5486040" cy="529920"/>
          </a:xfrm>
          <a:prstGeom prst="rect">
            <a:avLst/>
          </a:prstGeom>
          <a:solidFill>
            <a:srgbClr val="111827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850320" y="1682640"/>
            <a:ext cx="1453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Time window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2450520" y="1682640"/>
            <a:ext cx="177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Current style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7"/>
          <p:cNvSpPr/>
          <p:nvPr/>
        </p:nvSpPr>
        <p:spPr>
          <a:xfrm>
            <a:off x="2377440" y="1572480"/>
            <a:ext cx="360" cy="5306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4370760" y="1682640"/>
            <a:ext cx="1819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PoC style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4297680" y="1572480"/>
            <a:ext cx="360" cy="5306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777240" y="2103120"/>
            <a:ext cx="548604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850320" y="2212920"/>
            <a:ext cx="1453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Off-hours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2450520" y="2212920"/>
            <a:ext cx="177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min=5 per shard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3"/>
          <p:cNvSpPr/>
          <p:nvPr/>
        </p:nvSpPr>
        <p:spPr>
          <a:xfrm>
            <a:off x="2377440" y="2103120"/>
            <a:ext cx="360" cy="5302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4370760" y="2212920"/>
            <a:ext cx="1819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min=1 per shard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5"/>
          <p:cNvSpPr/>
          <p:nvPr/>
        </p:nvSpPr>
        <p:spPr>
          <a:xfrm>
            <a:off x="4297680" y="2103120"/>
            <a:ext cx="360" cy="5302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6"/>
          <p:cNvSpPr/>
          <p:nvPr/>
        </p:nvSpPr>
        <p:spPr>
          <a:xfrm>
            <a:off x="777240" y="2633400"/>
            <a:ext cx="548604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850320" y="2743200"/>
            <a:ext cx="1453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Business hours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8"/>
          <p:cNvSpPr/>
          <p:nvPr/>
        </p:nvSpPr>
        <p:spPr>
          <a:xfrm>
            <a:off x="2450520" y="2743200"/>
            <a:ext cx="177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min=5 per shard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9"/>
          <p:cNvSpPr/>
          <p:nvPr/>
        </p:nvSpPr>
        <p:spPr>
          <a:xfrm>
            <a:off x="2377440" y="2633400"/>
            <a:ext cx="360" cy="5302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0"/>
          <p:cNvSpPr/>
          <p:nvPr/>
        </p:nvSpPr>
        <p:spPr>
          <a:xfrm>
            <a:off x="4370760" y="2743200"/>
            <a:ext cx="1819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min=2–3 per shard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1"/>
          <p:cNvSpPr/>
          <p:nvPr/>
        </p:nvSpPr>
        <p:spPr>
          <a:xfrm>
            <a:off x="4297680" y="2633400"/>
            <a:ext cx="360" cy="5302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2"/>
          <p:cNvSpPr/>
          <p:nvPr/>
        </p:nvSpPr>
        <p:spPr>
          <a:xfrm>
            <a:off x="777240" y="3163680"/>
            <a:ext cx="548604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3"/>
          <p:cNvSpPr/>
          <p:nvPr/>
        </p:nvSpPr>
        <p:spPr>
          <a:xfrm>
            <a:off x="850320" y="3273480"/>
            <a:ext cx="1453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Peak/release window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4"/>
          <p:cNvSpPr/>
          <p:nvPr/>
        </p:nvSpPr>
        <p:spPr>
          <a:xfrm>
            <a:off x="2450520" y="3273480"/>
            <a:ext cx="177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min=5 per shard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5"/>
          <p:cNvSpPr/>
          <p:nvPr/>
        </p:nvSpPr>
        <p:spPr>
          <a:xfrm>
            <a:off x="2377440" y="3163680"/>
            <a:ext cx="360" cy="5302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6"/>
          <p:cNvSpPr/>
          <p:nvPr/>
        </p:nvSpPr>
        <p:spPr>
          <a:xfrm>
            <a:off x="4370760" y="3273480"/>
            <a:ext cx="1819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temporary higher floor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7"/>
          <p:cNvSpPr/>
          <p:nvPr/>
        </p:nvSpPr>
        <p:spPr>
          <a:xfrm>
            <a:off x="4297680" y="3163680"/>
            <a:ext cx="360" cy="5302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8"/>
          <p:cNvSpPr/>
          <p:nvPr/>
        </p:nvSpPr>
        <p:spPr>
          <a:xfrm>
            <a:off x="777240" y="3694320"/>
            <a:ext cx="548604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9"/>
          <p:cNvSpPr/>
          <p:nvPr/>
        </p:nvSpPr>
        <p:spPr>
          <a:xfrm>
            <a:off x="850320" y="3803760"/>
            <a:ext cx="1453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Max capacity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0"/>
          <p:cNvSpPr/>
          <p:nvPr/>
        </p:nvSpPr>
        <p:spPr>
          <a:xfrm>
            <a:off x="2450520" y="3803760"/>
            <a:ext cx="177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max=10 per shard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1"/>
          <p:cNvSpPr/>
          <p:nvPr/>
        </p:nvSpPr>
        <p:spPr>
          <a:xfrm>
            <a:off x="2377440" y="3693960"/>
            <a:ext cx="360" cy="5302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2"/>
          <p:cNvSpPr/>
          <p:nvPr/>
        </p:nvSpPr>
        <p:spPr>
          <a:xfrm>
            <a:off x="4370760" y="3803760"/>
            <a:ext cx="1819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unchanged initially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3"/>
          <p:cNvSpPr/>
          <p:nvPr/>
        </p:nvSpPr>
        <p:spPr>
          <a:xfrm>
            <a:off x="4297680" y="3693960"/>
            <a:ext cx="360" cy="5302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4"/>
          <p:cNvSpPr/>
          <p:nvPr/>
        </p:nvSpPr>
        <p:spPr>
          <a:xfrm>
            <a:off x="7406640" y="2084760"/>
            <a:ext cx="1188720" cy="360"/>
          </a:xfrm>
          <a:prstGeom prst="line">
            <a:avLst/>
          </a:prstGeom>
          <a:ln w="19050">
            <a:solidFill>
              <a:srgbClr val="22c5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5"/>
          <p:cNvSpPr/>
          <p:nvPr/>
        </p:nvSpPr>
        <p:spPr>
          <a:xfrm>
            <a:off x="7406640" y="3273480"/>
            <a:ext cx="1188720" cy="360"/>
          </a:xfrm>
          <a:prstGeom prst="line">
            <a:avLst/>
          </a:prstGeom>
          <a:ln w="19050">
            <a:solidFill>
              <a:srgbClr val="22c5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6"/>
          <p:cNvSpPr/>
          <p:nvPr/>
        </p:nvSpPr>
        <p:spPr>
          <a:xfrm>
            <a:off x="6400800" y="1700640"/>
            <a:ext cx="1599840" cy="767880"/>
          </a:xfrm>
          <a:prstGeom prst="roundRect">
            <a:avLst>
              <a:gd name="adj" fmla="val 9524"/>
            </a:avLst>
          </a:prstGeom>
          <a:solidFill>
            <a:srgbClr val="e0f2fe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7"/>
          <p:cNvSpPr/>
          <p:nvPr/>
        </p:nvSpPr>
        <p:spPr>
          <a:xfrm>
            <a:off x="6473880" y="1819800"/>
            <a:ext cx="1453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CronJob / scheduled pipeline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8"/>
          <p:cNvSpPr/>
          <p:nvPr/>
        </p:nvSpPr>
        <p:spPr>
          <a:xfrm>
            <a:off x="8732520" y="1700640"/>
            <a:ext cx="1279800" cy="76788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9"/>
          <p:cNvSpPr/>
          <p:nvPr/>
        </p:nvSpPr>
        <p:spPr>
          <a:xfrm>
            <a:off x="8805600" y="1819800"/>
            <a:ext cx="11336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patch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minRunners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0"/>
          <p:cNvSpPr/>
          <p:nvPr/>
        </p:nvSpPr>
        <p:spPr>
          <a:xfrm>
            <a:off x="6400800" y="2880360"/>
            <a:ext cx="1599840" cy="767880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1"/>
          <p:cNvSpPr/>
          <p:nvPr/>
        </p:nvSpPr>
        <p:spPr>
          <a:xfrm>
            <a:off x="6473880" y="2999160"/>
            <a:ext cx="1453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ARC scales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normal jobs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42"/>
          <p:cNvSpPr/>
          <p:nvPr/>
        </p:nvSpPr>
        <p:spPr>
          <a:xfrm>
            <a:off x="8732520" y="2880360"/>
            <a:ext cx="1279800" cy="76788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3"/>
          <p:cNvSpPr/>
          <p:nvPr/>
        </p:nvSpPr>
        <p:spPr>
          <a:xfrm>
            <a:off x="8805600" y="2999160"/>
            <a:ext cx="11336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maxRunners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unchanged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4"/>
          <p:cNvSpPr/>
          <p:nvPr/>
        </p:nvSpPr>
        <p:spPr>
          <a:xfrm>
            <a:off x="6400800" y="457200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Why I prefer this first: small implementation, easy rollback, and we get before/after data quickly.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Phase 2: predictive shadow mode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567000" y="86868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Before allowing any model to patch production config, I would run it in shadow mode and compare it against the scheduled baseline.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2011680" y="2971800"/>
            <a:ext cx="11430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4480560" y="2971800"/>
            <a:ext cx="11430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6949440" y="2971800"/>
            <a:ext cx="114300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9418320" y="2971800"/>
            <a:ext cx="96012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8"/>
          <p:cNvSpPr/>
          <p:nvPr/>
        </p:nvSpPr>
        <p:spPr>
          <a:xfrm>
            <a:off x="777240" y="2514600"/>
            <a:ext cx="1416960" cy="91404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850320" y="2633400"/>
            <a:ext cx="1270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Prometheus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history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0"/>
          <p:cNvSpPr/>
          <p:nvPr/>
        </p:nvSpPr>
        <p:spPr>
          <a:xfrm>
            <a:off x="3337560" y="2514600"/>
            <a:ext cx="1325520" cy="9140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3410640" y="2633400"/>
            <a:ext cx="1179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Forecast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model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2"/>
          <p:cNvSpPr/>
          <p:nvPr/>
        </p:nvSpPr>
        <p:spPr>
          <a:xfrm>
            <a:off x="5806440" y="2514600"/>
            <a:ext cx="1325520" cy="9140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3"/>
          <p:cNvSpPr/>
          <p:nvPr/>
        </p:nvSpPr>
        <p:spPr>
          <a:xfrm>
            <a:off x="5879520" y="2633400"/>
            <a:ext cx="1179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Recommended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warm target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4"/>
          <p:cNvSpPr/>
          <p:nvPr/>
        </p:nvSpPr>
        <p:spPr>
          <a:xfrm>
            <a:off x="8229600" y="2514600"/>
            <a:ext cx="141696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5"/>
          <p:cNvSpPr/>
          <p:nvPr/>
        </p:nvSpPr>
        <p:spPr>
          <a:xfrm>
            <a:off x="8302680" y="2633400"/>
            <a:ext cx="1270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Compare with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actual demand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6"/>
          <p:cNvSpPr/>
          <p:nvPr/>
        </p:nvSpPr>
        <p:spPr>
          <a:xfrm>
            <a:off x="10469880" y="2514600"/>
            <a:ext cx="1005480" cy="9140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7"/>
          <p:cNvSpPr/>
          <p:nvPr/>
        </p:nvSpPr>
        <p:spPr>
          <a:xfrm>
            <a:off x="10542960" y="2633400"/>
            <a:ext cx="859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No patch yet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868680" y="455364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Shadow output example: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9"/>
          <p:cNvSpPr/>
          <p:nvPr/>
        </p:nvSpPr>
        <p:spPr>
          <a:xfrm>
            <a:off x="3154680" y="4343400"/>
            <a:ext cx="5897520" cy="822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Predicted demand next 2 min = 17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Recommended warm target = 20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Configured warm target = 30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Actual demand observed = 16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0"/>
          <p:cNvSpPr/>
          <p:nvPr/>
        </p:nvSpPr>
        <p:spPr>
          <a:xfrm>
            <a:off x="914400" y="5669280"/>
            <a:ext cx="9875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Decision after 2–4 weeks: is the model better than the schedule, or not?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Closed-loop design, if shadow mode proves value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567000" y="8686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At this point the predictor can change minRunners, but only through a guarded policy layer.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"/>
          <p:cNvSpPr/>
          <p:nvPr/>
        </p:nvSpPr>
        <p:spPr>
          <a:xfrm>
            <a:off x="2011680" y="2880360"/>
            <a:ext cx="96012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5"/>
          <p:cNvSpPr/>
          <p:nvPr/>
        </p:nvSpPr>
        <p:spPr>
          <a:xfrm>
            <a:off x="4480560" y="2880360"/>
            <a:ext cx="96012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6"/>
          <p:cNvSpPr/>
          <p:nvPr/>
        </p:nvSpPr>
        <p:spPr>
          <a:xfrm>
            <a:off x="7086600" y="2880360"/>
            <a:ext cx="96012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7"/>
          <p:cNvSpPr/>
          <p:nvPr/>
        </p:nvSpPr>
        <p:spPr>
          <a:xfrm>
            <a:off x="9646920" y="2880360"/>
            <a:ext cx="886680" cy="360"/>
          </a:xfrm>
          <a:prstGeom prst="line">
            <a:avLst/>
          </a:prstGeom>
          <a:ln w="19050">
            <a:solidFill>
              <a:srgbClr val="47556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"/>
          <p:cNvSpPr/>
          <p:nvPr/>
        </p:nvSpPr>
        <p:spPr>
          <a:xfrm>
            <a:off x="822960" y="2450520"/>
            <a:ext cx="1234080" cy="859320"/>
          </a:xfrm>
          <a:prstGeom prst="roundRect">
            <a:avLst>
              <a:gd name="adj" fmla="val 8511"/>
            </a:avLst>
          </a:prstGeom>
          <a:solidFill>
            <a:srgbClr val="e0f2fe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896040" y="2569320"/>
            <a:ext cx="10879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Metrics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0"/>
          <p:cNvSpPr/>
          <p:nvPr/>
        </p:nvSpPr>
        <p:spPr>
          <a:xfrm>
            <a:off x="3154680" y="2450520"/>
            <a:ext cx="1325520" cy="859320"/>
          </a:xfrm>
          <a:prstGeom prst="roundRect">
            <a:avLst>
              <a:gd name="adj" fmla="val 8511"/>
            </a:avLst>
          </a:prstGeom>
          <a:solidFill>
            <a:srgbClr val="dcfce7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3227760" y="2569320"/>
            <a:ext cx="11793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Forecaster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2"/>
          <p:cNvSpPr/>
          <p:nvPr/>
        </p:nvSpPr>
        <p:spPr>
          <a:xfrm>
            <a:off x="5650920" y="2450520"/>
            <a:ext cx="1416960" cy="859320"/>
          </a:xfrm>
          <a:prstGeom prst="roundRect">
            <a:avLst>
              <a:gd name="adj" fmla="val 8511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5724000" y="2569320"/>
            <a:ext cx="1270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Policy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layer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4"/>
          <p:cNvSpPr/>
          <p:nvPr/>
        </p:nvSpPr>
        <p:spPr>
          <a:xfrm>
            <a:off x="8229600" y="2450520"/>
            <a:ext cx="141696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5"/>
          <p:cNvSpPr/>
          <p:nvPr/>
        </p:nvSpPr>
        <p:spPr>
          <a:xfrm>
            <a:off x="8302680" y="2569320"/>
            <a:ext cx="1270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Shard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allocator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6"/>
          <p:cNvSpPr/>
          <p:nvPr/>
        </p:nvSpPr>
        <p:spPr>
          <a:xfrm>
            <a:off x="10607040" y="2450520"/>
            <a:ext cx="1142640" cy="85932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10680120" y="2569320"/>
            <a:ext cx="996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Patch ARC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minRunners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868680" y="41605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The policy layer is the important part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9"/>
          <p:cNvSpPr/>
          <p:nvPr/>
        </p:nvSpPr>
        <p:spPr>
          <a:xfrm>
            <a:off x="896040" y="4572000"/>
            <a:ext cx="45716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hard min/max bounds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prediction TTL and fallback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slow scale-down / hysteresis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manual override during incidents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GitOps-safe change path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0"/>
          <p:cNvSpPr/>
          <p:nvPr/>
        </p:nvSpPr>
        <p:spPr>
          <a:xfrm>
            <a:off x="6080760" y="475488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This keeps the model from becoming a direct production risk.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Capacity policy I would use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567000" y="8686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The target should be based on demand expected during the time it takes infrastructure to react.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777240" y="1600200"/>
            <a:ext cx="6400440" cy="1416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warmTarget = clamp(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baseFloor,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forecastP90(job arrivals during cold-start window) + safetyBuffer,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maxWarmBudget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)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822960" y="3246120"/>
            <a:ext cx="6217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Then distribute warmTarget across similar shards.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822960" y="3730680"/>
            <a:ext cx="6446160" cy="429480"/>
          </a:xfrm>
          <a:prstGeom prst="rect">
            <a:avLst/>
          </a:prstGeom>
          <a:solidFill>
            <a:srgbClr val="111827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896040" y="3840480"/>
            <a:ext cx="1453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Current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8"/>
          <p:cNvSpPr/>
          <p:nvPr/>
        </p:nvSpPr>
        <p:spPr>
          <a:xfrm>
            <a:off x="2496240" y="3840480"/>
            <a:ext cx="2276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10 shards × min=5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9"/>
          <p:cNvSpPr/>
          <p:nvPr/>
        </p:nvSpPr>
        <p:spPr>
          <a:xfrm>
            <a:off x="2423160" y="3730680"/>
            <a:ext cx="360" cy="4298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4919400" y="3840480"/>
            <a:ext cx="2276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~50 warm runners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4846320" y="3730680"/>
            <a:ext cx="360" cy="4298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822960" y="4160520"/>
            <a:ext cx="6446160" cy="42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3"/>
          <p:cNvSpPr/>
          <p:nvPr/>
        </p:nvSpPr>
        <p:spPr>
          <a:xfrm>
            <a:off x="896040" y="4270320"/>
            <a:ext cx="1453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PoC off-hours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2496240" y="4270320"/>
            <a:ext cx="2276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10 shards × min=1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5"/>
          <p:cNvSpPr/>
          <p:nvPr/>
        </p:nvSpPr>
        <p:spPr>
          <a:xfrm>
            <a:off x="2423160" y="4160520"/>
            <a:ext cx="360" cy="4294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6"/>
          <p:cNvSpPr/>
          <p:nvPr/>
        </p:nvSpPr>
        <p:spPr>
          <a:xfrm>
            <a:off x="4919400" y="4270320"/>
            <a:ext cx="2276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~10 warm runners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7"/>
          <p:cNvSpPr/>
          <p:nvPr/>
        </p:nvSpPr>
        <p:spPr>
          <a:xfrm>
            <a:off x="4846320" y="4160520"/>
            <a:ext cx="360" cy="4294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8"/>
          <p:cNvSpPr/>
          <p:nvPr/>
        </p:nvSpPr>
        <p:spPr>
          <a:xfrm>
            <a:off x="822960" y="4590360"/>
            <a:ext cx="6446160" cy="429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9"/>
          <p:cNvSpPr/>
          <p:nvPr/>
        </p:nvSpPr>
        <p:spPr>
          <a:xfrm>
            <a:off x="896040" y="4700160"/>
            <a:ext cx="1453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PoC business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0"/>
          <p:cNvSpPr/>
          <p:nvPr/>
        </p:nvSpPr>
        <p:spPr>
          <a:xfrm>
            <a:off x="2496240" y="4700160"/>
            <a:ext cx="2276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10 shards × min=3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1"/>
          <p:cNvSpPr/>
          <p:nvPr/>
        </p:nvSpPr>
        <p:spPr>
          <a:xfrm>
            <a:off x="2423160" y="4590000"/>
            <a:ext cx="360" cy="4298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2"/>
          <p:cNvSpPr/>
          <p:nvPr/>
        </p:nvSpPr>
        <p:spPr>
          <a:xfrm>
            <a:off x="4919400" y="4700160"/>
            <a:ext cx="22766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~30 warm runners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3"/>
          <p:cNvSpPr/>
          <p:nvPr/>
        </p:nvSpPr>
        <p:spPr>
          <a:xfrm>
            <a:off x="4846320" y="4590000"/>
            <a:ext cx="360" cy="4298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4"/>
          <p:cNvSpPr/>
          <p:nvPr/>
        </p:nvSpPr>
        <p:spPr>
          <a:xfrm>
            <a:off x="7955280" y="1737360"/>
            <a:ext cx="2377080" cy="82260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5"/>
          <p:cNvSpPr/>
          <p:nvPr/>
        </p:nvSpPr>
        <p:spPr>
          <a:xfrm>
            <a:off x="8028360" y="1856160"/>
            <a:ext cx="22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maxRunners stays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unchanged initially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6"/>
          <p:cNvSpPr/>
          <p:nvPr/>
        </p:nvSpPr>
        <p:spPr>
          <a:xfrm>
            <a:off x="7955280" y="3063240"/>
            <a:ext cx="2377080" cy="82260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7"/>
          <p:cNvSpPr/>
          <p:nvPr/>
        </p:nvSpPr>
        <p:spPr>
          <a:xfrm>
            <a:off x="8028360" y="3182040"/>
            <a:ext cx="22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ARC still handles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actual assigned jobs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8"/>
          <p:cNvSpPr/>
          <p:nvPr/>
        </p:nvSpPr>
        <p:spPr>
          <a:xfrm>
            <a:off x="7955280" y="4389120"/>
            <a:ext cx="2377080" cy="82260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9"/>
          <p:cNvSpPr/>
          <p:nvPr/>
        </p:nvSpPr>
        <p:spPr>
          <a:xfrm>
            <a:off x="8028360" y="4507920"/>
            <a:ext cx="223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Prediction only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sets warm buffer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What success should look like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567000" y="8686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I would judge this on platform outcome, not model accuracy alone.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822960" y="2221920"/>
            <a:ext cx="10012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914400" y="160020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Queue/startup time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4023360" y="161856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P95/P99 should stay same or improve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822960" y="3182040"/>
            <a:ext cx="10012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8"/>
          <p:cNvSpPr/>
          <p:nvPr/>
        </p:nvSpPr>
        <p:spPr>
          <a:xfrm>
            <a:off x="914400" y="256032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Idle runner minutes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4023360" y="257868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target meaningful reduction in off-hours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0"/>
          <p:cNvSpPr/>
          <p:nvPr/>
        </p:nvSpPr>
        <p:spPr>
          <a:xfrm>
            <a:off x="822960" y="4142160"/>
            <a:ext cx="10012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914400" y="352044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GKE nodes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4023360" y="353880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nodes should actually be reclaimed after scale-down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3"/>
          <p:cNvSpPr/>
          <p:nvPr/>
        </p:nvSpPr>
        <p:spPr>
          <a:xfrm>
            <a:off x="822960" y="5102280"/>
            <a:ext cx="10012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914400" y="448056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Reliability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4023360" y="449892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no increase in orphan runners or failed jobs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6"/>
          <p:cNvSpPr/>
          <p:nvPr/>
        </p:nvSpPr>
        <p:spPr>
          <a:xfrm>
            <a:off x="914400" y="548640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My success statement: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4069080" y="5376600"/>
            <a:ext cx="6080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Reduce the always-on runner floor without hurting developer experience.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502920" y="6446520"/>
            <a:ext cx="111556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0292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ARC v2 predictive autoscaling — initial manager discussion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548640" y="32004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Suggested next steps / ask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567000" y="8686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This is what I would like to align on before building anything heavy.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"/>
          <p:cNvSpPr/>
          <p:nvPr/>
        </p:nvSpPr>
        <p:spPr>
          <a:xfrm>
            <a:off x="822960" y="1508760"/>
            <a:ext cx="411120" cy="41112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5"/>
          <p:cNvSpPr/>
          <p:nvPr/>
        </p:nvSpPr>
        <p:spPr>
          <a:xfrm>
            <a:off x="822960" y="1613880"/>
            <a:ext cx="411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1508760" y="146304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Approve a low-risk UAT/DEV PoC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5532120" y="1490400"/>
            <a:ext cx="507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start with scheduled minRunners; no ML in first version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8"/>
          <p:cNvSpPr/>
          <p:nvPr/>
        </p:nvSpPr>
        <p:spPr>
          <a:xfrm>
            <a:off x="822960" y="2295000"/>
            <a:ext cx="411120" cy="41112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822960" y="2400480"/>
            <a:ext cx="411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0"/>
          <p:cNvSpPr/>
          <p:nvPr/>
        </p:nvSpPr>
        <p:spPr>
          <a:xfrm>
            <a:off x="1508760" y="22492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Export real demand metrics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5532120" y="2277000"/>
            <a:ext cx="507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jobs/min, busy/idle runners, startup p95, pending pods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2"/>
          <p:cNvSpPr/>
          <p:nvPr/>
        </p:nvSpPr>
        <p:spPr>
          <a:xfrm>
            <a:off x="822960" y="3081600"/>
            <a:ext cx="411120" cy="41112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3"/>
          <p:cNvSpPr/>
          <p:nvPr/>
        </p:nvSpPr>
        <p:spPr>
          <a:xfrm>
            <a:off x="822960" y="3186720"/>
            <a:ext cx="411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4"/>
          <p:cNvSpPr/>
          <p:nvPr/>
        </p:nvSpPr>
        <p:spPr>
          <a:xfrm>
            <a:off x="1508760" y="30358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Fix blockers first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5"/>
          <p:cNvSpPr/>
          <p:nvPr/>
        </p:nvSpPr>
        <p:spPr>
          <a:xfrm>
            <a:off x="5532120" y="3063240"/>
            <a:ext cx="507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safe-to-evict and orphan-runner cleanup should be part of the baseline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6"/>
          <p:cNvSpPr/>
          <p:nvPr/>
        </p:nvSpPr>
        <p:spPr>
          <a:xfrm>
            <a:off x="822960" y="3867840"/>
            <a:ext cx="411120" cy="41112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7"/>
          <p:cNvSpPr/>
          <p:nvPr/>
        </p:nvSpPr>
        <p:spPr>
          <a:xfrm>
            <a:off x="822960" y="3972960"/>
            <a:ext cx="411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8"/>
          <p:cNvSpPr/>
          <p:nvPr/>
        </p:nvSpPr>
        <p:spPr>
          <a:xfrm>
            <a:off x="1508760" y="382212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Run shadow prediction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9"/>
          <p:cNvSpPr/>
          <p:nvPr/>
        </p:nvSpPr>
        <p:spPr>
          <a:xfrm>
            <a:off x="5532120" y="3849480"/>
            <a:ext cx="507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compare Prophet/Kedify-style prediction against the schedule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0"/>
          <p:cNvSpPr/>
          <p:nvPr/>
        </p:nvSpPr>
        <p:spPr>
          <a:xfrm>
            <a:off x="822960" y="4654440"/>
            <a:ext cx="411120" cy="41112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1"/>
          <p:cNvSpPr/>
          <p:nvPr/>
        </p:nvSpPr>
        <p:spPr>
          <a:xfrm>
            <a:off x="822960" y="4759560"/>
            <a:ext cx="411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2"/>
          <p:cNvSpPr/>
          <p:nvPr/>
        </p:nvSpPr>
        <p:spPr>
          <a:xfrm>
            <a:off x="1508760" y="460872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0f172a"/>
                </a:solidFill>
                <a:effectLst/>
                <a:uFillTx/>
                <a:latin typeface="Aptos"/>
              </a:rPr>
              <a:t>Close the loop only if data supports 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3"/>
          <p:cNvSpPr/>
          <p:nvPr/>
        </p:nvSpPr>
        <p:spPr>
          <a:xfrm>
            <a:off x="5532120" y="4636080"/>
            <a:ext cx="507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75569"/>
                </a:solidFill>
                <a:effectLst/>
                <a:uFillTx/>
                <a:latin typeface="Aptos"/>
              </a:rPr>
              <a:t>guarded policy layer, manual override and rollback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4"/>
          <p:cNvSpPr/>
          <p:nvPr/>
        </p:nvSpPr>
        <p:spPr>
          <a:xfrm>
            <a:off x="822960" y="5897880"/>
            <a:ext cx="9966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Reference docs reviewed: Kedify predictive autoscaling, Sedai predictive autoscaling in Kubernetes, GitHub ARC scale set behavior.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Internal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2026-09-01T11:33:38Z</dcterms:created>
  <dc:creator>Ayush Baranwal</dc:creator>
  <dc:description/>
  <dc:language>en-US</dc:language>
  <cp:lastModifiedBy>Ayush Baranwal</cp:lastModifiedBy>
  <dcterms:modified xsi:type="dcterms:W3CDTF">2026-09-01T11:33:38Z</dcterms:modified>
  <cp:revision>1</cp:revision>
  <dc:subject>Predictive autoscaling proposal for ARC v2 enterprise runners</dc:subject>
  <dc:title>Predictive Autoscaling for ARC v2 Enterprise Runners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