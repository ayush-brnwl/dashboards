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0572e693254dc4" /><Relationship Type="http://schemas.openxmlformats.org/officeDocument/2006/relationships/extended-properties" Target="/docProps/app.xml" Id="R65c870f3e0614a6e" /><Relationship Type="http://schemas.openxmlformats.org/officeDocument/2006/relationships/officeDocument" Target="/ppt/presentation.xml" Id="R8c35688b54314990" /></Relationships>
</file>

<file path=ppt/presentation.xml><?xml version="1.0" encoding="utf-8"?>
<p:presentation xmlns:p="http://schemas.openxmlformats.org/presentationml/2006/main">
  <p:sldMasterIdLst>
    <p:sldMasterId xmlns:r="http://schemas.openxmlformats.org/officeDocument/2006/relationships" id="2147483648" r:id="R226881f5051e481b"/>
  </p:sldMasterIdLst>
  <p:notesMasterIdLst>
    <p:notesMasterId xmlns:r="http://schemas.openxmlformats.org/officeDocument/2006/relationships" r:id="R97d0936c8a794c7a"/>
  </p:notesMasterIdLst>
  <p:sldIdLst>
    <p:sldId xmlns:r="http://schemas.openxmlformats.org/officeDocument/2006/relationships" id="256" r:id="Rf5c2401d2bff42e4"/>
    <p:sldId xmlns:r="http://schemas.openxmlformats.org/officeDocument/2006/relationships" id="257" r:id="Rf6d0eb7d8fb149f5"/>
    <p:sldId xmlns:r="http://schemas.openxmlformats.org/officeDocument/2006/relationships" id="258" r:id="R8b57914392af42cf"/>
    <p:sldId xmlns:r="http://schemas.openxmlformats.org/officeDocument/2006/relationships" id="259" r:id="R134c5db5c0134429"/>
    <p:sldId xmlns:r="http://schemas.openxmlformats.org/officeDocument/2006/relationships" id="260" r:id="R28c65c65f29f4c7b"/>
    <p:sldId xmlns:r="http://schemas.openxmlformats.org/officeDocument/2006/relationships" id="261" r:id="R8c0fe742ec37487a"/>
    <p:sldId xmlns:r="http://schemas.openxmlformats.org/officeDocument/2006/relationships" id="262" r:id="R1d1d75fa18e64f25"/>
    <p:sldId xmlns:r="http://schemas.openxmlformats.org/officeDocument/2006/relationships" id="263" r:id="Re1d04ee9b2984d9d"/>
    <p:sldId xmlns:r="http://schemas.openxmlformats.org/officeDocument/2006/relationships" id="264" r:id="Rfce0bd9f29194278"/>
    <p:sldId xmlns:r="http://schemas.openxmlformats.org/officeDocument/2006/relationships" id="265" r:id="Rd87448e1d60249e3"/>
    <p:sldId xmlns:r="http://schemas.openxmlformats.org/officeDocument/2006/relationships" id="266" r:id="R845a3197dffc46f8"/>
    <p:sldId xmlns:r="http://schemas.openxmlformats.org/officeDocument/2006/relationships" id="267" r:id="Ra0e4b1dd2ce241b5"/>
    <p:sldId xmlns:r="http://schemas.openxmlformats.org/officeDocument/2006/relationships" id="268" r:id="R98db576363cf45f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bb84e50b8c4e4f" /><Relationship Type="http://schemas.openxmlformats.org/officeDocument/2006/relationships/slideMaster" Target="/ppt/slideMasters/slideMaster1.xml" Id="R226881f5051e481b" /><Relationship Type="http://schemas.openxmlformats.org/officeDocument/2006/relationships/notesMaster" Target="/ppt/notesMasters/notesMaster1.xml" Id="R97d0936c8a794c7a" /><Relationship Type="http://schemas.openxmlformats.org/officeDocument/2006/relationships/presProps" Target="/ppt/presProps.xml" Id="Rb3e0a2572ca940a2" /><Relationship Type="http://schemas.openxmlformats.org/officeDocument/2006/relationships/tableStyles" Target="/ppt/tableStyles.xml" Id="Rdd0aa6be76cc4f7f" /><Relationship Type="http://schemas.openxmlformats.org/officeDocument/2006/relationships/slide" Target="/ppt/slides/slide1.xml" Id="Rf5c2401d2bff42e4" /><Relationship Type="http://schemas.openxmlformats.org/officeDocument/2006/relationships/slide" Target="/ppt/slides/slide2.xml" Id="Rf6d0eb7d8fb149f5" /><Relationship Type="http://schemas.openxmlformats.org/officeDocument/2006/relationships/slide" Target="/ppt/slides/slide3.xml" Id="R8b57914392af42cf" /><Relationship Type="http://schemas.openxmlformats.org/officeDocument/2006/relationships/slide" Target="/ppt/slides/slide4.xml" Id="R134c5db5c0134429" /><Relationship Type="http://schemas.openxmlformats.org/officeDocument/2006/relationships/slide" Target="/ppt/slides/slide5.xml" Id="R28c65c65f29f4c7b" /><Relationship Type="http://schemas.openxmlformats.org/officeDocument/2006/relationships/slide" Target="/ppt/slides/slide6.xml" Id="R8c0fe742ec37487a" /><Relationship Type="http://schemas.openxmlformats.org/officeDocument/2006/relationships/slide" Target="/ppt/slides/slide7.xml" Id="R1d1d75fa18e64f25" /><Relationship Type="http://schemas.openxmlformats.org/officeDocument/2006/relationships/slide" Target="/ppt/slides/slide8.xml" Id="Re1d04ee9b2984d9d" /><Relationship Type="http://schemas.openxmlformats.org/officeDocument/2006/relationships/slide" Target="/ppt/slides/slide9.xml" Id="Rfce0bd9f29194278" /><Relationship Type="http://schemas.openxmlformats.org/officeDocument/2006/relationships/slide" Target="/ppt/slides/slide10.xml" Id="Rd87448e1d60249e3" /><Relationship Type="http://schemas.openxmlformats.org/officeDocument/2006/relationships/slide" Target="/ppt/slides/slide11.xml" Id="R845a3197dffc46f8" /><Relationship Type="http://schemas.openxmlformats.org/officeDocument/2006/relationships/slide" Target="/ppt/slides/slide12.xml" Id="Ra0e4b1dd2ce241b5" /><Relationship Type="http://schemas.openxmlformats.org/officeDocument/2006/relationships/slide" Target="/ppt/slides/slide13.xml" Id="R98db576363cf45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fe778dfa0648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155e4097484ec9" /><Relationship Type="http://schemas.openxmlformats.org/officeDocument/2006/relationships/notesMaster" Target="/ppt/notesMasters/notesMaster1.xml" Id="Ra857207769df4f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df414dc2924042" /><Relationship Type="http://schemas.openxmlformats.org/officeDocument/2006/relationships/notesMaster" Target="/ppt/notesMasters/notesMaster1.xml" Id="Rae2080b8b7a14a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335ba5a37b4fc5" /><Relationship Type="http://schemas.openxmlformats.org/officeDocument/2006/relationships/notesMaster" Target="/ppt/notesMasters/notesMaster1.xml" Id="R7a6da725d85d44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40bc9f89e04a62" /><Relationship Type="http://schemas.openxmlformats.org/officeDocument/2006/relationships/notesMaster" Target="/ppt/notesMasters/notesMaster1.xml" Id="R044394226fea48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655525a1c549d3" /><Relationship Type="http://schemas.openxmlformats.org/officeDocument/2006/relationships/notesMaster" Target="/ppt/notesMasters/notesMaster1.xml" Id="Rbb0c104c0b7241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dd73c639f94573" /><Relationship Type="http://schemas.openxmlformats.org/officeDocument/2006/relationships/notesMaster" Target="/ppt/notesMasters/notesMaster1.xml" Id="R5b72af097fa74d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ab60f52fa647bd" /><Relationship Type="http://schemas.openxmlformats.org/officeDocument/2006/relationships/notesMaster" Target="/ppt/notesMasters/notesMaster1.xml" Id="R364a3fe7cfb64f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166c342ea14d9b" /><Relationship Type="http://schemas.openxmlformats.org/officeDocument/2006/relationships/notesMaster" Target="/ppt/notesMasters/notesMaster1.xml" Id="R9e6bf7f3732841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4b73141df94c3a" /><Relationship Type="http://schemas.openxmlformats.org/officeDocument/2006/relationships/notesMaster" Target="/ppt/notesMasters/notesMaster1.xml" Id="R738f989a830b4d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edb0d8d32e4f98" /><Relationship Type="http://schemas.openxmlformats.org/officeDocument/2006/relationships/notesMaster" Target="/ppt/notesMasters/notesMaster1.xml" Id="R9314863cc48d41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0901b169e343fa" /><Relationship Type="http://schemas.openxmlformats.org/officeDocument/2006/relationships/notesMaster" Target="/ppt/notesMasters/notesMaster1.xml" Id="R501c5c3cf0964c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77e575465b46eb" /><Relationship Type="http://schemas.openxmlformats.org/officeDocument/2006/relationships/notesMaster" Target="/ppt/notesMasters/notesMaster1.xml" Id="R9bf1502c798643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eccbfbbce14192" /><Relationship Type="http://schemas.openxmlformats.org/officeDocument/2006/relationships/notesMaster" Target="/ppt/notesMasters/notesMaster1.xml" Id="Rb368b4afdd514b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to turn our existing audit investment into a reliable license review capability. We will collect current license inventory, combine it with audit activity and staff eligibility, and present explainable review candidates in Grafana. The MVP does not revoke access automatically. All infrastructure, including BigQuery tables and views, remains Terraform managed.</a:t>
            </a:r>
          </a:p>
          <a:p xmlns:a="http://schemas.openxmlformats.org/drawingml/2006/main">
            <a:r>
              <a:t/>
            </a:r>
          </a:p>
          <a:p xmlns:a="http://schemas.openxmlformats.org/drawingml/2006/main">
            <a:r>
              <a:t>Sources and design references:</a:t>
            </a:r>
          </a:p>
          <a:p xmlns:a="http://schemas.openxmlformats.org/drawingml/2006/main">
            <a:r>
              <a:t>https://github.githubassets.com/favicons/favicon.svg</a:t>
            </a:r>
          </a:p>
          <a:p xmlns:a="http://schemas.openxmlformats.org/drawingml/2006/main">
            <a:r>
              <a:t>https://github.com/grafana/grafana/blob/main/public/img/grafana_icon.svg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script remains a validation comparator during the pilot. We replace the costly activity lookup with enterprise-wide BigQuery aggregation. The license API remains necessary because audit actors do not represent all current license holders, especially users with zero observed activity. We have not yet measured savings and should not show a percentage or currency estimate. The existing audit/Chronicle flow remains separate and unchanged.</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deliberately separates state from activity. Current licenses define the population. Audit data provides the activity signal. Staff and group snapshots provide context and policy eligibility. None of the paths can answer the complete question alone. The staff and LDAP integration is planned. The normalized audit foundation already exists. Grafana reads derived reporting data rather than recalculating hundreds of millions of audit rows.</a:t>
            </a:r>
          </a:p>
          <a:p xmlns:a="http://schemas.openxmlformats.org/drawingml/2006/main">
            <a:r>
              <a:t/>
            </a:r>
          </a:p>
          <a:p xmlns:a="http://schemas.openxmlformats.org/drawingml/2006/main">
            <a:r>
              <a:t>Sources and design references:</a:t>
            </a:r>
          </a:p>
          <a:p xmlns:a="http://schemas.openxmlformats.org/drawingml/2006/main">
            <a:r>
              <a:t>https://docs.github.com/en/enterprise-cloud@latest/rest/enterprise-admin/licensing</a:t>
            </a:r>
          </a:p>
          <a:p xmlns:a="http://schemas.openxmlformats.org/drawingml/2006/main">
            <a:r>
              <a:t>https://docs.github.com/en/enterprise-cloud@latest/admin/monitoring-activity-in-your-enterprise/reviewing-audit-logs-for-your-enterprise/streaming-the-audit-log-for-your-enterprise</a:t>
            </a:r>
          </a:p>
          <a:p xmlns:a="http://schemas.openxmlformats.org/drawingml/2006/main">
            <a:r>
              <a:t>https://grafana.com/docs/plugins/grafana-bigquery-datasource/latest/</a:t>
            </a:r>
          </a:p>
          <a:p xmlns:a="http://schemas.openxmlformats.org/drawingml/2006/main">
            <a:r>
              <a:t>https://github.githubassets.com/favicons/favicon.svg</a:t>
            </a:r>
          </a:p>
          <a:p xmlns:a="http://schemas.openxmlformats.org/drawingml/2006/main">
            <a:r>
              <a:t>https://github.com/grafana/grafana/blob/main/public/img/grafana_icon.svg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 /enterprises/{enterprise}/consumed-licenses returns license consumption and users. The API supports pagination up to 100 users per page. A short-lived enterprise GitHub App installation token is the planned authentication mechanism. Current GitHub documentation specifies Enterprise administration read permission. Verify the installed app entitlement and successfully test the endpoint in our tenant before rollout. Do not request organization or repository write access for this collector. The runtime cannot create tables: CREATE_NEVER with WRITE_APPEND to a pre-created Terraform schema. Validate every page and reconcile extract/load counts with the source metadata, taking license identity rules and server-only users into account. Persist run identifiers, timestamps and counts. Treat COMPLETE as a publish marker. REVIEW_REQUIRED, REJECTED and FAILED runs stay out of the current view. Keep the last valid snapshot but surface its age. Retain archive evidence under bank retention and identity-data controls. The collector is a scheduled batch job, not an HTTP web application.</a:t>
            </a:r>
          </a:p>
          <a:p xmlns:a="http://schemas.openxmlformats.org/drawingml/2006/main">
            <a:r>
              <a:t/>
            </a:r>
          </a:p>
          <a:p xmlns:a="http://schemas.openxmlformats.org/drawingml/2006/main">
            <a:r>
              <a:t>Sources and design references:</a:t>
            </a:r>
          </a:p>
          <a:p xmlns:a="http://schemas.openxmlformats.org/drawingml/2006/main">
            <a:r>
              <a:t>https://docs.github.com/en/enterprise-cloud@latest/rest/enterprise-admin/licensing</a:t>
            </a:r>
          </a:p>
          <a:p xmlns:a="http://schemas.openxmlformats.org/drawingml/2006/main">
            <a:r>
              <a:t>https://docs.cloud.google.com/run/docs/execute/jobs-on-schedule</a:t>
            </a:r>
          </a:p>
          <a:p xmlns:a="http://schemas.openxmlformats.org/drawingml/2006/main">
            <a:r>
              <a:t>https://github.githubassets.com/favicons/favicon.svg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streaming path already feeds github_audit_events_normalized. The existing runtime must be confirmed from the deployed audit pipeline, so the diagram labels it existing processing rather than prescribing a new runtime. The source screenshot depicts a separate Cloud Function Gen1 path to Chronicle; we do not redirect or replace that flow. A scheduled BigQuery job derives github_user_activity_action_daily with one row per user/date/action and a short late-arrival lookback. Rebuild affected partitions or MERGE idempotently. Derive github_user_activity_summary from that rollup. MVP parity uses MAX(event_time) for actor non-SSO actions, a Git-specific timestamp, and MAX(event_time) for business.sso_response. Preserve action evidence so policy rules can evolve. GitHub states that the stream contains audit and Git events, starts at enablement, and uses at-least-once delivery. Validate actor attribution and retained history before retiring any contribution lookup from the legacy script. Missing audit evidence is not proof of no GitHub use. Production reclamation requires accepted coverage and freshness. The DEV streaming pause is an accepted prototype limitation.</a:t>
            </a:r>
          </a:p>
          <a:p xmlns:a="http://schemas.openxmlformats.org/drawingml/2006/main">
            <a:r>
              <a:t/>
            </a:r>
          </a:p>
          <a:p xmlns:a="http://schemas.openxmlformats.org/drawingml/2006/main">
            <a:r>
              <a:t>Sources and design references:</a:t>
            </a:r>
          </a:p>
          <a:p xmlns:a="http://schemas.openxmlformats.org/drawingml/2006/main">
            <a:r>
              <a:t>https://docs.github.com/en/enterprise-cloud@latest/admin/monitoring-activity-in-your-enterprise/reviewing-audit-logs-for-your-enterprise/streaming-the-audit-log-for-your-enterprise</a:t>
            </a:r>
          </a:p>
          <a:p xmlns:a="http://schemas.openxmlformats.org/drawingml/2006/main">
            <a:r>
              <a:t>https://github.githubassets.com/favicons/favicon.svg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GHEMU_SCIM_GROUP table stores names, while the old script checks each user membership live through LDAP. Persist both positive and negative checks plus check_status, checked_at and any sanitized error category. Initial integration may export the existing script outputs or extend it to write an approved daily feed. Do not assume Cloud Run can reach internal LDAP until the network and directory owners approve the path. The GitHub App provides GitHub access only and does not authorize staff or LDAP access. Map identities using approved keys and aliases, avoiding ambiguous email matches. Use an explicit account-type and exception registry instead of relying only on svc- prefixes. Staff ownership, group membership and exception data need freshness as well as audit data.</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User-level view: github_license_dormancy_user_status. Group-action view: github_license_removal_candidate_actions. The join starts from current licenses and LEFT JOINs activity and staff/group data. This retains never-active licensed users. Resolve login changes and aliases; preserve stable audit actor_id where available and supported by the inventory mapping. Server-only or unmatchable license identities stay in a review queue, rather than disappearing or becoming dormant. Aggregate group memberships before joining them to the user model so they do not inflate user counts. Use distinct user identity in KPIs. A user may have more than one proposed group action, but still consumes one user-level dashboard row. CSV parity with the old workflow includes group, account, domain, Leave action and business justification. The export never executes a change itself.</a:t>
            </a:r>
          </a:p>
          <a:p xmlns:a="http://schemas.openxmlformats.org/drawingml/2006/main">
            <a:r>
              <a:t/>
            </a:r>
          </a:p>
          <a:p xmlns:a="http://schemas.openxmlformats.org/drawingml/2006/main">
            <a:r>
              <a:t>Sources and design references:</a:t>
            </a:r>
          </a:p>
          <a:p xmlns:a="http://schemas.openxmlformats.org/drawingml/2006/main">
            <a:r>
              <a:t>https://docs.github.com/en/enterprise-cloud@latest/rest/enterprise-admin/licensing</a:t>
            </a:r>
          </a:p>
          <a:p xmlns:a="http://schemas.openxmlformats.org/drawingml/2006/main">
            <a:r>
              <a:t>https://grafana.com/docs/plugins/grafana-bigquery-datasource/latest/</a:t>
            </a:r>
          </a:p>
          <a:p xmlns:a="http://schemas.openxmlformats.org/drawingml/2006/main">
            <a:r>
              <a:t>https://github.githubassets.com/favicons/favicon.svg</a:t>
            </a:r>
          </a:p>
          <a:p xmlns:a="http://schemas.openxmlformats.org/drawingml/2006/main">
            <a:r>
              <a:t>https://github.com/grafana/grafana/blob/main/public/img/grafana_icon.svg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windows are configurable and do not automatically change access policy. The default proposal is to start operational review at 90 days, subject to policy-owner approval. Retain both activity and authentication timestamps in the model. TDI/non-TDI assignment should come from eligibility data, not infer it from a username. Preserve legacy flow semantics during the comparison stage and investigate all cases where the legacy script says active while BigQuery says dormant. Missing signals, new-user observation time, stale inventory, mapping errors or failed LDAP checks require explicit states and cannot silently pass the gate. Cumulative 30+, 60+ and 90+ KPIs overlap; use mutually exclusive bands for distribution charts. Audit logs are not exhaustive page-view telemetry. No activity observed supports review, not a claim that the user never used GitHub. The DEV pause does not block the prototype; production decisions need agreed historical coverage.</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statuses and Terraform view definitions must use the same vocabulary. Only COMPLETE should publish in the current inventory. REVIEW_REQUIRED, REJECTED and FAILED remain visible in operational metadata but cannot replace accepted inventory. A reviewed snapshot needs an explicit controlled promotion process, with approval evidence, if policy later permits it. The comparison baseline also uses accepted COMPLETE runs. On validation failure, retain the last valid current view and surface its age; stale accepted data must not enable reclamation. Apply bank-approved identity-data classification, least privilege, encryption, access reviews, retention and logging policy to both BigQuery and the raw archive. Do not log tokens, private keys or full identity payloads. Use approved container mirrors and dependency registries, a non-root image and CI security checks. Network egress/proxy and internal-directory access need their normal approvals.</a:t>
            </a:r>
          </a:p>
          <a:p xmlns:a="http://schemas.openxmlformats.org/drawingml/2006/main">
            <a:r>
              <a:t/>
            </a:r>
          </a:p>
          <a:p xmlns:a="http://schemas.openxmlformats.org/drawingml/2006/main">
            <a:r>
              <a:t>Sources and design references:</a:t>
            </a:r>
          </a:p>
          <a:p xmlns:a="http://schemas.openxmlformats.org/drawingml/2006/main">
            <a:r>
              <a:t>https://docs.github.com/en/enterprise-cloud@latest/rest/enterprise-admin/licensing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has created the license tables and view through Terraform and has deployed a hello-world Cloud Run test. The existing audit normalized table is available. That does not imply the actual collector is already live or that the other planned feeds exist. Step 1 is the current Jira scope. Do not set delivery dates before confirming approvals and staff/directory feed ownership. Each milestone has a testable acceptance gate. Run the legacy comparison for at least two representative reporting cycles as an initial proposal, with duration confirmed by owners. The pilot is read-only reporting plus a controlled operational review.</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native PowerPoint mockup of the proposed Grafana layout, not a deployed dashboard screenshot. All values are invented solely to demonstrate layout. Example population is 10,000 licensed users: 7,200 active within 30 days, 800 inactive 30–44 days, 600 inactive 45–59, 500 inactive 60–89, 500 inactive 90+ days and 400 without a reliable signal. Total is 10,000. Of the example 500 users in the 90+ band, 320 pass the illustrative eligibility gate and 180 do not. No-signal users remain in a separate evidence-review queue. Candidate UBR counts 120+90+60+50=320. Charts are editable. Actual values, scope filters and policy-basis assignments come from the BigQuery model. Do not infer savings from sample counts. The data-source identity receives query-job permission and access only to approved reporting datasets/views.</a:t>
            </a:r>
          </a:p>
          <a:p xmlns:a="http://schemas.openxmlformats.org/drawingml/2006/main">
            <a:r>
              <a:t/>
            </a:r>
          </a:p>
          <a:p xmlns:a="http://schemas.openxmlformats.org/drawingml/2006/main">
            <a:r>
              <a:t>Sources and design references:</a:t>
            </a:r>
          </a:p>
          <a:p xmlns:a="http://schemas.openxmlformats.org/drawingml/2006/main">
            <a:r>
              <a:t>https://grafana.com/docs/plugins/grafana-bigquery-datasource/latest/</a:t>
            </a:r>
          </a:p>
          <a:p xmlns:a="http://schemas.openxmlformats.org/drawingml/2006/main">
            <a:r>
              <a:t>https://github.com/grafana/grafana/blob/main/public/img/grafana_icon.svg</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table contains fictional users and timestamps at an illustrative 2026-10-16 reporting date. It demonstrates status explanation, not actual user data. The full row expands or links to UBR ownership, authentication and Git timestamps, snapshot run IDs, coverage flags, staff match, group memberships, exemption reasons and source evidence. Unknown inactivity remains Unknown, rather than substituting epoch time. Account names are fictional and contain no employee identity. Grafana is the reporting and drilldown surface. Review decisions and approvals must use the bank-approved workflow or a separate controlled review store. Do not imply that a read-only Grafana data source writes status updates or changes GitHub access. Re-check activity and current eligibility before executing the approved group action. Verify the license outcome afterward because removing one group may not remove all paths that consume a license.</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Jira task remains licensed-user ingestion, with pagination, evidence, strict schema, deterministic retry behavior, run metadata and COMPLETE-only publication. License tables and views already exist through Terraform, while a test Cloud Run deployment validates the deployment route. Remaining details are implementation validation and approved operationalization. Subsequent milestones add audit rollups, directory snapshots, the combined model and the Grafana pilot. Ask for policy ownership and data-feed ownership rather than promising immediate automation or savings. Success measures can include inventory reconciliation, freshness within the agreed schedule, mismatches resolved against the old script, explainable exclusion reasons and a completed controlled pilot. Do not attach a savings target before we have real inventory and contract terms.</a:t>
            </a:r>
          </a:p>
          <a:p xmlns:a="http://schemas.openxmlformats.org/drawingml/2006/main">
            <a:r>
              <a:t/>
            </a:r>
          </a:p>
          <a:p xmlns:a="http://schemas.openxmlformats.org/drawingml/2006/main">
            <a:r>
              <a:t>Sources and design references:</a:t>
            </a:r>
          </a:p>
          <a:p xmlns:a="http://schemas.openxmlformats.org/drawingml/2006/main">
            <a:r>
              <a:t>https://cloud.google.com/icons</a:t>
            </a:r>
          </a:p>
          <a:p xmlns:a="http://schemas.openxmlformats.org/drawingml/2006/main">
            <a:r>
              <a:t>https://lucide.dev/license</a:t>
            </a:r>
          </a:p>
          <a:p xmlns:a="http://schemas.openxmlformats.org/drawingml/2006/main">
            <a:r>
              <a:t>Architecture and project status: user discussion. Proposed design, unless explicitly labelled existing. Diagram labels and connectors are editable native slide objects. Service icons retain their source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808fc6ecea4d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38513b8f104f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23ba207abf49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a9ceef41374e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2e4b15a8d445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7e9e38735c48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2991D0-05FA-4D0E-86B1-3E8AFDEBC528}"/>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8172E9-3E99-4A26-83C9-923E7CFBB1E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11A995-CB4A-40FF-9B4F-69E61838E70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893E9F-D741-48E5-AA31-EB161F0BBD0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8C0EC6-71DB-463F-83D4-DF7D6F35397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D83EFD-3A5E-4789-BE9A-991800C25B2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8CDBF1-120B-4C60-8EC3-7221DBD6236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DFD1DD-F50A-47DE-A05A-912C4F4DC06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2D8958-7200-4F0F-8AC2-A76C2CBB47D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0541CA-96DD-4A40-B117-1EBB1D83DE8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98c720020544ee" /><Relationship Type="http://schemas.openxmlformats.org/officeDocument/2006/relationships/slideLayout" Target="/ppt/slideLayouts/slideLayout1.xml" Id="R93a86f2552a647ea" /><Relationship Type="http://schemas.openxmlformats.org/officeDocument/2006/relationships/slideLayout" Target="/ppt/slideLayouts/slideLayout2.xml" Id="Rfe0a5c20d1064aee" /><Relationship Type="http://schemas.openxmlformats.org/officeDocument/2006/relationships/slideLayout" Target="/ppt/slideLayouts/slideLayout3.xml" Id="R82bef57f63b64f98" /><Relationship Type="http://schemas.openxmlformats.org/officeDocument/2006/relationships/slideLayout" Target="/ppt/slideLayouts/slideLayout4.xml" Id="R8062e48abdf34fe8" /><Relationship Type="http://schemas.openxmlformats.org/officeDocument/2006/relationships/slideLayout" Target="/ppt/slideLayouts/slideLayout5.xml" Id="Rca31255f726c4dda" /><Relationship Type="http://schemas.openxmlformats.org/officeDocument/2006/relationships/slideLayout" Target="/ppt/slideLayouts/slideLayout6.xml" Id="R5eecc83b7e5440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a86f2552a647ea"/>
    <p:sldLayoutId xmlns:r="http://schemas.openxmlformats.org/officeDocument/2006/relationships" id="2147483650" r:id="Rfe0a5c20d1064aee"/>
    <p:sldLayoutId xmlns:r="http://schemas.openxmlformats.org/officeDocument/2006/relationships" id="2147483651" r:id="R82bef57f63b64f98"/>
    <p:sldLayoutId xmlns:r="http://schemas.openxmlformats.org/officeDocument/2006/relationships" id="2147483652" r:id="R8062e48abdf34fe8"/>
    <p:sldLayoutId xmlns:r="http://schemas.openxmlformats.org/officeDocument/2006/relationships" id="2147483653" r:id="Rca31255f726c4dda"/>
    <p:sldLayoutId xmlns:r="http://schemas.openxmlformats.org/officeDocument/2006/relationships" id="2147483654" r:id="R5eecc83b7e5440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2a0d9a7aa14b1d" /><Relationship Type="http://schemas.openxmlformats.org/officeDocument/2006/relationships/image" Target="/ppt/media/image.png" Id="R13867afb361b4bbd" /><Relationship Type="http://schemas.openxmlformats.org/officeDocument/2006/relationships/image" Target="/ppt/media/image.svg" Id="Rc32aff6070b34bfc" /><Relationship Type="http://schemas.openxmlformats.org/officeDocument/2006/relationships/image" Target="/ppt/media/image2.png" Id="Rf93f1cc41a7e4c5f" /><Relationship Type="http://schemas.openxmlformats.org/officeDocument/2006/relationships/image" Target="/ppt/media/image3.png" Id="Rce722b9af89a47e0" /><Relationship Type="http://schemas.openxmlformats.org/officeDocument/2006/relationships/image" Target="/ppt/media/image2.svg" Id="Rf505f2f65612401f" /><Relationship Type="http://schemas.openxmlformats.org/officeDocument/2006/relationships/notesSlide" Target="/ppt/notesSlides/notesSlide1.xml" Id="R95f7597261ae49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5b7d989b244c7e" /><Relationship Type="http://schemas.openxmlformats.org/officeDocument/2006/relationships/notesSlide" Target="/ppt/notesSlides/notesSlide2.xml" Id="R6ae793a90c8149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c922a5108b48d2" /><Relationship Type="http://schemas.openxmlformats.org/officeDocument/2006/relationships/image" Target="/ppt/media/image4.png" Id="Rfd14f53778764d57" /><Relationship Type="http://schemas.openxmlformats.org/officeDocument/2006/relationships/image" Target="/ppt/media/image3.svg" Id="Rad251b6312b2406e" /><Relationship Type="http://schemas.openxmlformats.org/officeDocument/2006/relationships/image" Target="/ppt/media/image5.png" Id="R11823c40884349dc" /><Relationship Type="http://schemas.openxmlformats.org/officeDocument/2006/relationships/image" Target="/ppt/media/image4.svg" Id="Rb0a26e1a3a9e42e8" /><Relationship Type="http://schemas.openxmlformats.org/officeDocument/2006/relationships/image" Target="/ppt/media/image6.png" Id="R6db50e678a094ea5" /><Relationship Type="http://schemas.openxmlformats.org/officeDocument/2006/relationships/image" Target="/ppt/media/image5.svg" Id="R0b61229f6b7642ab" /><Relationship Type="http://schemas.openxmlformats.org/officeDocument/2006/relationships/image" Target="/ppt/media/image7.png" Id="R36017dd4238443be" /><Relationship Type="http://schemas.openxmlformats.org/officeDocument/2006/relationships/image" Target="/ppt/media/image8.png" Id="Rdeab4a0e3ad84962" /><Relationship Type="http://schemas.openxmlformats.org/officeDocument/2006/relationships/image" Target="/ppt/media/image6.svg" Id="Rbbce8c83e3154a57" /><Relationship Type="http://schemas.openxmlformats.org/officeDocument/2006/relationships/notesSlide" Target="/ppt/notesSlides/notesSlide3.xml" Id="R5fd066cd342144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599cbc2ba8449c" /><Relationship Type="http://schemas.openxmlformats.org/officeDocument/2006/relationships/image" Target="/ppt/media/image9.png" Id="R8eb91575033b473a" /><Relationship Type="http://schemas.openxmlformats.org/officeDocument/2006/relationships/image" Target="/ppt/media/image10.png" Id="R8008f7d398d04ec3" /><Relationship Type="http://schemas.openxmlformats.org/officeDocument/2006/relationships/image" Target="/ppt/media/image7.svg" Id="R95af0ba7bc294a47" /><Relationship Type="http://schemas.openxmlformats.org/officeDocument/2006/relationships/image" Target="/ppt/media/image11.png" Id="R8c6f5065b6154de9" /><Relationship Type="http://schemas.openxmlformats.org/officeDocument/2006/relationships/image" Target="/ppt/media/image12.png" Id="R972df6f9a4bc4371" /><Relationship Type="http://schemas.openxmlformats.org/officeDocument/2006/relationships/image" Target="/ppt/media/image13.png" Id="Rff5b0e7865064484" /><Relationship Type="http://schemas.openxmlformats.org/officeDocument/2006/relationships/image" Target="/ppt/media/image14.png" Id="R85bcd3e8601a406c" /><Relationship Type="http://schemas.openxmlformats.org/officeDocument/2006/relationships/image" Target="/ppt/media/image15.png" Id="R58e644cf21024160" /><Relationship Type="http://schemas.openxmlformats.org/officeDocument/2006/relationships/image" Target="/ppt/media/image8.svg" Id="Re66a0f90696e4d3c" /><Relationship Type="http://schemas.openxmlformats.org/officeDocument/2006/relationships/notesSlide" Target="/ppt/notesSlides/notesSlide4.xml" Id="R5ec52271c10249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5206220bd84ea2" /><Relationship Type="http://schemas.openxmlformats.org/officeDocument/2006/relationships/image" Target="/ppt/media/image16.png" Id="R61cad1f4606f46d6" /><Relationship Type="http://schemas.openxmlformats.org/officeDocument/2006/relationships/image" Target="/ppt/media/image9.svg" Id="R2c5f5434861e46fb" /><Relationship Type="http://schemas.openxmlformats.org/officeDocument/2006/relationships/image" Target="/ppt/media/image17.png" Id="Rb5313caa3c4c4f91" /><Relationship Type="http://schemas.openxmlformats.org/officeDocument/2006/relationships/image" Target="/ppt/media/image18.png" Id="R5486cd11112c4ced" /><Relationship Type="http://schemas.openxmlformats.org/officeDocument/2006/relationships/image" Target="/ppt/media/image19.png" Id="R02a4ca5742d64dc7" /><Relationship Type="http://schemas.openxmlformats.org/officeDocument/2006/relationships/image" Target="/ppt/media/image20.png" Id="Ree3cb96884784d13" /><Relationship Type="http://schemas.openxmlformats.org/officeDocument/2006/relationships/image" Target="/ppt/media/image10.svg" Id="R0fae685e2a0a49fb" /><Relationship Type="http://schemas.openxmlformats.org/officeDocument/2006/relationships/image" Target="/ppt/media/image21.png" Id="Rce6e40ee9ba8494d" /><Relationship Type="http://schemas.openxmlformats.org/officeDocument/2006/relationships/notesSlide" Target="/ppt/notesSlides/notesSlide5.xml" Id="Ra4cdcb0d75a94a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fe9736a54a4ffd" /><Relationship Type="http://schemas.openxmlformats.org/officeDocument/2006/relationships/image" Target="/ppt/media/image22.png" Id="R9ba0718ee7874010" /><Relationship Type="http://schemas.openxmlformats.org/officeDocument/2006/relationships/image" Target="/ppt/media/image11.svg" Id="R46c41e4a9c9d43cd" /><Relationship Type="http://schemas.openxmlformats.org/officeDocument/2006/relationships/image" Target="/ppt/media/image23.png" Id="Rd3d2918dad034212" /><Relationship Type="http://schemas.openxmlformats.org/officeDocument/2006/relationships/image" Target="/ppt/media/image12.svg" Id="R29059629643f45dd" /><Relationship Type="http://schemas.openxmlformats.org/officeDocument/2006/relationships/image" Target="/ppt/media/image24.png" Id="Rb255299b2bc549bf" /><Relationship Type="http://schemas.openxmlformats.org/officeDocument/2006/relationships/image" Target="/ppt/media/image25.png" Id="R1f06267758ec4ed7" /><Relationship Type="http://schemas.openxmlformats.org/officeDocument/2006/relationships/notesSlide" Target="/ppt/notesSlides/notesSlide6.xml" Id="Rcef5093c7e0046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74b93c042d4bf7" /><Relationship Type="http://schemas.openxmlformats.org/officeDocument/2006/relationships/image" Target="/ppt/media/image26.png" Id="R64c030c36ad0409f" /><Relationship Type="http://schemas.openxmlformats.org/officeDocument/2006/relationships/image" Target="/ppt/media/image13.svg" Id="R476307b457fa4e85" /><Relationship Type="http://schemas.openxmlformats.org/officeDocument/2006/relationships/image" Target="/ppt/media/image27.png" Id="Rad1de1589b3f4b07" /><Relationship Type="http://schemas.openxmlformats.org/officeDocument/2006/relationships/image" Target="/ppt/media/image14.svg" Id="Re7ad9879371944f6" /><Relationship Type="http://schemas.openxmlformats.org/officeDocument/2006/relationships/image" Target="/ppt/media/image28.png" Id="R575baef9136241a6" /><Relationship Type="http://schemas.openxmlformats.org/officeDocument/2006/relationships/image" Target="/ppt/media/image15.svg" Id="R177f27f6918c4536" /><Relationship Type="http://schemas.openxmlformats.org/officeDocument/2006/relationships/image" Target="/ppt/media/image29.png" Id="Rb954efb78d0247fc" /><Relationship Type="http://schemas.openxmlformats.org/officeDocument/2006/relationships/image" Target="/ppt/media/image30.png" Id="Ra676626be5124f0c" /><Relationship Type="http://schemas.openxmlformats.org/officeDocument/2006/relationships/image" Target="/ppt/media/image16.svg" Id="Rce5baae5e497476c" /><Relationship Type="http://schemas.openxmlformats.org/officeDocument/2006/relationships/image" Target="/ppt/media/image31.png" Id="R83984ccb8a364962" /><Relationship Type="http://schemas.openxmlformats.org/officeDocument/2006/relationships/image" Target="/ppt/media/image17.svg" Id="R4d1c591b79204eab" /><Relationship Type="http://schemas.openxmlformats.org/officeDocument/2006/relationships/notesSlide" Target="/ppt/notesSlides/notesSlide7.xml" Id="Ra80de9c5ad624a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84430127ee406e" /><Relationship Type="http://schemas.openxmlformats.org/officeDocument/2006/relationships/image" Target="/ppt/media/image32.png" Id="R5013166e1a834e06" /><Relationship Type="http://schemas.openxmlformats.org/officeDocument/2006/relationships/image" Target="/ppt/media/image18.svg" Id="R246c01885f6b4f49" /><Relationship Type="http://schemas.openxmlformats.org/officeDocument/2006/relationships/image" Target="/ppt/media/image33.png" Id="R4096c4b1b9864f34" /><Relationship Type="http://schemas.openxmlformats.org/officeDocument/2006/relationships/image" Target="/ppt/media/image19.svg" Id="R6e86c92c6ce54d1f" /><Relationship Type="http://schemas.openxmlformats.org/officeDocument/2006/relationships/image" Target="/ppt/media/image34.png" Id="R1588934ec81d4a35" /><Relationship Type="http://schemas.openxmlformats.org/officeDocument/2006/relationships/image" Target="/ppt/media/image20.svg" Id="R3a780c6ccc924520" /><Relationship Type="http://schemas.openxmlformats.org/officeDocument/2006/relationships/image" Target="/ppt/media/image35.png" Id="R8b3ed2515b6d466d" /><Relationship Type="http://schemas.openxmlformats.org/officeDocument/2006/relationships/image" Target="/ppt/media/image21.svg" Id="R158b3070bd1f4771" /><Relationship Type="http://schemas.openxmlformats.org/officeDocument/2006/relationships/notesSlide" Target="/ppt/notesSlides/notesSlide8.xml" Id="Ra77c0bd973424c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8aa05d081348bb" /><Relationship Type="http://schemas.openxmlformats.org/officeDocument/2006/relationships/image" Target="/ppt/media/image36.png" Id="R2fd9f8ac37904030" /><Relationship Type="http://schemas.openxmlformats.org/officeDocument/2006/relationships/image" Target="/ppt/media/image22.svg" Id="R82deb680becc4a19" /><Relationship Type="http://schemas.openxmlformats.org/officeDocument/2006/relationships/image" Target="/ppt/media/image37.png" Id="R7152c25d88c24ea9" /><Relationship Type="http://schemas.openxmlformats.org/officeDocument/2006/relationships/image" Target="/ppt/media/image23.svg" Id="Rc4a6fb80546b4064" /><Relationship Type="http://schemas.openxmlformats.org/officeDocument/2006/relationships/image" Target="/ppt/media/image38.png" Id="R20cb048bb6784bdb" /><Relationship Type="http://schemas.openxmlformats.org/officeDocument/2006/relationships/image" Target="/ppt/media/image24.svg" Id="Rd7d4f3653ad24846" /><Relationship Type="http://schemas.openxmlformats.org/officeDocument/2006/relationships/image" Target="/ppt/media/image39.png" Id="R5d247d696b5d48fe" /><Relationship Type="http://schemas.openxmlformats.org/officeDocument/2006/relationships/image" Target="/ppt/media/image25.svg" Id="R0496a14ca565414f" /><Relationship Type="http://schemas.openxmlformats.org/officeDocument/2006/relationships/notesSlide" Target="/ppt/notesSlides/notesSlide9.xml" Id="R5bc3efea4a3946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b01f9c1ab84fc7" /><Relationship Type="http://schemas.openxmlformats.org/officeDocument/2006/relationships/notesSlide" Target="/ppt/notesSlides/notesSlide10.xml" Id="R6f3948557d8a4e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f623aefece40f6" /><Relationship Type="http://schemas.openxmlformats.org/officeDocument/2006/relationships/image" Target="/ppt/media/image40.png" Id="R89b7a421d8004b05" /><Relationship Type="http://schemas.openxmlformats.org/officeDocument/2006/relationships/image" Target="/ppt/media/image26.svg" Id="R8a53207f59424253" /><Relationship Type="http://schemas.openxmlformats.org/officeDocument/2006/relationships/chart" Target="/ppt/slides/charts/chart1.xml" Id="Rc42bc129e3b842d0" /><Relationship Type="http://schemas.openxmlformats.org/officeDocument/2006/relationships/chart" Target="/ppt/slides/charts/chart2.xml" Id="R526d35c2aa054704" /><Relationship Type="http://schemas.openxmlformats.org/officeDocument/2006/relationships/notesSlide" Target="/ppt/notesSlides/notesSlide11.xml" Id="Rf42ea6c197b84b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0c2c56b0c842b1" /><Relationship Type="http://schemas.openxmlformats.org/officeDocument/2006/relationships/image" Target="/ppt/media/image41.png" Id="Re49ae52a299d4cb6" /><Relationship Type="http://schemas.openxmlformats.org/officeDocument/2006/relationships/image" Target="/ppt/media/image27.svg" Id="R98a8a28bfc7343c1" /><Relationship Type="http://schemas.openxmlformats.org/officeDocument/2006/relationships/image" Target="/ppt/media/image42.png" Id="Rcea51dc5d21347a3" /><Relationship Type="http://schemas.openxmlformats.org/officeDocument/2006/relationships/image" Target="/ppt/media/image28.svg" Id="Rebb7af0f9efa412e" /><Relationship Type="http://schemas.openxmlformats.org/officeDocument/2006/relationships/image" Target="/ppt/media/image43.png" Id="R4e1309dfc3f24112" /><Relationship Type="http://schemas.openxmlformats.org/officeDocument/2006/relationships/image" Target="/ppt/media/image29.svg" Id="Rf9512ee8121f4991" /><Relationship Type="http://schemas.openxmlformats.org/officeDocument/2006/relationships/image" Target="/ppt/media/image44.png" Id="Raa7de0ed6fef4cbe" /><Relationship Type="http://schemas.openxmlformats.org/officeDocument/2006/relationships/image" Target="/ppt/media/image30.svg" Id="R140e6b11d75944cb" /><Relationship Type="http://schemas.openxmlformats.org/officeDocument/2006/relationships/image" Target="/ppt/media/image45.png" Id="Rbe2795a9cda84c96" /><Relationship Type="http://schemas.openxmlformats.org/officeDocument/2006/relationships/image" Target="/ppt/media/image31.svg" Id="R33bd5b901c6c47b9" /><Relationship Type="http://schemas.openxmlformats.org/officeDocument/2006/relationships/notesSlide" Target="/ppt/notesSlides/notesSlide12.xml" Id="R116c5e6397a843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a0f12561524b02" /><Relationship Type="http://schemas.openxmlformats.org/officeDocument/2006/relationships/image" Target="/ppt/media/image46.png" Id="R17be04f92b5141d3" /><Relationship Type="http://schemas.openxmlformats.org/officeDocument/2006/relationships/image" Target="/ppt/media/image32.svg" Id="R7c60a266c5734e1a" /><Relationship Type="http://schemas.openxmlformats.org/officeDocument/2006/relationships/notesSlide" Target="/ppt/notesSlides/notesSlide13.xml" Id="Ra757856bc68040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12D49"/>
                </a:solidFill>
                <a:latin typeface="Nimbus Sans"/>
                <a:ea typeface="Nimbus Sans"/>
                <a:cs typeface="Nimbus Sans"/>
              </a:rPr>
              <a:t>Inactivity bands</a:t>
            </a:r>
          </a:p>
        </c:rich>
      </c:tx>
      <c:overlay val="0"/>
      <c:txPr>
        <a:bodyPr xmlns:a="http://schemas.openxmlformats.org/drawingml/2006/main" anchorCtr="1"/>
        <a:lstStyle xmlns:a="http://schemas.openxmlformats.org/drawingml/2006/main"/>
        <a:p xmlns:a="http://schemas.openxmlformats.org/drawingml/2006/main">
          <a:pPr>
            <a:defRPr sz="1725" b="1">
              <a:solidFill>
                <a:srgbClr val="112D49"/>
              </a:solidFill>
              <a:latin typeface="Nimbus Sans"/>
              <a:ea typeface="Nimbus Sans"/>
              <a:cs typeface="Nimbus Sans"/>
            </a:defRPr>
          </a:pPr>
        </a:p>
      </c:txPr>
    </c:title>
    <c:plotArea>
      <c:barChart>
        <c:barDir val="col"/>
        <c:varyColors val="0"/>
        <c:ser>
          <c:idx val="0"/>
          <c:order val="0"/>
          <c:tx>
            <c:v>Users</c:v>
          </c:tx>
          <c:spPr>
            <a:solidFill xmlns:a="http://schemas.openxmlformats.org/drawingml/2006/main">
              <a:srgbClr val="3276D2"/>
            </a:solidFill>
          </c:spPr>
          <c:invertIfNegative val="0"/>
          <c:dPt>
            <c:idx val="3"/>
            <c:invertIfNegative val="0"/>
            <c:spPr>
              <a:solidFill xmlns:a="http://schemas.openxmlformats.org/drawingml/2006/main">
                <a:srgbClr val="D77816"/>
              </a:solidFill>
            </c:spPr>
          </c:dPt>
          <c:dPt>
            <c:idx val="4"/>
            <c:invertIfNegative val="0"/>
            <c:spPr>
              <a:solidFill xmlns:a="http://schemas.openxmlformats.org/drawingml/2006/main">
                <a:srgbClr val="92A3B7"/>
              </a:solidFill>
            </c:spPr>
          </c:dPt>
          <c:cat>
            <c:strRef>
              <c:f>'Chart Data'!$A$2:$A$6</c:f>
              <c:strCache>
                <c:ptCount val="5"/>
                <c:pt idx="0">
                  <c:v>30–44d</c:v>
                </c:pt>
                <c:pt idx="1">
                  <c:v>45–59d</c:v>
                </c:pt>
                <c:pt idx="2">
                  <c:v>60–89d</c:v>
                </c:pt>
                <c:pt idx="3">
                  <c:v>90+d</c:v>
                </c:pt>
                <c:pt idx="4">
                  <c:v>No signal</c:v>
                </c:pt>
              </c:strCache>
            </c:strRef>
          </c:cat>
          <c:val>
            <c:numRef>
              <c:f>'Chart Data'!$B$2:$B$6</c:f>
              <c:numCache>
                <c:formatCode>General</c:formatCode>
                <c:ptCount val="5"/>
                <c:pt idx="0">
                  <c:v>800</c:v>
                </c:pt>
                <c:pt idx="1">
                  <c:v>600</c:v>
                </c:pt>
                <c:pt idx="2">
                  <c:v>500</c:v>
                </c:pt>
                <c:pt idx="3">
                  <c:v>500</c:v>
                </c:pt>
                <c:pt idx="4">
                  <c:v>400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12D49"/>
                  </a:solidFill>
                  <a:latin typeface="Nimbus Sans"/>
                  <a:ea typeface="Nimbus Sans"/>
                  <a:cs typeface="Nimbus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B6F83"/>
                </a:solidFill>
                <a:latin typeface="Nimbus Sans"/>
                <a:ea typeface="Nimbus Sans"/>
                <a:cs typeface="Nimbus Sans"/>
              </a:defRPr>
            </a:pPr>
          </a:p>
        </c:txPr>
        <c:crossAx val="48672768"/>
      </c:catAx>
      <c:valAx>
        <c:axId val="48672768"/>
        <c:scaling>
          <c:orientation val="minMax"/>
          <c:max val="1000"/>
          <c:min val="0"/>
        </c:scaling>
        <c:delete val="0"/>
        <c:axPos val="l"/>
        <c:majorGridlines>
          <c:spPr>
            <a:ln xmlns:a="http://schemas.openxmlformats.org/drawingml/2006/main" w="9525">
              <a:solidFill>
                <a:srgbClr val="E5EA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6F83"/>
                </a:solidFill>
                <a:latin typeface="Nimbus Sans"/>
                <a:ea typeface="Nimbus Sans"/>
                <a:cs typeface="Nimbus Sans"/>
              </a:defRPr>
            </a:pPr>
          </a:p>
        </c:txPr>
        <c:crossAx val="48650112"/>
        <c:crossBetween val="between"/>
        <c:majorUnit val="500"/>
      </c:valAx>
      <c:spPr>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12D49"/>
                </a:solidFill>
                <a:latin typeface="Nimbus Sans"/>
                <a:ea typeface="Nimbus Sans"/>
                <a:cs typeface="Nimbus Sans"/>
              </a:rPr>
              <a:t>Review candidates by UBR</a:t>
            </a:r>
          </a:p>
        </c:rich>
      </c:tx>
      <c:overlay val="0"/>
      <c:txPr>
        <a:bodyPr xmlns:a="http://schemas.openxmlformats.org/drawingml/2006/main" anchorCtr="1"/>
        <a:lstStyle xmlns:a="http://schemas.openxmlformats.org/drawingml/2006/main"/>
        <a:p xmlns:a="http://schemas.openxmlformats.org/drawingml/2006/main">
          <a:pPr>
            <a:defRPr sz="1725" b="1">
              <a:solidFill>
                <a:srgbClr val="112D49"/>
              </a:solidFill>
              <a:latin typeface="Nimbus Sans"/>
              <a:ea typeface="Nimbus Sans"/>
              <a:cs typeface="Nimbus Sans"/>
            </a:defRPr>
          </a:pPr>
        </a:p>
      </c:txPr>
    </c:title>
    <c:plotArea>
      <c:barChart>
        <c:barDir val="bar"/>
        <c:varyColors val="0"/>
        <c:ser>
          <c:idx val="0"/>
          <c:order val="0"/>
          <c:tx>
            <c:v>Candidates</c:v>
          </c:tx>
          <c:spPr>
            <a:solidFill xmlns:a="http://schemas.openxmlformats.org/drawingml/2006/main">
              <a:srgbClr val="008A91"/>
            </a:solidFill>
          </c:spPr>
          <c:invertIfNegative val="0"/>
          <c:cat>
            <c:strRef>
              <c:f>'Chart Data'!$A$2:$A$5</c:f>
              <c:strCache>
                <c:ptCount val="4"/>
                <c:pt idx="0">
                  <c:v>UBR A</c:v>
                </c:pt>
                <c:pt idx="1">
                  <c:v>UBR B</c:v>
                </c:pt>
                <c:pt idx="2">
                  <c:v>UBR C</c:v>
                </c:pt>
                <c:pt idx="3">
                  <c:v>Other</c:v>
                </c:pt>
              </c:strCache>
            </c:strRef>
          </c:cat>
          <c:val>
            <c:numRef>
              <c:f>'Chart Data'!$B$2:$B$5</c:f>
              <c:numCache>
                <c:formatCode>General</c:formatCode>
                <c:ptCount val="4"/>
                <c:pt idx="0">
                  <c:v>120</c:v>
                </c:pt>
                <c:pt idx="1">
                  <c:v>90</c:v>
                </c:pt>
                <c:pt idx="2">
                  <c:v>60</c:v>
                </c:pt>
                <c:pt idx="3">
                  <c:v>50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12D49"/>
                  </a:solidFill>
                  <a:latin typeface="Nimbus Sans"/>
                  <a:ea typeface="Nimbus Sans"/>
                  <a:cs typeface="Nimbus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B6F83"/>
                </a:solidFill>
                <a:latin typeface="Nimbus Sans"/>
                <a:ea typeface="Nimbus Sans"/>
                <a:cs typeface="Nimbus Sans"/>
              </a:defRPr>
            </a:pPr>
          </a:p>
        </c:txPr>
        <c:crossAx val="48672768"/>
      </c:catAx>
      <c:valAx>
        <c:axId val="48672768"/>
        <c:scaling>
          <c:orientation val="minMax"/>
          <c:max val="150"/>
          <c:min val="0"/>
        </c:scaling>
        <c:delete val="0"/>
        <c:axPos val="b"/>
        <c:majorGridlines>
          <c:spPr>
            <a:ln xmlns:a="http://schemas.openxmlformats.org/drawingml/2006/main" w="9525">
              <a:solidFill>
                <a:srgbClr val="E5EA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F83"/>
                </a:solidFill>
                <a:latin typeface="Nimbus Sans"/>
                <a:ea typeface="Nimbus Sans"/>
                <a:cs typeface="Nimbus Sans"/>
              </a:defRPr>
            </a:pPr>
          </a:p>
        </c:txPr>
        <c:crossAx val="48650112"/>
        <c:crossBetween val="between"/>
        <c:majorUnit val="50"/>
      </c:valAx>
      <c:spPr>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3763"/>
        </a:solidFill>
      </p:bgPr>
    </p:bg>
    <p:spTree>
      <p:nvGrpSpPr>
        <p:cNvPr id="1" name=""/>
        <p:cNvGrpSpPr/>
        <p:nvPr/>
      </p:nvGrpSpPr>
      <p:grpSpPr>
        <a:xfrm xmlns:a="http://schemas.openxmlformats.org/drawingml/2006/main"/>
      </p:grpSpPr>
      <p:sp>
        <p:nvSpPr>
          <p:cNvPr id="12" name="cover-title">
            <a:extLst xmlns:a="http://schemas.openxmlformats.org/drawingml/2006/main">
              <a:ext uri="{FF2B5EF4-FFF2-40B4-BE49-F238E27FC236}">
                <a16:creationId xmlns:a16="http://schemas.microsoft.com/office/drawing/2014/main" id="{06F474BB-2EF6-4F57-95AA-72BB2BF0D4BA}"/>
              </a:ext>
            </a:extLst>
          </p:cNvPr>
          <p:cNvSpPr>
            <a:spLocks xmlns:a="http://schemas.openxmlformats.org/drawingml/2006/main" noGrp="1"/>
          </p:cNvSpPr>
          <p:nvPr/>
        </p:nvSpPr>
        <p:spPr>
          <a:xfrm xmlns:a="http://schemas.openxmlformats.org/drawingml/2006/main">
            <a:off x="742950" y="1476375"/>
            <a:ext cx="98107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250" b="1">
                <a:solidFill>
                  <a:srgbClr val="FFFFFF"/>
                </a:solidFill>
                <a:latin typeface="Nimbus Sans"/>
                <a:ea typeface="Nimbus Sans"/>
                <a:cs typeface="Nimbus Sans"/>
              </a:defRPr>
            </a:defPPr>
          </a:lstStyle>
          <a:p xmlns:a="http://schemas.openxmlformats.org/drawingml/2006/main">
            <a:pPr algn="l">
              <a:defRPr sz="5250" b="1">
                <a:solidFill>
                  <a:srgbClr val="FFFFFF"/>
                </a:solidFill>
                <a:latin typeface="Nimbus Sans"/>
                <a:ea typeface="Nimbus Sans"/>
                <a:cs typeface="Nimbus Sans"/>
              </a:defRPr>
            </a:pPr>
            <a:r>
              <a:rPr sz="5250" b="1">
                <a:solidFill>
                  <a:srgbClr val="FFFFFF"/>
                </a:solidFill>
                <a:latin typeface="Nimbus Sans"/>
                <a:ea typeface="Nimbus Sans"/>
                <a:cs typeface="Nimbus Sans"/>
              </a:rPr>
              <a:t>GitHub License</a:t>
            </a:r>
          </a:p>
          <a:p xmlns:a="http://schemas.openxmlformats.org/drawingml/2006/main">
            <a:pPr algn="l">
              <a:defRPr sz="5250" b="1">
                <a:solidFill>
                  <a:srgbClr val="FFFFFF"/>
                </a:solidFill>
                <a:latin typeface="Nimbus Sans"/>
                <a:ea typeface="Nimbus Sans"/>
                <a:cs typeface="Nimbus Sans"/>
              </a:defRPr>
            </a:pPr>
            <a:r>
              <a:rPr sz="5250" b="1">
                <a:solidFill>
                  <a:srgbClr val="FFFFFF"/>
                </a:solidFill>
                <a:latin typeface="Nimbus Sans"/>
                <a:ea typeface="Nimbus Sans"/>
                <a:cs typeface="Nimbus Sans"/>
              </a:rPr>
              <a:t>Utilization &amp; Dormancy</a:t>
            </a:r>
          </a:p>
        </p:txBody>
      </p:sp>
      <p:sp>
        <p:nvSpPr>
          <p:cNvPr id="2" name="text">
            <a:extLst xmlns:a="http://schemas.openxmlformats.org/drawingml/2006/main">
              <a:ext uri="{FF2B5EF4-FFF2-40B4-BE49-F238E27FC236}">
                <a16:creationId xmlns:a16="http://schemas.microsoft.com/office/drawing/2014/main" id="{48BEE2C9-FF3A-4065-9C3F-ED8D51F8C469}"/>
              </a:ext>
            </a:extLst>
          </p:cNvPr>
          <p:cNvSpPr>
            <a:spLocks xmlns:a="http://schemas.openxmlformats.org/drawingml/2006/main" noGrp="1"/>
          </p:cNvSpPr>
          <p:nvPr/>
        </p:nvSpPr>
        <p:spPr>
          <a:xfrm xmlns:a="http://schemas.openxmlformats.org/drawingml/2006/main">
            <a:off x="781050" y="3733800"/>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D9E7F3"/>
                </a:solidFill>
                <a:latin typeface="Nimbus Sans"/>
                <a:ea typeface="Nimbus Sans"/>
                <a:cs typeface="Nimbus Sans"/>
              </a:defRPr>
            </a:defPPr>
          </a:lstStyle>
          <a:p xmlns:a="http://schemas.openxmlformats.org/drawingml/2006/main">
            <a:pPr algn="l">
              <a:defRPr sz="2400" b="0">
                <a:solidFill>
                  <a:srgbClr val="D9E7F3"/>
                </a:solidFill>
                <a:latin typeface="Nimbus Sans"/>
                <a:ea typeface="Nimbus Sans"/>
                <a:cs typeface="Nimbus Sans"/>
              </a:defRPr>
            </a:pPr>
            <a:r>
              <a:rPr sz="2400" b="0">
                <a:solidFill>
                  <a:srgbClr val="D9E7F3"/>
                </a:solidFill>
                <a:latin typeface="Nimbus Sans"/>
                <a:ea typeface="Nimbus Sans"/>
                <a:cs typeface="Nimbus Sans"/>
              </a:rPr>
              <a:t>A proposal to identify inactive licensed users</a:t>
            </a:r>
          </a:p>
          <a:p xmlns:a="http://schemas.openxmlformats.org/drawingml/2006/main">
            <a:pPr algn="l">
              <a:defRPr sz="2400" b="0">
                <a:solidFill>
                  <a:srgbClr val="D9E7F3"/>
                </a:solidFill>
                <a:latin typeface="Nimbus Sans"/>
                <a:ea typeface="Nimbus Sans"/>
                <a:cs typeface="Nimbus Sans"/>
              </a:defRPr>
            </a:pPr>
            <a:r>
              <a:rPr sz="2400" b="0">
                <a:solidFill>
                  <a:srgbClr val="D9E7F3"/>
                </a:solidFill>
                <a:latin typeface="Nimbus Sans"/>
                <a:ea typeface="Nimbus Sans"/>
                <a:cs typeface="Nimbus Sans"/>
              </a:rPr>
              <a:t>and support controlled license reclamation</a:t>
            </a:r>
          </a:p>
        </p:txBody>
      </p:sp>
      <p:sp>
        <p:nvSpPr>
          <p:cNvPr id="3" name="text">
            <a:extLst xmlns:a="http://schemas.openxmlformats.org/drawingml/2006/main">
              <a:ext uri="{FF2B5EF4-FFF2-40B4-BE49-F238E27FC236}">
                <a16:creationId xmlns:a16="http://schemas.microsoft.com/office/drawing/2014/main" id="{2E63C428-291F-4017-AA11-DDA1798F8787}"/>
              </a:ext>
            </a:extLst>
          </p:cNvPr>
          <p:cNvSpPr>
            <a:spLocks xmlns:a="http://schemas.openxmlformats.org/drawingml/2006/main" noGrp="1"/>
          </p:cNvSpPr>
          <p:nvPr/>
        </p:nvSpPr>
        <p:spPr>
          <a:xfrm xmlns:a="http://schemas.openxmlformats.org/drawingml/2006/main">
            <a:off x="781050" y="6753225"/>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FFFFFF"/>
                </a:solidFill>
                <a:latin typeface="Nimbus Sans"/>
                <a:ea typeface="Nimbus Sans"/>
                <a:cs typeface="Nimbus Sans"/>
              </a:defRPr>
            </a:defPPr>
          </a:lstStyle>
          <a:p xmlns:a="http://schemas.openxmlformats.org/drawingml/2006/main">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Ayush Baranwal</a:t>
            </a:r>
          </a:p>
        </p:txBody>
      </p:sp>
      <p:sp>
        <p:nvSpPr>
          <p:cNvPr id="4" name="text">
            <a:extLst xmlns:a="http://schemas.openxmlformats.org/drawingml/2006/main">
              <a:ext uri="{FF2B5EF4-FFF2-40B4-BE49-F238E27FC236}">
                <a16:creationId xmlns:a16="http://schemas.microsoft.com/office/drawing/2014/main" id="{5319E670-60DE-4EB1-9268-5E27400B8EA5}"/>
              </a:ext>
            </a:extLst>
          </p:cNvPr>
          <p:cNvSpPr>
            <a:spLocks xmlns:a="http://schemas.openxmlformats.org/drawingml/2006/main" noGrp="1"/>
          </p:cNvSpPr>
          <p:nvPr/>
        </p:nvSpPr>
        <p:spPr>
          <a:xfrm xmlns:a="http://schemas.openxmlformats.org/drawingml/2006/main">
            <a:off x="781050" y="721995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BFD5E8"/>
                </a:solidFill>
                <a:latin typeface="Nimbus Sans"/>
                <a:ea typeface="Nimbus Sans"/>
                <a:cs typeface="Nimbus Sans"/>
              </a:defRPr>
            </a:defPPr>
          </a:lstStyle>
          <a:p xmlns:a="http://schemas.openxmlformats.org/drawingml/2006/main">
            <a:pPr algn="l">
              <a:defRPr sz="1800" b="0">
                <a:solidFill>
                  <a:srgbClr val="BFD5E8"/>
                </a:solidFill>
                <a:latin typeface="Nimbus Sans"/>
                <a:ea typeface="Nimbus Sans"/>
                <a:cs typeface="Nimbus Sans"/>
              </a:defRPr>
            </a:pPr>
            <a:r>
              <a:rPr sz="1800" b="0">
                <a:solidFill>
                  <a:srgbClr val="BFD5E8"/>
                </a:solidFill>
                <a:latin typeface="Nimbus Sans"/>
                <a:ea typeface="Nimbus Sans"/>
                <a:cs typeface="Nimbus Sans"/>
              </a:rPr>
              <a:t>Manager discussion, October 2026</a:t>
            </a:r>
          </a:p>
        </p:txBody>
      </p:sp>
      <p:sp>
        <p:nvSpPr>
          <p:cNvPr id="5" name="box">
            <a:extLst xmlns:a="http://schemas.openxmlformats.org/drawingml/2006/main">
              <a:ext uri="{FF2B5EF4-FFF2-40B4-BE49-F238E27FC236}">
                <a16:creationId xmlns:a16="http://schemas.microsoft.com/office/drawing/2014/main" id="{65FEB870-D04C-4FDE-BCCE-56CD929A3D76}"/>
              </a:ext>
            </a:extLst>
          </p:cNvPr>
          <p:cNvSpPr>
            <a:spLocks xmlns:a="http://schemas.openxmlformats.org/drawingml/2006/main" noGrp="1"/>
          </p:cNvSpPr>
          <p:nvPr/>
        </p:nvSpPr>
        <p:spPr>
          <a:xfrm xmlns:a="http://schemas.openxmlformats.org/drawingml/2006/main">
            <a:off x="11620500" y="1066800"/>
            <a:ext cx="2609850" cy="6419850"/>
          </a:xfrm>
          <a:prstGeom xmlns:a="http://schemas.openxmlformats.org/drawingml/2006/main" prst="roundRect">
            <a:avLst>
              <a:gd name="adj" fmla="val 5839"/>
            </a:avLst>
          </a:prstGeom>
          <a:solidFill xmlns:a="http://schemas.openxmlformats.org/drawingml/2006/main">
            <a:srgbClr val="FFFFFF"/>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3F0A5699-F158-44EC-9D02-BB377D2DEC36}"/>
              </a:ext>
            </a:extLst>
          </p:cNvPr>
          <p:cNvPicPr>
            <a:picLocks xmlns:a="http://schemas.openxmlformats.org/drawingml/2006/main" noChangeAspect="1"/>
          </p:cNvPicPr>
          <p:nvPr/>
        </p:nvPicPr>
        <p:blipFill>
          <a:blip xmlns:r="http://schemas.openxmlformats.org/officeDocument/2006/relationships" xmlns:a="http://schemas.openxmlformats.org/drawingml/2006/main" r:embed="R13867afb361b4bbd">
            <a:extLst>
              <a:ext uri="{96DAC541-7B7A-43D3-8B79-37D633B846F1}">
                <asvg:svgBlip xmlns:asvg="http://schemas.microsoft.com/office/drawing/2016/SVG/main" r:embed="Rc32aff6070b34bfc"/>
              </a:ext>
            </a:extLst>
          </a:blip>
          <a:stretch xmlns:a="http://schemas.openxmlformats.org/drawingml/2006/main"/>
        </p:blipFill>
        <p:spPr>
          <a:xfrm xmlns:a="http://schemas.openxmlformats.org/drawingml/2006/main">
            <a:off x="12525375" y="1476375"/>
            <a:ext cx="790575" cy="790575"/>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B93CE495-33DC-45B9-887F-265B9B4E5212}"/>
              </a:ext>
            </a:extLst>
          </p:cNvPr>
          <p:cNvSpPr>
            <a:spLocks xmlns:a="http://schemas.openxmlformats.org/drawingml/2006/main" noGrp="1"/>
          </p:cNvSpPr>
          <p:nvPr/>
        </p:nvSpPr>
        <p:spPr>
          <a:xfrm xmlns:a="http://schemas.openxmlformats.org/drawingml/2006/main">
            <a:off x="11906250" y="2457450"/>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75" b="1">
                <a:solidFill>
                  <a:srgbClr val="112D49"/>
                </a:solidFill>
                <a:latin typeface="Nimbus Sans"/>
                <a:ea typeface="Nimbus Sans"/>
                <a:cs typeface="Nimbus Sans"/>
              </a:defRPr>
            </a:defPPr>
          </a:lstStyle>
          <a:p xmlns:a="http://schemas.openxmlformats.org/drawingml/2006/main">
            <a:pPr algn="ctr">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GitHub</a:t>
            </a:r>
          </a:p>
        </p:txBody>
      </p:sp>
      <p:pic>
        <p:nvPicPr>
          <p:cNvPr id="8" name="">
            <a:extLst xmlns:a="http://schemas.openxmlformats.org/drawingml/2006/main">
              <a:ext uri="{FF2B5EF4-FFF2-40B4-BE49-F238E27FC236}">
                <a16:creationId xmlns:a16="http://schemas.microsoft.com/office/drawing/2014/main" id="{A49CAA9F-67BB-495C-A70F-14441276D546}"/>
              </a:ext>
            </a:extLst>
          </p:cNvPr>
          <p:cNvPicPr>
            <a:picLocks xmlns:a="http://schemas.openxmlformats.org/drawingml/2006/main" noChangeAspect="1"/>
          </p:cNvPicPr>
          <p:nvPr/>
        </p:nvPicPr>
        <p:blipFill>
          <a:blip xmlns:r="http://schemas.openxmlformats.org/officeDocument/2006/relationships" xmlns:a="http://schemas.openxmlformats.org/drawingml/2006/main" r:embed="Rf93f1cc41a7e4c5f"/>
          <a:stretch xmlns:a="http://schemas.openxmlformats.org/drawingml/2006/main"/>
        </p:blipFill>
        <p:spPr>
          <a:xfrm xmlns:a="http://schemas.openxmlformats.org/drawingml/2006/main">
            <a:off x="12525375" y="3333750"/>
            <a:ext cx="790575" cy="790575"/>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A189240-AF40-4332-8B55-A3DD9FB3F898}"/>
              </a:ext>
            </a:extLst>
          </p:cNvPr>
          <p:cNvSpPr>
            <a:spLocks xmlns:a="http://schemas.openxmlformats.org/drawingml/2006/main" noGrp="1"/>
          </p:cNvSpPr>
          <p:nvPr/>
        </p:nvSpPr>
        <p:spPr>
          <a:xfrm xmlns:a="http://schemas.openxmlformats.org/drawingml/2006/main">
            <a:off x="11906250" y="42957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75" b="1">
                <a:solidFill>
                  <a:srgbClr val="112D49"/>
                </a:solidFill>
                <a:latin typeface="Nimbus Sans"/>
                <a:ea typeface="Nimbus Sans"/>
                <a:cs typeface="Nimbus Sans"/>
              </a:defRPr>
            </a:defPPr>
          </a:lstStyle>
          <a:p xmlns:a="http://schemas.openxmlformats.org/drawingml/2006/main">
            <a:pPr algn="ctr">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BigQuery</a:t>
            </a:r>
          </a:p>
        </p:txBody>
      </p:sp>
      <p:pic>
        <p:nvPicPr>
          <p:cNvPr id="10" name="">
            <a:extLst xmlns:a="http://schemas.openxmlformats.org/drawingml/2006/main">
              <a:ext uri="{FF2B5EF4-FFF2-40B4-BE49-F238E27FC236}">
                <a16:creationId xmlns:a16="http://schemas.microsoft.com/office/drawing/2014/main" id="{018D0497-1FB0-4A94-87DE-7DEB1D1A2278}"/>
              </a:ext>
            </a:extLst>
          </p:cNvPr>
          <p:cNvPicPr>
            <a:picLocks xmlns:a="http://schemas.openxmlformats.org/drawingml/2006/main" noChangeAspect="1"/>
          </p:cNvPicPr>
          <p:nvPr/>
        </p:nvPicPr>
        <p:blipFill>
          <a:blip xmlns:r="http://schemas.openxmlformats.org/officeDocument/2006/relationships" xmlns:a="http://schemas.openxmlformats.org/drawingml/2006/main" r:embed="Rce722b9af89a47e0">
            <a:extLst>
              <a:ext uri="{96DAC541-7B7A-43D3-8B79-37D633B846F1}">
                <asvg:svgBlip xmlns:asvg="http://schemas.microsoft.com/office/drawing/2016/SVG/main" r:embed="Rf505f2f65612401f"/>
              </a:ext>
            </a:extLst>
          </a:blip>
          <a:stretch xmlns:a="http://schemas.openxmlformats.org/drawingml/2006/main"/>
        </p:blipFill>
        <p:spPr>
          <a:xfrm xmlns:a="http://schemas.openxmlformats.org/drawingml/2006/main">
            <a:off x="12525375" y="5238750"/>
            <a:ext cx="790575" cy="79057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61E51CD-44BC-449D-B1E1-8222CC66C78C}"/>
              </a:ext>
            </a:extLst>
          </p:cNvPr>
          <p:cNvSpPr>
            <a:spLocks xmlns:a="http://schemas.openxmlformats.org/drawingml/2006/main" noGrp="1"/>
          </p:cNvSpPr>
          <p:nvPr/>
        </p:nvSpPr>
        <p:spPr>
          <a:xfrm xmlns:a="http://schemas.openxmlformats.org/drawingml/2006/main">
            <a:off x="11906250" y="6191250"/>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75" b="1">
                <a:solidFill>
                  <a:srgbClr val="112D49"/>
                </a:solidFill>
                <a:latin typeface="Nimbus Sans"/>
                <a:ea typeface="Nimbus Sans"/>
                <a:cs typeface="Nimbus Sans"/>
              </a:defRPr>
            </a:defPPr>
          </a:lstStyle>
          <a:p xmlns:a="http://schemas.openxmlformats.org/drawingml/2006/main">
            <a:pPr algn="ctr">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Grafana</a:t>
            </a:r>
          </a:p>
        </p:txBody>
      </p:sp>
    </p:spTree>
    <p:extLst>
      <p:ext uri="{BB962C8B-B14F-4D97-AF65-F5344CB8AC3E}">
        <p14:creationId xmlns:p14="http://schemas.microsoft.com/office/powerpoint/2010/main" val="3667767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A69ED70-6E14-4119-8551-1389ABF8E715}"/>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Why we are building this</a:t>
            </a:r>
          </a:p>
        </p:txBody>
      </p:sp>
      <p:sp>
        <p:nvSpPr>
          <p:cNvPr id="2" name="slide-subtitle">
            <a:extLst xmlns:a="http://schemas.openxmlformats.org/drawingml/2006/main">
              <a:ext uri="{FF2B5EF4-FFF2-40B4-BE49-F238E27FC236}">
                <a16:creationId xmlns:a16="http://schemas.microsoft.com/office/drawing/2014/main" id="{4E5A23E9-A54C-4FAA-8C67-C43F02C5A079}"/>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We need a repeatable view of unused GitHub seats, with evidence behind each review</a:t>
            </a:r>
          </a:p>
        </p:txBody>
      </p:sp>
      <p:sp>
        <p:nvSpPr>
          <p:cNvPr id="3" name="">
            <a:extLst xmlns:a="http://schemas.openxmlformats.org/drawingml/2006/main">
              <a:ext uri="{FF2B5EF4-FFF2-40B4-BE49-F238E27FC236}">
                <a16:creationId xmlns:a16="http://schemas.microsoft.com/office/drawing/2014/main" id="{550C1AF9-21C6-47F7-B5F1-AEE407A16F3F}"/>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F69223DE-269B-493D-B6DB-DCC2358F1761}"/>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83B69031-40ED-40BE-9145-EFA68C53A67C}"/>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2</a:t>
            </a:r>
          </a:p>
        </p:txBody>
      </p:sp>
      <p:sp>
        <p:nvSpPr>
          <p:cNvPr id="6" name="text">
            <a:extLst xmlns:a="http://schemas.openxmlformats.org/drawingml/2006/main">
              <a:ext uri="{FF2B5EF4-FFF2-40B4-BE49-F238E27FC236}">
                <a16:creationId xmlns:a16="http://schemas.microsoft.com/office/drawing/2014/main" id="{E838C413-F097-46BC-B5F6-3FC39008BD9B}"/>
              </a:ext>
            </a:extLst>
          </p:cNvPr>
          <p:cNvSpPr>
            <a:spLocks xmlns:a="http://schemas.openxmlformats.org/drawingml/2006/main" noGrp="1"/>
          </p:cNvSpPr>
          <p:nvPr/>
        </p:nvSpPr>
        <p:spPr>
          <a:xfrm xmlns:a="http://schemas.openxmlformats.org/drawingml/2006/main">
            <a:off x="742950" y="2019300"/>
            <a:ext cx="6381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73763"/>
                </a:solidFill>
                <a:latin typeface="Nimbus Sans"/>
                <a:ea typeface="Nimbus Sans"/>
                <a:cs typeface="Nimbus Sans"/>
              </a:defRPr>
            </a:defPPr>
          </a:lstStyle>
          <a:p xmlns:a="http://schemas.openxmlformats.org/drawingml/2006/main">
            <a:pPr algn="l">
              <a:defRPr sz="2550" b="1">
                <a:solidFill>
                  <a:srgbClr val="073763"/>
                </a:solidFill>
                <a:latin typeface="Nimbus Sans"/>
                <a:ea typeface="Nimbus Sans"/>
                <a:cs typeface="Nimbus Sans"/>
              </a:defRPr>
            </a:pPr>
            <a:r>
              <a:rPr sz="2550" b="1">
                <a:solidFill>
                  <a:srgbClr val="073763"/>
                </a:solidFill>
                <a:latin typeface="Nimbus Sans"/>
                <a:ea typeface="Nimbus Sans"/>
                <a:cs typeface="Nimbus Sans"/>
              </a:rPr>
              <a:t>Current approach</a:t>
            </a:r>
          </a:p>
        </p:txBody>
      </p:sp>
      <p:sp>
        <p:nvSpPr>
          <p:cNvPr id="7" name="text">
            <a:extLst xmlns:a="http://schemas.openxmlformats.org/drawingml/2006/main">
              <a:ext uri="{FF2B5EF4-FFF2-40B4-BE49-F238E27FC236}">
                <a16:creationId xmlns:a16="http://schemas.microsoft.com/office/drawing/2014/main" id="{5472F067-F16C-4FE5-8CD6-E80D9C3B474F}"/>
              </a:ext>
            </a:extLst>
          </p:cNvPr>
          <p:cNvSpPr>
            <a:spLocks xmlns:a="http://schemas.openxmlformats.org/drawingml/2006/main" noGrp="1"/>
          </p:cNvSpPr>
          <p:nvPr/>
        </p:nvSpPr>
        <p:spPr>
          <a:xfrm xmlns:a="http://schemas.openxmlformats.org/drawingml/2006/main">
            <a:off x="742950" y="2724150"/>
            <a:ext cx="6238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0">
                <a:solidFill>
                  <a:srgbClr val="112D49"/>
                </a:solidFill>
                <a:latin typeface="Nimbus Sans"/>
                <a:ea typeface="Nimbus Sans"/>
                <a:cs typeface="Nimbus Sans"/>
              </a:defRPr>
            </a:defPPr>
          </a:lstStyle>
          <a:p xmlns:a="http://schemas.openxmlformats.org/drawingml/2006/main">
            <a:pPr algn="l">
              <a:defRPr sz="2175" b="0">
                <a:solidFill>
                  <a:srgbClr val="112D49"/>
                </a:solidFill>
                <a:latin typeface="Nimbus Sans"/>
                <a:ea typeface="Nimbus Sans"/>
                <a:cs typeface="Nimbus Sans"/>
              </a:defRPr>
            </a:pPr>
            <a:r>
              <a:rPr sz="2175" b="0">
                <a:solidFill>
                  <a:srgbClr val="112D49"/>
                </a:solidFill>
                <a:latin typeface="Nimbus Sans"/>
                <a:ea typeface="Nimbus Sans"/>
                <a:cs typeface="Nimbus Sans"/>
              </a:rPr>
              <a:t>A script combines license inventory, per-user activity calls and directory checks.</a:t>
            </a:r>
          </a:p>
        </p:txBody>
      </p:sp>
      <p:sp>
        <p:nvSpPr>
          <p:cNvPr id="8" name="text">
            <a:extLst xmlns:a="http://schemas.openxmlformats.org/drawingml/2006/main">
              <a:ext uri="{FF2B5EF4-FFF2-40B4-BE49-F238E27FC236}">
                <a16:creationId xmlns:a16="http://schemas.microsoft.com/office/drawing/2014/main" id="{A9735A77-82E4-40A3-A137-C0990F068BB5}"/>
              </a:ext>
            </a:extLst>
          </p:cNvPr>
          <p:cNvSpPr>
            <a:spLocks xmlns:a="http://schemas.openxmlformats.org/drawingml/2006/main" noGrp="1"/>
          </p:cNvSpPr>
          <p:nvPr/>
        </p:nvSpPr>
        <p:spPr>
          <a:xfrm xmlns:a="http://schemas.openxmlformats.org/drawingml/2006/main">
            <a:off x="742950" y="3924300"/>
            <a:ext cx="6238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5B6F83"/>
                </a:solidFill>
                <a:latin typeface="Nimbus Sans"/>
                <a:ea typeface="Nimbus Sans"/>
                <a:cs typeface="Nimbus Sans"/>
              </a:defRPr>
            </a:defPPr>
          </a:lstStyle>
          <a:p xmlns:a="http://schemas.openxmlformats.org/drawingml/2006/main">
            <a:pPr algn="l">
              <a:defRPr sz="2025" b="0">
                <a:solidFill>
                  <a:srgbClr val="5B6F83"/>
                </a:solidFill>
                <a:latin typeface="Nimbus Sans"/>
                <a:ea typeface="Nimbus Sans"/>
                <a:cs typeface="Nimbus Sans"/>
              </a:defRPr>
            </a:pPr>
            <a:r>
              <a:rPr sz="2025" b="0">
                <a:solidFill>
                  <a:srgbClr val="5B6F83"/>
                </a:solidFill>
                <a:latin typeface="Nimbus Sans"/>
                <a:ea typeface="Nimbus Sans"/>
                <a:cs typeface="Nimbus Sans"/>
              </a:rPr>
              <a:t>Repeated API requests and local outputs make reporting and reconciliation harder.</a:t>
            </a:r>
          </a:p>
        </p:txBody>
      </p:sp>
      <p:sp>
        <p:nvSpPr>
          <p:cNvPr id="9" name="text">
            <a:extLst xmlns:a="http://schemas.openxmlformats.org/drawingml/2006/main">
              <a:ext uri="{FF2B5EF4-FFF2-40B4-BE49-F238E27FC236}">
                <a16:creationId xmlns:a16="http://schemas.microsoft.com/office/drawing/2014/main" id="{6A307DEC-BF5B-4E91-80BD-85515EA2BFB0}"/>
              </a:ext>
            </a:extLst>
          </p:cNvPr>
          <p:cNvSpPr>
            <a:spLocks xmlns:a="http://schemas.openxmlformats.org/drawingml/2006/main" noGrp="1"/>
          </p:cNvSpPr>
          <p:nvPr/>
        </p:nvSpPr>
        <p:spPr>
          <a:xfrm xmlns:a="http://schemas.openxmlformats.org/drawingml/2006/main">
            <a:off x="8277225" y="2019300"/>
            <a:ext cx="6191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08A91"/>
                </a:solidFill>
                <a:latin typeface="Nimbus Sans"/>
                <a:ea typeface="Nimbus Sans"/>
                <a:cs typeface="Nimbus Sans"/>
              </a:defRPr>
            </a:defPPr>
          </a:lstStyle>
          <a:p xmlns:a="http://schemas.openxmlformats.org/drawingml/2006/main">
            <a:pPr algn="l">
              <a:defRPr sz="2550" b="1">
                <a:solidFill>
                  <a:srgbClr val="008A91"/>
                </a:solidFill>
                <a:latin typeface="Nimbus Sans"/>
                <a:ea typeface="Nimbus Sans"/>
                <a:cs typeface="Nimbus Sans"/>
              </a:defRPr>
            </a:pPr>
            <a:r>
              <a:rPr sz="2550" b="1">
                <a:solidFill>
                  <a:srgbClr val="008A91"/>
                </a:solidFill>
                <a:latin typeface="Nimbus Sans"/>
                <a:ea typeface="Nimbus Sans"/>
                <a:cs typeface="Nimbus Sans"/>
              </a:rPr>
              <a:t>Proposed approach</a:t>
            </a:r>
          </a:p>
        </p:txBody>
      </p:sp>
      <p:sp>
        <p:nvSpPr>
          <p:cNvPr id="10" name="text">
            <a:extLst xmlns:a="http://schemas.openxmlformats.org/drawingml/2006/main">
              <a:ext uri="{FF2B5EF4-FFF2-40B4-BE49-F238E27FC236}">
                <a16:creationId xmlns:a16="http://schemas.microsoft.com/office/drawing/2014/main" id="{68E6D67F-724B-4791-87B0-343867042E3C}"/>
              </a:ext>
            </a:extLst>
          </p:cNvPr>
          <p:cNvSpPr>
            <a:spLocks xmlns:a="http://schemas.openxmlformats.org/drawingml/2006/main" noGrp="1"/>
          </p:cNvSpPr>
          <p:nvPr/>
        </p:nvSpPr>
        <p:spPr>
          <a:xfrm xmlns:a="http://schemas.openxmlformats.org/drawingml/2006/main">
            <a:off x="8277225" y="27241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0">
                <a:solidFill>
                  <a:srgbClr val="112D49"/>
                </a:solidFill>
                <a:latin typeface="Nimbus Sans"/>
                <a:ea typeface="Nimbus Sans"/>
                <a:cs typeface="Nimbus Sans"/>
              </a:defRPr>
            </a:defPPr>
          </a:lstStyle>
          <a:p xmlns:a="http://schemas.openxmlformats.org/drawingml/2006/main">
            <a:pPr algn="l">
              <a:defRPr sz="2175" b="0">
                <a:solidFill>
                  <a:srgbClr val="112D49"/>
                </a:solidFill>
                <a:latin typeface="Nimbus Sans"/>
                <a:ea typeface="Nimbus Sans"/>
                <a:cs typeface="Nimbus Sans"/>
              </a:defRPr>
            </a:pPr>
            <a:r>
              <a:rPr sz="2175" b="0">
                <a:solidFill>
                  <a:srgbClr val="112D49"/>
                </a:solidFill>
                <a:latin typeface="Nimbus Sans"/>
                <a:ea typeface="Nimbus Sans"/>
                <a:cs typeface="Nimbus Sans"/>
              </a:rPr>
              <a:t>Reuse the audit data already in BigQuery. Add daily license and eligibility snapshots.</a:t>
            </a:r>
          </a:p>
        </p:txBody>
      </p:sp>
      <p:sp>
        <p:nvSpPr>
          <p:cNvPr id="11" name="text">
            <a:extLst xmlns:a="http://schemas.openxmlformats.org/drawingml/2006/main">
              <a:ext uri="{FF2B5EF4-FFF2-40B4-BE49-F238E27FC236}">
                <a16:creationId xmlns:a16="http://schemas.microsoft.com/office/drawing/2014/main" id="{FA906E92-5776-4118-9D02-83E3A3A1DB69}"/>
              </a:ext>
            </a:extLst>
          </p:cNvPr>
          <p:cNvSpPr>
            <a:spLocks xmlns:a="http://schemas.openxmlformats.org/drawingml/2006/main" noGrp="1"/>
          </p:cNvSpPr>
          <p:nvPr/>
        </p:nvSpPr>
        <p:spPr>
          <a:xfrm xmlns:a="http://schemas.openxmlformats.org/drawingml/2006/main">
            <a:off x="8277225" y="3924300"/>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5B6F83"/>
                </a:solidFill>
                <a:latin typeface="Nimbus Sans"/>
                <a:ea typeface="Nimbus Sans"/>
                <a:cs typeface="Nimbus Sans"/>
              </a:defRPr>
            </a:defPPr>
          </a:lstStyle>
          <a:p xmlns:a="http://schemas.openxmlformats.org/drawingml/2006/main">
            <a:pPr algn="l">
              <a:defRPr sz="2025" b="0">
                <a:solidFill>
                  <a:srgbClr val="5B6F83"/>
                </a:solidFill>
                <a:latin typeface="Nimbus Sans"/>
                <a:ea typeface="Nimbus Sans"/>
                <a:cs typeface="Nimbus Sans"/>
              </a:defRPr>
            </a:pPr>
            <a:r>
              <a:rPr sz="2025" b="0">
                <a:solidFill>
                  <a:srgbClr val="5B6F83"/>
                </a:solidFill>
                <a:latin typeface="Nimbus Sans"/>
                <a:ea typeface="Nimbus Sans"/>
                <a:cs typeface="Nimbus Sans"/>
              </a:rPr>
              <a:t>Provide one Grafana view for usage, ownership, exceptions and candidate review.</a:t>
            </a:r>
          </a:p>
        </p:txBody>
      </p:sp>
      <p:sp>
        <p:nvSpPr>
          <p:cNvPr id="12" name="box">
            <a:extLst xmlns:a="http://schemas.openxmlformats.org/drawingml/2006/main">
              <a:ext uri="{FF2B5EF4-FFF2-40B4-BE49-F238E27FC236}">
                <a16:creationId xmlns:a16="http://schemas.microsoft.com/office/drawing/2014/main" id="{B1CC044E-2602-4550-810E-4CEF2121C00F}"/>
              </a:ext>
            </a:extLst>
          </p:cNvPr>
          <p:cNvSpPr>
            <a:spLocks xmlns:a="http://schemas.openxmlformats.org/drawingml/2006/main" noGrp="1"/>
          </p:cNvSpPr>
          <p:nvPr/>
        </p:nvSpPr>
        <p:spPr>
          <a:xfrm xmlns:a="http://schemas.openxmlformats.org/drawingml/2006/main">
            <a:off x="685800" y="5676900"/>
            <a:ext cx="13868400" cy="781050"/>
          </a:xfrm>
          <a:prstGeom xmlns:a="http://schemas.openxmlformats.org/drawingml/2006/main" prst="rect">
            <a:avLst/>
          </a:prstGeom>
          <a:solidFill xmlns:a="http://schemas.openxmlformats.org/drawingml/2006/main">
            <a:srgbClr val="EAF7F6"/>
          </a:solidFill>
          <a:ln xmlns:a="http://schemas.openxmlformats.org/drawingml/2006/main" w="0">
            <a:noFill/>
            <a:prstDash val="solid"/>
          </a:ln>
        </p:spPr>
      </p:sp>
      <p:sp>
        <p:nvSpPr>
          <p:cNvPr id="13" name="box">
            <a:extLst xmlns:a="http://schemas.openxmlformats.org/drawingml/2006/main">
              <a:ext uri="{FF2B5EF4-FFF2-40B4-BE49-F238E27FC236}">
                <a16:creationId xmlns:a16="http://schemas.microsoft.com/office/drawing/2014/main" id="{CF15DFCE-B81B-4BC1-B8F6-A5DB119BC362}"/>
              </a:ext>
            </a:extLst>
          </p:cNvPr>
          <p:cNvSpPr>
            <a:spLocks xmlns:a="http://schemas.openxmlformats.org/drawingml/2006/main" noGrp="1"/>
          </p:cNvSpPr>
          <p:nvPr/>
        </p:nvSpPr>
        <p:spPr>
          <a:xfrm xmlns:a="http://schemas.openxmlformats.org/drawingml/2006/main">
            <a:off x="685800" y="5676900"/>
            <a:ext cx="47625" cy="7810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46B4D925-36A4-4E7F-A632-FE0053A75C87}"/>
              </a:ext>
            </a:extLst>
          </p:cNvPr>
          <p:cNvSpPr>
            <a:spLocks xmlns:a="http://schemas.openxmlformats.org/drawingml/2006/main" noGrp="1"/>
          </p:cNvSpPr>
          <p:nvPr/>
        </p:nvSpPr>
        <p:spPr>
          <a:xfrm xmlns:a="http://schemas.openxmlformats.org/drawingml/2006/main">
            <a:off x="895350" y="5838825"/>
            <a:ext cx="134588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12D49"/>
                </a:solidFill>
                <a:latin typeface="Nimbus Sans"/>
                <a:ea typeface="Nimbus Sans"/>
                <a:cs typeface="Nimbus Sans"/>
              </a:defRPr>
            </a:defPPr>
          </a:lstStyle>
          <a:p xmlns:a="http://schemas.openxmlformats.org/drawingml/2006/main">
            <a:pPr algn="l">
              <a:defRPr sz="1875" b="0">
                <a:solidFill>
                  <a:srgbClr val="112D49"/>
                </a:solidFill>
                <a:latin typeface="Nimbus Sans"/>
                <a:ea typeface="Nimbus Sans"/>
                <a:cs typeface="Nimbus Sans"/>
              </a:defRPr>
            </a:pPr>
            <a:r>
              <a:rPr sz="1875" b="0">
                <a:solidFill>
                  <a:srgbClr val="112D49"/>
                </a:solidFill>
                <a:latin typeface="Nimbus Sans"/>
                <a:ea typeface="Nimbus Sans"/>
                <a:cs typeface="Nimbus Sans"/>
              </a:rPr>
              <a:t>Expected value: fewer per-user API calls, traceable reviews and a clearer view of unused seats</a:t>
            </a:r>
          </a:p>
        </p:txBody>
      </p:sp>
      <p:sp>
        <p:nvSpPr>
          <p:cNvPr id="15" name="text">
            <a:extLst xmlns:a="http://schemas.openxmlformats.org/drawingml/2006/main">
              <a:ext uri="{FF2B5EF4-FFF2-40B4-BE49-F238E27FC236}">
                <a16:creationId xmlns:a16="http://schemas.microsoft.com/office/drawing/2014/main" id="{3843DCDE-7675-42B8-A18F-F27028A86807}"/>
              </a:ext>
            </a:extLst>
          </p:cNvPr>
          <p:cNvSpPr>
            <a:spLocks xmlns:a="http://schemas.openxmlformats.org/drawingml/2006/main" noGrp="1"/>
          </p:cNvSpPr>
          <p:nvPr/>
        </p:nvSpPr>
        <p:spPr>
          <a:xfrm xmlns:a="http://schemas.openxmlformats.org/drawingml/2006/main">
            <a:off x="742950" y="68961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12D49"/>
                </a:solidFill>
                <a:latin typeface="Nimbus Sans"/>
                <a:ea typeface="Nimbus Sans"/>
                <a:cs typeface="Nimbus Sans"/>
              </a:defRPr>
            </a:defPPr>
          </a:lstStyle>
          <a:p xmlns:a="http://schemas.openxmlformats.org/drawingml/2006/main">
            <a:pPr algn="l">
              <a:defRPr sz="2100" b="1">
                <a:solidFill>
                  <a:srgbClr val="112D49"/>
                </a:solidFill>
                <a:latin typeface="Nimbus Sans"/>
                <a:ea typeface="Nimbus Sans"/>
                <a:cs typeface="Nimbus Sans"/>
              </a:defRPr>
            </a:pPr>
            <a:r>
              <a:rPr sz="2100" b="1">
                <a:solidFill>
                  <a:srgbClr val="112D49"/>
                </a:solidFill>
                <a:latin typeface="Nimbus Sans"/>
                <a:ea typeface="Nimbus Sans"/>
                <a:cs typeface="Nimbus Sans"/>
              </a:rPr>
              <a:t>Scope of the first release</a:t>
            </a:r>
          </a:p>
        </p:txBody>
      </p:sp>
      <p:sp>
        <p:nvSpPr>
          <p:cNvPr id="16" name="text">
            <a:extLst xmlns:a="http://schemas.openxmlformats.org/drawingml/2006/main">
              <a:ext uri="{FF2B5EF4-FFF2-40B4-BE49-F238E27FC236}">
                <a16:creationId xmlns:a16="http://schemas.microsoft.com/office/drawing/2014/main" id="{890C0BFF-247B-46BC-B962-057D28C572DB}"/>
              </a:ext>
            </a:extLst>
          </p:cNvPr>
          <p:cNvSpPr>
            <a:spLocks xmlns:a="http://schemas.openxmlformats.org/drawingml/2006/main" noGrp="1"/>
          </p:cNvSpPr>
          <p:nvPr/>
        </p:nvSpPr>
        <p:spPr>
          <a:xfrm xmlns:a="http://schemas.openxmlformats.org/drawingml/2006/main">
            <a:off x="4962525" y="6877050"/>
            <a:ext cx="933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Read-only collection and recommendations. Actual savings depend on approved actions and the license contract.</a:t>
            </a:r>
          </a:p>
        </p:txBody>
      </p:sp>
    </p:spTree>
    <p:extLst>
      <p:ext uri="{BB962C8B-B14F-4D97-AF65-F5344CB8AC3E}">
        <p14:creationId xmlns:p14="http://schemas.microsoft.com/office/powerpoint/2010/main" val="5203669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330AF302-C57C-4DEA-8C68-9E61D80E7826}"/>
              </a:ext>
            </a:extLst>
          </p:cNvPr>
          <p:cNvCxnSpPr>
            <a:stCxn xmlns:a="http://schemas.openxmlformats.org/drawingml/2006/main" id="18" idx="3"/>
            <a:endCxn xmlns:a="http://schemas.openxmlformats.org/drawingml/2006/main" id="22" idx="1"/>
          </p:cNvCxnSpPr>
          <p:nvPr/>
        </p:nvCxnSpPr>
        <p:spPr>
          <a:xfrm xmlns:a="http://schemas.openxmlformats.org/drawingml/2006/main">
            <a:off x="9334500" y="4643438"/>
            <a:ext cx="18573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8" name="">
            <a:extLst xmlns:a="http://schemas.openxmlformats.org/drawingml/2006/main">
              <a:ext uri="{FF2B5EF4-FFF2-40B4-BE49-F238E27FC236}">
                <a16:creationId xmlns:a16="http://schemas.microsoft.com/office/drawing/2014/main" id="{5444EEB5-CA80-4495-A4A8-D48DA7B0AAE6}"/>
              </a:ext>
            </a:extLst>
          </p:cNvPr>
          <p:cNvCxnSpPr>
            <a:stCxn xmlns:a="http://schemas.openxmlformats.org/drawingml/2006/main" id="14" idx="3"/>
            <a:endCxn xmlns:a="http://schemas.openxmlformats.org/drawingml/2006/main" id="18" idx="1"/>
          </p:cNvCxnSpPr>
          <p:nvPr/>
        </p:nvCxnSpPr>
        <p:spPr>
          <a:xfrm xmlns:a="http://schemas.openxmlformats.org/drawingml/2006/main" flipV="1">
            <a:off x="4000500" y="4643438"/>
            <a:ext cx="2000250" cy="2019300"/>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891B0AA2-F4FD-4EB3-9639-08E6AC7B5747}"/>
              </a:ext>
            </a:extLst>
          </p:cNvPr>
          <p:cNvCxnSpPr>
            <a:stCxn xmlns:a="http://schemas.openxmlformats.org/drawingml/2006/main" id="10" idx="3"/>
            <a:endCxn xmlns:a="http://schemas.openxmlformats.org/drawingml/2006/main" id="18" idx="1"/>
          </p:cNvCxnSpPr>
          <p:nvPr/>
        </p:nvCxnSpPr>
        <p:spPr>
          <a:xfrm xmlns:a="http://schemas.openxmlformats.org/drawingml/2006/main" flipV="1">
            <a:off x="4000500" y="4643438"/>
            <a:ext cx="2000250" cy="104775"/>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D6CBC478-FEAD-4056-8CE3-583102952B06}"/>
              </a:ext>
            </a:extLst>
          </p:cNvPr>
          <p:cNvCxnSpPr>
            <a:stCxn xmlns:a="http://schemas.openxmlformats.org/drawingml/2006/main" id="6" idx="3"/>
            <a:endCxn xmlns:a="http://schemas.openxmlformats.org/drawingml/2006/main" id="18" idx="1"/>
          </p:cNvCxnSpPr>
          <p:nvPr/>
        </p:nvCxnSpPr>
        <p:spPr>
          <a:xfrm xmlns:a="http://schemas.openxmlformats.org/drawingml/2006/main">
            <a:off x="4000500" y="2833688"/>
            <a:ext cx="2000250" cy="1809750"/>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sp>
        <p:nvSpPr>
          <p:cNvPr id="33" name="slide-title">
            <a:extLst xmlns:a="http://schemas.openxmlformats.org/drawingml/2006/main">
              <a:ext uri="{FF2B5EF4-FFF2-40B4-BE49-F238E27FC236}">
                <a16:creationId xmlns:a16="http://schemas.microsoft.com/office/drawing/2014/main" id="{42D99405-A464-4815-A513-F72CB964D989}"/>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Three data paths, one license review dashboard</a:t>
            </a:r>
          </a:p>
        </p:txBody>
      </p:sp>
      <p:sp>
        <p:nvSpPr>
          <p:cNvPr id="2" name="slide-subtitle">
            <a:extLst xmlns:a="http://schemas.openxmlformats.org/drawingml/2006/main">
              <a:ext uri="{FF2B5EF4-FFF2-40B4-BE49-F238E27FC236}">
                <a16:creationId xmlns:a16="http://schemas.microsoft.com/office/drawing/2014/main" id="{D44C75F9-C07B-467B-AAB3-25CED120F842}"/>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Each source answers a different question</a:t>
            </a:r>
          </a:p>
        </p:txBody>
      </p:sp>
      <p:sp>
        <p:nvSpPr>
          <p:cNvPr id="3" name="">
            <a:extLst xmlns:a="http://schemas.openxmlformats.org/drawingml/2006/main">
              <a:ext uri="{FF2B5EF4-FFF2-40B4-BE49-F238E27FC236}">
                <a16:creationId xmlns:a16="http://schemas.microsoft.com/office/drawing/2014/main" id="{AD217240-FA43-41B1-88E6-2EB3EF6E38E2}"/>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CFFB8382-E725-4B51-8051-4F1D43C325B0}"/>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DB0DB43B-D637-4AA7-8DA7-4FBE0093ADB5}"/>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3</a:t>
            </a:r>
          </a:p>
        </p:txBody>
      </p:sp>
      <p:sp>
        <p:nvSpPr>
          <p:cNvPr id="6" name="License inventory">
            <a:extLst xmlns:a="http://schemas.openxmlformats.org/drawingml/2006/main">
              <a:ext uri="{FF2B5EF4-FFF2-40B4-BE49-F238E27FC236}">
                <a16:creationId xmlns:a16="http://schemas.microsoft.com/office/drawing/2014/main" id="{9E332D93-FB43-4686-85B4-86F5D449E89A}"/>
              </a:ext>
            </a:extLst>
          </p:cNvPr>
          <p:cNvSpPr>
            <a:spLocks xmlns:a="http://schemas.openxmlformats.org/drawingml/2006/main" noGrp="1"/>
          </p:cNvSpPr>
          <p:nvPr/>
        </p:nvSpPr>
        <p:spPr>
          <a:xfrm xmlns:a="http://schemas.openxmlformats.org/drawingml/2006/main">
            <a:off x="714375" y="2095500"/>
            <a:ext cx="3286125" cy="1476375"/>
          </a:xfrm>
          <a:prstGeom xmlns:a="http://schemas.openxmlformats.org/drawingml/2006/main" prst="roundRect">
            <a:avLst>
              <a:gd name="adj" fmla="val 5806"/>
            </a:avLst>
          </a:prstGeom>
          <a:solidFill xmlns:a="http://schemas.openxmlformats.org/drawingml/2006/main">
            <a:srgbClr val="F3F7FB"/>
          </a:solidFill>
          <a:ln xmlns:a="http://schemas.openxmlformats.org/drawingml/2006/main" w="13335">
            <a:solidFill>
              <a:srgbClr val="3276D2"/>
            </a:solidFill>
            <a:prstDash val="solid"/>
          </a:ln>
        </p:spPr>
      </p:sp>
      <p:pic>
        <p:nvPicPr>
          <p:cNvPr id="7" name="">
            <a:extLst xmlns:a="http://schemas.openxmlformats.org/drawingml/2006/main">
              <a:ext uri="{FF2B5EF4-FFF2-40B4-BE49-F238E27FC236}">
                <a16:creationId xmlns:a16="http://schemas.microsoft.com/office/drawing/2014/main" id="{F8BE8D28-D8FE-4198-9424-AB0A195DB424}"/>
              </a:ext>
            </a:extLst>
          </p:cNvPr>
          <p:cNvPicPr>
            <a:picLocks xmlns:a="http://schemas.openxmlformats.org/drawingml/2006/main" noChangeAspect="1"/>
          </p:cNvPicPr>
          <p:nvPr/>
        </p:nvPicPr>
        <p:blipFill>
          <a:blip xmlns:r="http://schemas.openxmlformats.org/officeDocument/2006/relationships" xmlns:a="http://schemas.openxmlformats.org/drawingml/2006/main" r:embed="Rfd14f53778764d57">
            <a:extLst>
              <a:ext uri="{96DAC541-7B7A-43D3-8B79-37D633B846F1}">
                <asvg:svgBlip xmlns:asvg="http://schemas.microsoft.com/office/drawing/2016/SVG/main" r:embed="Rad251b6312b2406e"/>
              </a:ext>
            </a:extLst>
          </a:blip>
          <a:stretch xmlns:a="http://schemas.openxmlformats.org/drawingml/2006/main"/>
        </p:blipFill>
        <p:spPr>
          <a:xfrm xmlns:a="http://schemas.openxmlformats.org/drawingml/2006/main">
            <a:off x="904875" y="2276475"/>
            <a:ext cx="457200" cy="4572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EB782B2-4692-4320-B45C-F0ACE6C55688}"/>
              </a:ext>
            </a:extLst>
          </p:cNvPr>
          <p:cNvSpPr>
            <a:spLocks xmlns:a="http://schemas.openxmlformats.org/drawingml/2006/main" noGrp="1"/>
          </p:cNvSpPr>
          <p:nvPr/>
        </p:nvSpPr>
        <p:spPr>
          <a:xfrm xmlns:a="http://schemas.openxmlformats.org/drawingml/2006/main">
            <a:off x="1524000" y="2276475"/>
            <a:ext cx="2333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License inventory</a:t>
            </a:r>
          </a:p>
        </p:txBody>
      </p:sp>
      <p:sp>
        <p:nvSpPr>
          <p:cNvPr id="9" name="text">
            <a:extLst xmlns:a="http://schemas.openxmlformats.org/drawingml/2006/main">
              <a:ext uri="{FF2B5EF4-FFF2-40B4-BE49-F238E27FC236}">
                <a16:creationId xmlns:a16="http://schemas.microsoft.com/office/drawing/2014/main" id="{AC9B8489-1F62-47D7-A2B8-BD392D5953B9}"/>
              </a:ext>
            </a:extLst>
          </p:cNvPr>
          <p:cNvSpPr>
            <a:spLocks xmlns:a="http://schemas.openxmlformats.org/drawingml/2006/main" noGrp="1"/>
          </p:cNvSpPr>
          <p:nvPr/>
        </p:nvSpPr>
        <p:spPr>
          <a:xfrm xmlns:a="http://schemas.openxmlformats.org/drawingml/2006/main">
            <a:off x="914400" y="2914650"/>
            <a:ext cx="2886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Who consumes a license today?</a:t>
            </a:r>
          </a:p>
        </p:txBody>
      </p:sp>
      <p:sp>
        <p:nvSpPr>
          <p:cNvPr id="10" name="Audit activity">
            <a:extLst xmlns:a="http://schemas.openxmlformats.org/drawingml/2006/main">
              <a:ext uri="{FF2B5EF4-FFF2-40B4-BE49-F238E27FC236}">
                <a16:creationId xmlns:a16="http://schemas.microsoft.com/office/drawing/2014/main" id="{C63294DF-AB85-4BDB-A39D-2FC73960DE56}"/>
              </a:ext>
            </a:extLst>
          </p:cNvPr>
          <p:cNvSpPr>
            <a:spLocks xmlns:a="http://schemas.openxmlformats.org/drawingml/2006/main" noGrp="1"/>
          </p:cNvSpPr>
          <p:nvPr/>
        </p:nvSpPr>
        <p:spPr>
          <a:xfrm xmlns:a="http://schemas.openxmlformats.org/drawingml/2006/main">
            <a:off x="714375" y="4010025"/>
            <a:ext cx="3286125" cy="1476375"/>
          </a:xfrm>
          <a:prstGeom xmlns:a="http://schemas.openxmlformats.org/drawingml/2006/main" prst="roundRect">
            <a:avLst>
              <a:gd name="adj" fmla="val 5806"/>
            </a:avLst>
          </a:prstGeom>
          <a:solidFill xmlns:a="http://schemas.openxmlformats.org/drawingml/2006/main">
            <a:srgbClr val="EAF7F6"/>
          </a:solidFill>
          <a:ln xmlns:a="http://schemas.openxmlformats.org/drawingml/2006/main" w="13335">
            <a:solidFill>
              <a:srgbClr val="008A91"/>
            </a:solidFill>
            <a:prstDash val="solid"/>
          </a:ln>
        </p:spPr>
      </p:sp>
      <p:pic>
        <p:nvPicPr>
          <p:cNvPr id="11" name="">
            <a:extLst xmlns:a="http://schemas.openxmlformats.org/drawingml/2006/main">
              <a:ext uri="{FF2B5EF4-FFF2-40B4-BE49-F238E27FC236}">
                <a16:creationId xmlns:a16="http://schemas.microsoft.com/office/drawing/2014/main" id="{8A9CD711-42A4-417B-8FCF-1020744B22D4}"/>
              </a:ext>
            </a:extLst>
          </p:cNvPr>
          <p:cNvPicPr>
            <a:picLocks xmlns:a="http://schemas.openxmlformats.org/drawingml/2006/main" noChangeAspect="1"/>
          </p:cNvPicPr>
          <p:nvPr/>
        </p:nvPicPr>
        <p:blipFill>
          <a:blip xmlns:r="http://schemas.openxmlformats.org/officeDocument/2006/relationships" xmlns:a="http://schemas.openxmlformats.org/drawingml/2006/main" r:embed="R11823c40884349dc">
            <a:extLst>
              <a:ext uri="{96DAC541-7B7A-43D3-8B79-37D633B846F1}">
                <asvg:svgBlip xmlns:asvg="http://schemas.microsoft.com/office/drawing/2016/SVG/main" r:embed="Rb0a26e1a3a9e42e8"/>
              </a:ext>
            </a:extLst>
          </a:blip>
          <a:stretch xmlns:a="http://schemas.openxmlformats.org/drawingml/2006/main"/>
        </p:blipFill>
        <p:spPr>
          <a:xfrm xmlns:a="http://schemas.openxmlformats.org/drawingml/2006/main">
            <a:off x="904875" y="4191000"/>
            <a:ext cx="457200" cy="45720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88426167-A706-4728-B341-BC260CD98BA4}"/>
              </a:ext>
            </a:extLst>
          </p:cNvPr>
          <p:cNvSpPr>
            <a:spLocks xmlns:a="http://schemas.openxmlformats.org/drawingml/2006/main" noGrp="1"/>
          </p:cNvSpPr>
          <p:nvPr/>
        </p:nvSpPr>
        <p:spPr>
          <a:xfrm xmlns:a="http://schemas.openxmlformats.org/drawingml/2006/main">
            <a:off x="1524000" y="4191000"/>
            <a:ext cx="2333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Audit activity</a:t>
            </a:r>
          </a:p>
        </p:txBody>
      </p:sp>
      <p:sp>
        <p:nvSpPr>
          <p:cNvPr id="13" name="text">
            <a:extLst xmlns:a="http://schemas.openxmlformats.org/drawingml/2006/main">
              <a:ext uri="{FF2B5EF4-FFF2-40B4-BE49-F238E27FC236}">
                <a16:creationId xmlns:a16="http://schemas.microsoft.com/office/drawing/2014/main" id="{76322084-783A-4A8C-AA69-55C352E65647}"/>
              </a:ext>
            </a:extLst>
          </p:cNvPr>
          <p:cNvSpPr>
            <a:spLocks xmlns:a="http://schemas.openxmlformats.org/drawingml/2006/main" noGrp="1"/>
          </p:cNvSpPr>
          <p:nvPr/>
        </p:nvSpPr>
        <p:spPr>
          <a:xfrm xmlns:a="http://schemas.openxmlformats.org/drawingml/2006/main">
            <a:off x="914400" y="4829175"/>
            <a:ext cx="2886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When was activity last observed?</a:t>
            </a:r>
          </a:p>
        </p:txBody>
      </p:sp>
      <p:sp>
        <p:nvSpPr>
          <p:cNvPr id="14" name="Staff and eligibility">
            <a:extLst xmlns:a="http://schemas.openxmlformats.org/drawingml/2006/main">
              <a:ext uri="{FF2B5EF4-FFF2-40B4-BE49-F238E27FC236}">
                <a16:creationId xmlns:a16="http://schemas.microsoft.com/office/drawing/2014/main" id="{DC99AE38-297B-4686-AD77-27BAEC504CA5}"/>
              </a:ext>
            </a:extLst>
          </p:cNvPr>
          <p:cNvSpPr>
            <a:spLocks xmlns:a="http://schemas.openxmlformats.org/drawingml/2006/main" noGrp="1"/>
          </p:cNvSpPr>
          <p:nvPr/>
        </p:nvSpPr>
        <p:spPr>
          <a:xfrm xmlns:a="http://schemas.openxmlformats.org/drawingml/2006/main">
            <a:off x="714375" y="5924550"/>
            <a:ext cx="3286125" cy="1476375"/>
          </a:xfrm>
          <a:prstGeom xmlns:a="http://schemas.openxmlformats.org/drawingml/2006/main" prst="roundRect">
            <a:avLst>
              <a:gd name="adj" fmla="val 5806"/>
            </a:avLst>
          </a:prstGeom>
          <a:solidFill xmlns:a="http://schemas.openxmlformats.org/drawingml/2006/main">
            <a:srgbClr val="F3EFF8"/>
          </a:solidFill>
          <a:ln xmlns:a="http://schemas.openxmlformats.org/drawingml/2006/main" w="13335">
            <a:solidFill>
              <a:srgbClr val="7350A4"/>
            </a:solidFill>
            <a:prstDash val="solid"/>
          </a:ln>
        </p:spPr>
      </p:sp>
      <p:pic>
        <p:nvPicPr>
          <p:cNvPr id="15" name="">
            <a:extLst xmlns:a="http://schemas.openxmlformats.org/drawingml/2006/main">
              <a:ext uri="{FF2B5EF4-FFF2-40B4-BE49-F238E27FC236}">
                <a16:creationId xmlns:a16="http://schemas.microsoft.com/office/drawing/2014/main" id="{F8EEA6FB-07FD-457C-8A06-017CCC9C4766}"/>
              </a:ext>
            </a:extLst>
          </p:cNvPr>
          <p:cNvPicPr>
            <a:picLocks xmlns:a="http://schemas.openxmlformats.org/drawingml/2006/main" noChangeAspect="1"/>
          </p:cNvPicPr>
          <p:nvPr/>
        </p:nvPicPr>
        <p:blipFill>
          <a:blip xmlns:r="http://schemas.openxmlformats.org/officeDocument/2006/relationships" xmlns:a="http://schemas.openxmlformats.org/drawingml/2006/main" r:embed="R6db50e678a094ea5">
            <a:extLst>
              <a:ext uri="{96DAC541-7B7A-43D3-8B79-37D633B846F1}">
                <asvg:svgBlip xmlns:asvg="http://schemas.microsoft.com/office/drawing/2016/SVG/main" r:embed="R0b61229f6b7642ab"/>
              </a:ext>
            </a:extLst>
          </a:blip>
          <a:stretch xmlns:a="http://schemas.openxmlformats.org/drawingml/2006/main"/>
        </p:blipFill>
        <p:spPr>
          <a:xfrm xmlns:a="http://schemas.openxmlformats.org/drawingml/2006/main">
            <a:off x="904875" y="6105525"/>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387E2AAA-B1DE-4CF8-B954-62A4469D896C}"/>
              </a:ext>
            </a:extLst>
          </p:cNvPr>
          <p:cNvSpPr>
            <a:spLocks xmlns:a="http://schemas.openxmlformats.org/drawingml/2006/main" noGrp="1"/>
          </p:cNvSpPr>
          <p:nvPr/>
        </p:nvSpPr>
        <p:spPr>
          <a:xfrm xmlns:a="http://schemas.openxmlformats.org/drawingml/2006/main">
            <a:off x="1524000" y="6105525"/>
            <a:ext cx="2333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Staff and eligibility</a:t>
            </a:r>
          </a:p>
        </p:txBody>
      </p:sp>
      <p:sp>
        <p:nvSpPr>
          <p:cNvPr id="17" name="text">
            <a:extLst xmlns:a="http://schemas.openxmlformats.org/drawingml/2006/main">
              <a:ext uri="{FF2B5EF4-FFF2-40B4-BE49-F238E27FC236}">
                <a16:creationId xmlns:a16="http://schemas.microsoft.com/office/drawing/2014/main" id="{E36A6C15-C5EC-4DAC-B849-51A7CD7A7DCE}"/>
              </a:ext>
            </a:extLst>
          </p:cNvPr>
          <p:cNvSpPr>
            <a:spLocks xmlns:a="http://schemas.openxmlformats.org/drawingml/2006/main" noGrp="1"/>
          </p:cNvSpPr>
          <p:nvPr/>
        </p:nvSpPr>
        <p:spPr>
          <a:xfrm xmlns:a="http://schemas.openxmlformats.org/drawingml/2006/main">
            <a:off x="914400" y="6743700"/>
            <a:ext cx="2886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Who owns the account and can act?</a:t>
            </a:r>
          </a:p>
        </p:txBody>
      </p:sp>
      <p:sp>
        <p:nvSpPr>
          <p:cNvPr id="18" name="BigQuery model">
            <a:extLst xmlns:a="http://schemas.openxmlformats.org/drawingml/2006/main">
              <a:ext uri="{FF2B5EF4-FFF2-40B4-BE49-F238E27FC236}">
                <a16:creationId xmlns:a16="http://schemas.microsoft.com/office/drawing/2014/main" id="{8741DFAD-73D2-444E-857E-A3C060438BDF}"/>
              </a:ext>
            </a:extLst>
          </p:cNvPr>
          <p:cNvSpPr>
            <a:spLocks xmlns:a="http://schemas.openxmlformats.org/drawingml/2006/main" noGrp="1"/>
          </p:cNvSpPr>
          <p:nvPr/>
        </p:nvSpPr>
        <p:spPr>
          <a:xfrm xmlns:a="http://schemas.openxmlformats.org/drawingml/2006/main">
            <a:off x="6000750" y="3333750"/>
            <a:ext cx="3333750" cy="2619375"/>
          </a:xfrm>
          <a:prstGeom xmlns:a="http://schemas.openxmlformats.org/drawingml/2006/main" prst="roundRect">
            <a:avLst>
              <a:gd name="adj" fmla="val 3273"/>
            </a:avLst>
          </a:prstGeom>
          <a:solidFill xmlns:a="http://schemas.openxmlformats.org/drawingml/2006/main">
            <a:srgbClr val="F3F7FB"/>
          </a:solidFill>
          <a:ln xmlns:a="http://schemas.openxmlformats.org/drawingml/2006/main" w="13335">
            <a:solidFill>
              <a:srgbClr val="3276D2"/>
            </a:solidFill>
            <a:prstDash val="solid"/>
          </a:ln>
        </p:spPr>
      </p:sp>
      <p:pic>
        <p:nvPicPr>
          <p:cNvPr id="19" name="">
            <a:extLst xmlns:a="http://schemas.openxmlformats.org/drawingml/2006/main">
              <a:ext uri="{FF2B5EF4-FFF2-40B4-BE49-F238E27FC236}">
                <a16:creationId xmlns:a16="http://schemas.microsoft.com/office/drawing/2014/main" id="{1080F2EB-0B3C-419F-926E-38D26F29A62B}"/>
              </a:ext>
            </a:extLst>
          </p:cNvPr>
          <p:cNvPicPr>
            <a:picLocks xmlns:a="http://schemas.openxmlformats.org/drawingml/2006/main" noChangeAspect="1"/>
          </p:cNvPicPr>
          <p:nvPr/>
        </p:nvPicPr>
        <p:blipFill>
          <a:blip xmlns:r="http://schemas.openxmlformats.org/officeDocument/2006/relationships" xmlns:a="http://schemas.openxmlformats.org/drawingml/2006/main" r:embed="R36017dd4238443be"/>
          <a:stretch xmlns:a="http://schemas.openxmlformats.org/drawingml/2006/main"/>
        </p:blipFill>
        <p:spPr>
          <a:xfrm xmlns:a="http://schemas.openxmlformats.org/drawingml/2006/main">
            <a:off x="6191250" y="3514725"/>
            <a:ext cx="457200" cy="457200"/>
          </a:xfrm>
          <a:prstGeom xmlns:a="http://schemas.openxmlformats.org/drawingml/2006/main" prst="rect">
            <a:avLst/>
          </a:prstGeom>
        </p:spPr>
      </p:pic>
      <p:sp>
        <p:nvSpPr>
          <p:cNvPr id="20" name="text">
            <a:extLst xmlns:a="http://schemas.openxmlformats.org/drawingml/2006/main">
              <a:ext uri="{FF2B5EF4-FFF2-40B4-BE49-F238E27FC236}">
                <a16:creationId xmlns:a16="http://schemas.microsoft.com/office/drawing/2014/main" id="{35C0B391-B6E3-4670-ACB5-C405399DEF76}"/>
              </a:ext>
            </a:extLst>
          </p:cNvPr>
          <p:cNvSpPr>
            <a:spLocks xmlns:a="http://schemas.openxmlformats.org/drawingml/2006/main" noGrp="1"/>
          </p:cNvSpPr>
          <p:nvPr/>
        </p:nvSpPr>
        <p:spPr>
          <a:xfrm xmlns:a="http://schemas.openxmlformats.org/drawingml/2006/main">
            <a:off x="6810375" y="3514725"/>
            <a:ext cx="238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BigQuery model</a:t>
            </a:r>
          </a:p>
        </p:txBody>
      </p:sp>
      <p:sp>
        <p:nvSpPr>
          <p:cNvPr id="21" name="text">
            <a:extLst xmlns:a="http://schemas.openxmlformats.org/drawingml/2006/main">
              <a:ext uri="{FF2B5EF4-FFF2-40B4-BE49-F238E27FC236}">
                <a16:creationId xmlns:a16="http://schemas.microsoft.com/office/drawing/2014/main" id="{AD6D3CE4-8610-4CA7-ACF0-123F74F83135}"/>
              </a:ext>
            </a:extLst>
          </p:cNvPr>
          <p:cNvSpPr>
            <a:spLocks xmlns:a="http://schemas.openxmlformats.org/drawingml/2006/main" noGrp="1"/>
          </p:cNvSpPr>
          <p:nvPr/>
        </p:nvSpPr>
        <p:spPr>
          <a:xfrm xmlns:a="http://schemas.openxmlformats.org/drawingml/2006/main">
            <a:off x="6200775" y="4200525"/>
            <a:ext cx="293370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Join validated snapshots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Apply the agreed policy</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Explain every inclusion or exclusion</a:t>
            </a:r>
          </a:p>
        </p:txBody>
      </p:sp>
      <p:sp>
        <p:nvSpPr>
          <p:cNvPr id="22" name="Grafana">
            <a:extLst xmlns:a="http://schemas.openxmlformats.org/drawingml/2006/main">
              <a:ext uri="{FF2B5EF4-FFF2-40B4-BE49-F238E27FC236}">
                <a16:creationId xmlns:a16="http://schemas.microsoft.com/office/drawing/2014/main" id="{87DDDC29-3E56-4B55-BA2F-DF70D435EAB6}"/>
              </a:ext>
            </a:extLst>
          </p:cNvPr>
          <p:cNvSpPr>
            <a:spLocks xmlns:a="http://schemas.openxmlformats.org/drawingml/2006/main" noGrp="1"/>
          </p:cNvSpPr>
          <p:nvPr/>
        </p:nvSpPr>
        <p:spPr>
          <a:xfrm xmlns:a="http://schemas.openxmlformats.org/drawingml/2006/main">
            <a:off x="11191875" y="3333750"/>
            <a:ext cx="3333750" cy="2619375"/>
          </a:xfrm>
          <a:prstGeom xmlns:a="http://schemas.openxmlformats.org/drawingml/2006/main" prst="roundRect">
            <a:avLst>
              <a:gd name="adj" fmla="val 3273"/>
            </a:avLst>
          </a:prstGeom>
          <a:solidFill xmlns:a="http://schemas.openxmlformats.org/drawingml/2006/main">
            <a:srgbClr val="FFF7ED"/>
          </a:solidFill>
          <a:ln xmlns:a="http://schemas.openxmlformats.org/drawingml/2006/main" w="13335">
            <a:solidFill>
              <a:srgbClr val="D77816"/>
            </a:solidFill>
            <a:prstDash val="solid"/>
          </a:ln>
        </p:spPr>
      </p:sp>
      <p:pic>
        <p:nvPicPr>
          <p:cNvPr id="23" name="">
            <a:extLst xmlns:a="http://schemas.openxmlformats.org/drawingml/2006/main">
              <a:ext uri="{FF2B5EF4-FFF2-40B4-BE49-F238E27FC236}">
                <a16:creationId xmlns:a16="http://schemas.microsoft.com/office/drawing/2014/main" id="{085C70CC-221F-4F4C-ADD4-8E59478E5287}"/>
              </a:ext>
            </a:extLst>
          </p:cNvPr>
          <p:cNvPicPr>
            <a:picLocks xmlns:a="http://schemas.openxmlformats.org/drawingml/2006/main" noChangeAspect="1"/>
          </p:cNvPicPr>
          <p:nvPr/>
        </p:nvPicPr>
        <p:blipFill>
          <a:blip xmlns:r="http://schemas.openxmlformats.org/officeDocument/2006/relationships" xmlns:a="http://schemas.openxmlformats.org/drawingml/2006/main" r:embed="Rdeab4a0e3ad84962">
            <a:extLst>
              <a:ext uri="{96DAC541-7B7A-43D3-8B79-37D633B846F1}">
                <asvg:svgBlip xmlns:asvg="http://schemas.microsoft.com/office/drawing/2016/SVG/main" r:embed="Rbbce8c83e3154a57"/>
              </a:ext>
            </a:extLst>
          </a:blip>
          <a:stretch xmlns:a="http://schemas.openxmlformats.org/drawingml/2006/main"/>
        </p:blipFill>
        <p:spPr>
          <a:xfrm xmlns:a="http://schemas.openxmlformats.org/drawingml/2006/main">
            <a:off x="11382375" y="3514725"/>
            <a:ext cx="457200" cy="457200"/>
          </a:xfrm>
          <a:prstGeom xmlns:a="http://schemas.openxmlformats.org/drawingml/2006/main" prst="rect">
            <a:avLst/>
          </a:prstGeom>
        </p:spPr>
      </p:pic>
      <p:sp>
        <p:nvSpPr>
          <p:cNvPr id="24" name="text">
            <a:extLst xmlns:a="http://schemas.openxmlformats.org/drawingml/2006/main">
              <a:ext uri="{FF2B5EF4-FFF2-40B4-BE49-F238E27FC236}">
                <a16:creationId xmlns:a16="http://schemas.microsoft.com/office/drawing/2014/main" id="{51ADBB96-20B9-4626-AE82-94B9E3B22785}"/>
              </a:ext>
            </a:extLst>
          </p:cNvPr>
          <p:cNvSpPr>
            <a:spLocks xmlns:a="http://schemas.openxmlformats.org/drawingml/2006/main" noGrp="1"/>
          </p:cNvSpPr>
          <p:nvPr/>
        </p:nvSpPr>
        <p:spPr>
          <a:xfrm xmlns:a="http://schemas.openxmlformats.org/drawingml/2006/main">
            <a:off x="12001500" y="3514725"/>
            <a:ext cx="238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Grafana</a:t>
            </a:r>
          </a:p>
        </p:txBody>
      </p:sp>
      <p:sp>
        <p:nvSpPr>
          <p:cNvPr id="25" name="text">
            <a:extLst xmlns:a="http://schemas.openxmlformats.org/drawingml/2006/main">
              <a:ext uri="{FF2B5EF4-FFF2-40B4-BE49-F238E27FC236}">
                <a16:creationId xmlns:a16="http://schemas.microsoft.com/office/drawing/2014/main" id="{EDCD0581-C49B-4224-A08D-014719FBD56D}"/>
              </a:ext>
            </a:extLst>
          </p:cNvPr>
          <p:cNvSpPr>
            <a:spLocks xmlns:a="http://schemas.openxmlformats.org/drawingml/2006/main" noGrp="1"/>
          </p:cNvSpPr>
          <p:nvPr/>
        </p:nvSpPr>
        <p:spPr>
          <a:xfrm xmlns:a="http://schemas.openxmlformats.org/drawingml/2006/main">
            <a:off x="11391900" y="4200525"/>
            <a:ext cx="293370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Usage and dormancy</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UBR and manager drilldown</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Evidence for review</a:t>
            </a:r>
          </a:p>
        </p:txBody>
      </p:sp>
      <p:sp>
        <p:nvSpPr>
          <p:cNvPr id="30" name="text">
            <a:extLst xmlns:a="http://schemas.openxmlformats.org/drawingml/2006/main">
              <a:ext uri="{FF2B5EF4-FFF2-40B4-BE49-F238E27FC236}">
                <a16:creationId xmlns:a16="http://schemas.microsoft.com/office/drawing/2014/main" id="{3152A1DF-812D-4CE2-8281-1E7D46EAAEBD}"/>
              </a:ext>
            </a:extLst>
          </p:cNvPr>
          <p:cNvSpPr>
            <a:spLocks xmlns:a="http://schemas.openxmlformats.org/drawingml/2006/main" noGrp="1"/>
          </p:cNvSpPr>
          <p:nvPr/>
        </p:nvSpPr>
        <p:spPr>
          <a:xfrm xmlns:a="http://schemas.openxmlformats.org/drawingml/2006/main">
            <a:off x="733425" y="174307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3276D2"/>
                </a:solidFill>
                <a:latin typeface="Nimbus Sans"/>
                <a:ea typeface="Nimbus Sans"/>
                <a:cs typeface="Nimbus Sans"/>
              </a:defRPr>
            </a:defPPr>
          </a:lstStyle>
          <a:p xmlns:a="http://schemas.openxmlformats.org/drawingml/2006/main">
            <a:pPr algn="l">
              <a:defRPr sz="1500" b="1">
                <a:solidFill>
                  <a:srgbClr val="3276D2"/>
                </a:solidFill>
                <a:latin typeface="Nimbus Sans"/>
                <a:ea typeface="Nimbus Sans"/>
                <a:cs typeface="Nimbus Sans"/>
              </a:defRPr>
            </a:pPr>
            <a:r>
              <a:rPr sz="1500" b="1">
                <a:solidFill>
                  <a:srgbClr val="3276D2"/>
                </a:solidFill>
                <a:latin typeface="Nimbus Sans"/>
                <a:ea typeface="Nimbus Sans"/>
                <a:cs typeface="Nimbus Sans"/>
              </a:rPr>
              <a:t>NEW DAILY INVENTORY FEED</a:t>
            </a:r>
          </a:p>
        </p:txBody>
      </p:sp>
      <p:sp>
        <p:nvSpPr>
          <p:cNvPr id="31" name="text">
            <a:extLst xmlns:a="http://schemas.openxmlformats.org/drawingml/2006/main">
              <a:ext uri="{FF2B5EF4-FFF2-40B4-BE49-F238E27FC236}">
                <a16:creationId xmlns:a16="http://schemas.microsoft.com/office/drawing/2014/main" id="{220C181E-8AC5-4997-828C-1CE8E2664759}"/>
              </a:ext>
            </a:extLst>
          </p:cNvPr>
          <p:cNvSpPr>
            <a:spLocks xmlns:a="http://schemas.openxmlformats.org/drawingml/2006/main" noGrp="1"/>
          </p:cNvSpPr>
          <p:nvPr/>
        </p:nvSpPr>
        <p:spPr>
          <a:xfrm xmlns:a="http://schemas.openxmlformats.org/drawingml/2006/main">
            <a:off x="733425" y="36576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008A91"/>
                </a:solidFill>
                <a:latin typeface="Nimbus Sans"/>
                <a:ea typeface="Nimbus Sans"/>
                <a:cs typeface="Nimbus Sans"/>
              </a:defRPr>
            </a:defPPr>
          </a:lstStyle>
          <a:p xmlns:a="http://schemas.openxmlformats.org/drawingml/2006/main">
            <a:pPr algn="l">
              <a:defRPr sz="1500" b="1">
                <a:solidFill>
                  <a:srgbClr val="008A91"/>
                </a:solidFill>
                <a:latin typeface="Nimbus Sans"/>
                <a:ea typeface="Nimbus Sans"/>
                <a:cs typeface="Nimbus Sans"/>
              </a:defRPr>
            </a:pPr>
            <a:r>
              <a:rPr sz="1500" b="1">
                <a:solidFill>
                  <a:srgbClr val="008A91"/>
                </a:solidFill>
                <a:latin typeface="Nimbus Sans"/>
                <a:ea typeface="Nimbus Sans"/>
                <a:cs typeface="Nimbus Sans"/>
              </a:rPr>
              <a:t>EXISTING AUDIT PLATFORM</a:t>
            </a:r>
          </a:p>
        </p:txBody>
      </p:sp>
      <p:sp>
        <p:nvSpPr>
          <p:cNvPr id="32" name="text">
            <a:extLst xmlns:a="http://schemas.openxmlformats.org/drawingml/2006/main">
              <a:ext uri="{FF2B5EF4-FFF2-40B4-BE49-F238E27FC236}">
                <a16:creationId xmlns:a16="http://schemas.microsoft.com/office/drawing/2014/main" id="{C2CEF557-0C5C-4E43-9AD6-27B4F9CEA0CA}"/>
              </a:ext>
            </a:extLst>
          </p:cNvPr>
          <p:cNvSpPr>
            <a:spLocks xmlns:a="http://schemas.openxmlformats.org/drawingml/2006/main" noGrp="1"/>
          </p:cNvSpPr>
          <p:nvPr/>
        </p:nvSpPr>
        <p:spPr>
          <a:xfrm xmlns:a="http://schemas.openxmlformats.org/drawingml/2006/main">
            <a:off x="733425" y="557212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7350A4"/>
                </a:solidFill>
                <a:latin typeface="Nimbus Sans"/>
                <a:ea typeface="Nimbus Sans"/>
                <a:cs typeface="Nimbus Sans"/>
              </a:defRPr>
            </a:defPPr>
          </a:lstStyle>
          <a:p xmlns:a="http://schemas.openxmlformats.org/drawingml/2006/main">
            <a:pPr algn="l">
              <a:defRPr sz="1500" b="1">
                <a:solidFill>
                  <a:srgbClr val="7350A4"/>
                </a:solidFill>
                <a:latin typeface="Nimbus Sans"/>
                <a:ea typeface="Nimbus Sans"/>
                <a:cs typeface="Nimbus Sans"/>
              </a:defRPr>
            </a:pPr>
            <a:r>
              <a:rPr sz="1500" b="1">
                <a:solidFill>
                  <a:srgbClr val="7350A4"/>
                </a:solidFill>
                <a:latin typeface="Nimbus Sans"/>
                <a:ea typeface="Nimbus Sans"/>
                <a:cs typeface="Nimbus Sans"/>
              </a:rPr>
              <a:t>PLANNED SOURCE INTEGRATION</a:t>
            </a:r>
          </a:p>
        </p:txBody>
      </p:sp>
    </p:spTree>
    <p:extLst>
      <p:ext uri="{BB962C8B-B14F-4D97-AF65-F5344CB8AC3E}">
        <p14:creationId xmlns:p14="http://schemas.microsoft.com/office/powerpoint/2010/main" val="11762208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6D002D2D-F241-4E08-8D45-3B673379595B}"/>
              </a:ext>
            </a:extLst>
          </p:cNvPr>
          <p:cNvCxnSpPr>
            <a:stCxn xmlns:a="http://schemas.openxmlformats.org/drawingml/2006/main" id="22" idx="2"/>
            <a:endCxn xmlns:a="http://schemas.openxmlformats.org/drawingml/2006/main" id="36" idx="0"/>
          </p:cNvCxnSpPr>
          <p:nvPr/>
        </p:nvCxnSpPr>
        <p:spPr>
          <a:xfrm xmlns:a="http://schemas.openxmlformats.org/drawingml/2006/main" flipH="1">
            <a:off x="11630025" y="5267325"/>
            <a:ext cx="1671638" cy="628650"/>
          </a:xfrm>
          <a:prstGeom xmlns:a="http://schemas.openxmlformats.org/drawingml/2006/main" prst="bentConnector4">
            <a:avLst>
              <a:gd name="adj1" fmla="val 0"/>
              <a:gd name="adj2" fmla="val 50000"/>
            </a:avLst>
          </a:prstGeom>
          <a:ln xmlns:a="http://schemas.openxmlformats.org/drawingml/2006/main" w="22860">
            <a:solidFill>
              <a:srgbClr val="228455"/>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C81F8A28-F494-4AD2-8E42-4EB5BF0DBD27}"/>
              </a:ext>
            </a:extLst>
          </p:cNvPr>
          <p:cNvCxnSpPr>
            <a:stCxn xmlns:a="http://schemas.openxmlformats.org/drawingml/2006/main" id="31" idx="0"/>
            <a:endCxn xmlns:a="http://schemas.openxmlformats.org/drawingml/2006/main" id="14" idx="2"/>
          </p:cNvCxnSpPr>
          <p:nvPr/>
        </p:nvCxnSpPr>
        <p:spPr>
          <a:xfrm xmlns:a="http://schemas.openxmlformats.org/drawingml/2006/main" flipV="1">
            <a:off x="5848350" y="5267325"/>
            <a:ext cx="0" cy="638175"/>
          </a:xfrm>
          <a:prstGeom xmlns:a="http://schemas.openxmlformats.org/drawingml/2006/main" prst="straightConnector1">
            <a:avLst/>
          </a:prstGeom>
          <a:ln xmlns:a="http://schemas.openxmlformats.org/drawingml/2006/main" w="22860">
            <a:solidFill>
              <a:srgbClr val="7350A4"/>
            </a:solidFill>
            <a:prstDash val="dash"/>
            <a:tailEnd type="triangle" w="med" len="med"/>
          </a:ln>
        </p:spPr>
      </p:cxnSp>
      <p:cxnSp>
        <p:nvCxnSpPr>
          <p:cNvPr id="29" name="">
            <a:extLst xmlns:a="http://schemas.openxmlformats.org/drawingml/2006/main">
              <a:ext uri="{FF2B5EF4-FFF2-40B4-BE49-F238E27FC236}">
                <a16:creationId xmlns:a16="http://schemas.microsoft.com/office/drawing/2014/main" id="{0BE6B2AF-9A03-49EF-B80E-E5E0B6F38364}"/>
              </a:ext>
            </a:extLst>
          </p:cNvPr>
          <p:cNvCxnSpPr>
            <a:stCxn xmlns:a="http://schemas.openxmlformats.org/drawingml/2006/main" id="18" idx="3"/>
            <a:endCxn xmlns:a="http://schemas.openxmlformats.org/drawingml/2006/main" id="22" idx="1"/>
          </p:cNvCxnSpPr>
          <p:nvPr/>
        </p:nvCxnSpPr>
        <p:spPr>
          <a:xfrm xmlns:a="http://schemas.openxmlformats.org/drawingml/2006/main">
            <a:off x="11068050" y="4376738"/>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8" name="">
            <a:extLst xmlns:a="http://schemas.openxmlformats.org/drawingml/2006/main">
              <a:ext uri="{FF2B5EF4-FFF2-40B4-BE49-F238E27FC236}">
                <a16:creationId xmlns:a16="http://schemas.microsoft.com/office/drawing/2014/main" id="{0B77186C-06A1-49D4-B669-C3FABC0CD2A4}"/>
              </a:ext>
            </a:extLst>
          </p:cNvPr>
          <p:cNvCxnSpPr>
            <a:stCxn xmlns:a="http://schemas.openxmlformats.org/drawingml/2006/main" id="14" idx="3"/>
            <a:endCxn xmlns:a="http://schemas.openxmlformats.org/drawingml/2006/main" id="18" idx="1"/>
          </p:cNvCxnSpPr>
          <p:nvPr/>
        </p:nvCxnSpPr>
        <p:spPr>
          <a:xfrm xmlns:a="http://schemas.openxmlformats.org/drawingml/2006/main">
            <a:off x="7248525" y="4376738"/>
            <a:ext cx="10191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0ED214A6-CF0D-4767-A4C7-C7B136FC7EF1}"/>
              </a:ext>
            </a:extLst>
          </p:cNvPr>
          <p:cNvCxnSpPr>
            <a:stCxn xmlns:a="http://schemas.openxmlformats.org/drawingml/2006/main" id="10" idx="3"/>
            <a:endCxn xmlns:a="http://schemas.openxmlformats.org/drawingml/2006/main" id="14" idx="1"/>
          </p:cNvCxnSpPr>
          <p:nvPr/>
        </p:nvCxnSpPr>
        <p:spPr>
          <a:xfrm xmlns:a="http://schemas.openxmlformats.org/drawingml/2006/main">
            <a:off x="3467100" y="4376738"/>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1988997C-D643-4415-BB99-5CA1C3E4C574}"/>
              </a:ext>
            </a:extLst>
          </p:cNvPr>
          <p:cNvCxnSpPr>
            <a:stCxn xmlns:a="http://schemas.openxmlformats.org/drawingml/2006/main" id="6" idx="2"/>
            <a:endCxn xmlns:a="http://schemas.openxmlformats.org/drawingml/2006/main" id="14" idx="0"/>
          </p:cNvCxnSpPr>
          <p:nvPr/>
        </p:nvCxnSpPr>
        <p:spPr>
          <a:xfrm xmlns:a="http://schemas.openxmlformats.org/drawingml/2006/main">
            <a:off x="5848350" y="3009900"/>
            <a:ext cx="0" cy="47625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sp>
        <p:nvSpPr>
          <p:cNvPr id="42" name="slide-title">
            <a:extLst xmlns:a="http://schemas.openxmlformats.org/drawingml/2006/main">
              <a:ext uri="{FF2B5EF4-FFF2-40B4-BE49-F238E27FC236}">
                <a16:creationId xmlns:a16="http://schemas.microsoft.com/office/drawing/2014/main" id="{EB2B2DE7-560B-4681-BE23-DACD35D4881C}"/>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Path 1: Daily licensed-user inventory</a:t>
            </a:r>
          </a:p>
        </p:txBody>
      </p:sp>
      <p:sp>
        <p:nvSpPr>
          <p:cNvPr id="2" name="slide-subtitle">
            <a:extLst xmlns:a="http://schemas.openxmlformats.org/drawingml/2006/main">
              <a:ext uri="{FF2B5EF4-FFF2-40B4-BE49-F238E27FC236}">
                <a16:creationId xmlns:a16="http://schemas.microsoft.com/office/drawing/2014/main" id="{A268BE94-F6BD-4E4A-83D1-97DB0AC17D71}"/>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Current task: deploy and validate the GitHub App collector</a:t>
            </a:r>
          </a:p>
        </p:txBody>
      </p:sp>
      <p:sp>
        <p:nvSpPr>
          <p:cNvPr id="3" name="">
            <a:extLst xmlns:a="http://schemas.openxmlformats.org/drawingml/2006/main">
              <a:ext uri="{FF2B5EF4-FFF2-40B4-BE49-F238E27FC236}">
                <a16:creationId xmlns:a16="http://schemas.microsoft.com/office/drawing/2014/main" id="{F8A307AE-EC94-4158-AEEC-BA3C39E7D63D}"/>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AF725288-5013-4F6D-87D8-7576F17626E4}"/>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44A5A15E-CC15-4353-8C5F-A9C0FC9CD312}"/>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4</a:t>
            </a:r>
          </a:p>
        </p:txBody>
      </p:sp>
      <p:sp>
        <p:nvSpPr>
          <p:cNvPr id="6" name="Cloud Scheduler">
            <a:extLst xmlns:a="http://schemas.openxmlformats.org/drawingml/2006/main">
              <a:ext uri="{FF2B5EF4-FFF2-40B4-BE49-F238E27FC236}">
                <a16:creationId xmlns:a16="http://schemas.microsoft.com/office/drawing/2014/main" id="{899903AE-F1C7-4155-A658-D6E683B5DCFC}"/>
              </a:ext>
            </a:extLst>
          </p:cNvPr>
          <p:cNvSpPr>
            <a:spLocks xmlns:a="http://schemas.openxmlformats.org/drawingml/2006/main" noGrp="1"/>
          </p:cNvSpPr>
          <p:nvPr/>
        </p:nvSpPr>
        <p:spPr>
          <a:xfrm xmlns:a="http://schemas.openxmlformats.org/drawingml/2006/main">
            <a:off x="4448175" y="1819275"/>
            <a:ext cx="2800350" cy="1190625"/>
          </a:xfrm>
          <a:prstGeom xmlns:a="http://schemas.openxmlformats.org/drawingml/2006/main" prst="roundRect">
            <a:avLst>
              <a:gd name="adj" fmla="val 7200"/>
            </a:avLst>
          </a:prstGeom>
          <a:solidFill xmlns:a="http://schemas.openxmlformats.org/drawingml/2006/main">
            <a:srgbClr val="F3F7FB"/>
          </a:solidFill>
          <a:ln xmlns:a="http://schemas.openxmlformats.org/drawingml/2006/main" w="13335">
            <a:solidFill>
              <a:srgbClr val="3276D2"/>
            </a:solidFill>
            <a:prstDash val="solid"/>
          </a:ln>
        </p:spPr>
      </p:sp>
      <p:pic>
        <p:nvPicPr>
          <p:cNvPr id="7" name="">
            <a:extLst xmlns:a="http://schemas.openxmlformats.org/drawingml/2006/main">
              <a:ext uri="{FF2B5EF4-FFF2-40B4-BE49-F238E27FC236}">
                <a16:creationId xmlns:a16="http://schemas.microsoft.com/office/drawing/2014/main" id="{A848207E-CB19-4908-A3DB-B77863DEA4D5}"/>
              </a:ext>
            </a:extLst>
          </p:cNvPr>
          <p:cNvPicPr>
            <a:picLocks xmlns:a="http://schemas.openxmlformats.org/drawingml/2006/main" noChangeAspect="1"/>
          </p:cNvPicPr>
          <p:nvPr/>
        </p:nvPicPr>
        <p:blipFill>
          <a:blip xmlns:r="http://schemas.openxmlformats.org/officeDocument/2006/relationships" xmlns:a="http://schemas.openxmlformats.org/drawingml/2006/main" r:embed="R8eb91575033b473a"/>
          <a:stretch xmlns:a="http://schemas.openxmlformats.org/drawingml/2006/main"/>
        </p:blipFill>
        <p:spPr>
          <a:xfrm xmlns:a="http://schemas.openxmlformats.org/drawingml/2006/main">
            <a:off x="4638675" y="2000250"/>
            <a:ext cx="457200" cy="4572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0E7302A-37A7-4A80-849A-60DE7F72A012}"/>
              </a:ext>
            </a:extLst>
          </p:cNvPr>
          <p:cNvSpPr>
            <a:spLocks xmlns:a="http://schemas.openxmlformats.org/drawingml/2006/main" noGrp="1"/>
          </p:cNvSpPr>
          <p:nvPr/>
        </p:nvSpPr>
        <p:spPr>
          <a:xfrm xmlns:a="http://schemas.openxmlformats.org/drawingml/2006/main">
            <a:off x="5257800" y="2000250"/>
            <a:ext cx="1847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Cloud Scheduler</a:t>
            </a:r>
          </a:p>
        </p:txBody>
      </p:sp>
      <p:sp>
        <p:nvSpPr>
          <p:cNvPr id="9" name="text">
            <a:extLst xmlns:a="http://schemas.openxmlformats.org/drawingml/2006/main">
              <a:ext uri="{FF2B5EF4-FFF2-40B4-BE49-F238E27FC236}">
                <a16:creationId xmlns:a16="http://schemas.microsoft.com/office/drawing/2014/main" id="{78E48D11-9BA6-40AF-A730-01C9CF4F2E99}"/>
              </a:ext>
            </a:extLst>
          </p:cNvPr>
          <p:cNvSpPr>
            <a:spLocks xmlns:a="http://schemas.openxmlformats.org/drawingml/2006/main" noGrp="1"/>
          </p:cNvSpPr>
          <p:nvPr/>
        </p:nvSpPr>
        <p:spPr>
          <a:xfrm xmlns:a="http://schemas.openxmlformats.org/drawingml/2006/main">
            <a:off x="4648200" y="26384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Daily execution</a:t>
            </a:r>
          </a:p>
        </p:txBody>
      </p:sp>
      <p:sp>
        <p:nvSpPr>
          <p:cNvPr id="10" name="GitHub Enterprise">
            <a:extLst xmlns:a="http://schemas.openxmlformats.org/drawingml/2006/main">
              <a:ext uri="{FF2B5EF4-FFF2-40B4-BE49-F238E27FC236}">
                <a16:creationId xmlns:a16="http://schemas.microsoft.com/office/drawing/2014/main" id="{F33AADFB-6288-4C8D-9974-A40E353B2F14}"/>
              </a:ext>
            </a:extLst>
          </p:cNvPr>
          <p:cNvSpPr>
            <a:spLocks xmlns:a="http://schemas.openxmlformats.org/drawingml/2006/main" noGrp="1"/>
          </p:cNvSpPr>
          <p:nvPr/>
        </p:nvSpPr>
        <p:spPr>
          <a:xfrm xmlns:a="http://schemas.openxmlformats.org/drawingml/2006/main">
            <a:off x="685800" y="3486150"/>
            <a:ext cx="2781300" cy="1781175"/>
          </a:xfrm>
          <a:prstGeom xmlns:a="http://schemas.openxmlformats.org/drawingml/2006/main" prst="roundRect">
            <a:avLst>
              <a:gd name="adj" fmla="val 4813"/>
            </a:avLst>
          </a:prstGeom>
          <a:solidFill xmlns:a="http://schemas.openxmlformats.org/drawingml/2006/main">
            <a:srgbClr val="F3F7FB"/>
          </a:solidFill>
          <a:ln xmlns:a="http://schemas.openxmlformats.org/drawingml/2006/main" w="13335">
            <a:solidFill>
              <a:srgbClr val="3276D2"/>
            </a:solidFill>
            <a:prstDash val="solid"/>
          </a:ln>
        </p:spPr>
      </p:sp>
      <p:pic>
        <p:nvPicPr>
          <p:cNvPr id="11" name="">
            <a:extLst xmlns:a="http://schemas.openxmlformats.org/drawingml/2006/main">
              <a:ext uri="{FF2B5EF4-FFF2-40B4-BE49-F238E27FC236}">
                <a16:creationId xmlns:a16="http://schemas.microsoft.com/office/drawing/2014/main" id="{B279B689-09D9-4CAF-9490-F5B6FA3F030D}"/>
              </a:ext>
            </a:extLst>
          </p:cNvPr>
          <p:cNvPicPr>
            <a:picLocks xmlns:a="http://schemas.openxmlformats.org/drawingml/2006/main" noChangeAspect="1"/>
          </p:cNvPicPr>
          <p:nvPr/>
        </p:nvPicPr>
        <p:blipFill>
          <a:blip xmlns:r="http://schemas.openxmlformats.org/officeDocument/2006/relationships" xmlns:a="http://schemas.openxmlformats.org/drawingml/2006/main" r:embed="R8008f7d398d04ec3">
            <a:extLst>
              <a:ext uri="{96DAC541-7B7A-43D3-8B79-37D633B846F1}">
                <asvg:svgBlip xmlns:asvg="http://schemas.microsoft.com/office/drawing/2016/SVG/main" r:embed="R95af0ba7bc294a47"/>
              </a:ext>
            </a:extLst>
          </a:blip>
          <a:stretch xmlns:a="http://schemas.openxmlformats.org/drawingml/2006/main"/>
        </p:blipFill>
        <p:spPr>
          <a:xfrm xmlns:a="http://schemas.openxmlformats.org/drawingml/2006/main">
            <a:off x="876300" y="3667125"/>
            <a:ext cx="457200" cy="45720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F31C1E63-F5D4-4A5A-90F8-08FFF0865B30}"/>
              </a:ext>
            </a:extLst>
          </p:cNvPr>
          <p:cNvSpPr>
            <a:spLocks xmlns:a="http://schemas.openxmlformats.org/drawingml/2006/main" noGrp="1"/>
          </p:cNvSpPr>
          <p:nvPr/>
        </p:nvSpPr>
        <p:spPr>
          <a:xfrm xmlns:a="http://schemas.openxmlformats.org/drawingml/2006/main">
            <a:off x="1495425" y="3667125"/>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GitHub Enterprise</a:t>
            </a:r>
          </a:p>
        </p:txBody>
      </p:sp>
      <p:sp>
        <p:nvSpPr>
          <p:cNvPr id="13" name="text">
            <a:extLst xmlns:a="http://schemas.openxmlformats.org/drawingml/2006/main">
              <a:ext uri="{FF2B5EF4-FFF2-40B4-BE49-F238E27FC236}">
                <a16:creationId xmlns:a16="http://schemas.microsoft.com/office/drawing/2014/main" id="{3A7CBD87-A31E-4652-9A64-1DBEE5543281}"/>
              </a:ext>
            </a:extLst>
          </p:cNvPr>
          <p:cNvSpPr>
            <a:spLocks xmlns:a="http://schemas.openxmlformats.org/drawingml/2006/main" noGrp="1"/>
          </p:cNvSpPr>
          <p:nvPr/>
        </p:nvSpPr>
        <p:spPr>
          <a:xfrm xmlns:a="http://schemas.openxmlformats.org/drawingml/2006/main">
            <a:off x="885825" y="4352925"/>
            <a:ext cx="23812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consumed-licenses API</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All result pages</a:t>
            </a:r>
          </a:p>
        </p:txBody>
      </p:sp>
      <p:sp>
        <p:nvSpPr>
          <p:cNvPr id="14" name="Cloud Run Job">
            <a:extLst xmlns:a="http://schemas.openxmlformats.org/drawingml/2006/main">
              <a:ext uri="{FF2B5EF4-FFF2-40B4-BE49-F238E27FC236}">
                <a16:creationId xmlns:a16="http://schemas.microsoft.com/office/drawing/2014/main" id="{94DF1490-6518-478B-A1D9-43944A2CFB4C}"/>
              </a:ext>
            </a:extLst>
          </p:cNvPr>
          <p:cNvSpPr>
            <a:spLocks xmlns:a="http://schemas.openxmlformats.org/drawingml/2006/main" noGrp="1"/>
          </p:cNvSpPr>
          <p:nvPr/>
        </p:nvSpPr>
        <p:spPr>
          <a:xfrm xmlns:a="http://schemas.openxmlformats.org/drawingml/2006/main">
            <a:off x="4448175" y="3486150"/>
            <a:ext cx="2800350" cy="1781175"/>
          </a:xfrm>
          <a:prstGeom xmlns:a="http://schemas.openxmlformats.org/drawingml/2006/main" prst="roundRect">
            <a:avLst>
              <a:gd name="adj" fmla="val 4813"/>
            </a:avLst>
          </a:prstGeom>
          <a:solidFill xmlns:a="http://schemas.openxmlformats.org/drawingml/2006/main">
            <a:srgbClr val="EAF7F6"/>
          </a:solidFill>
          <a:ln xmlns:a="http://schemas.openxmlformats.org/drawingml/2006/main" w="13335">
            <a:solidFill>
              <a:srgbClr val="008A91"/>
            </a:solidFill>
            <a:prstDash val="solid"/>
          </a:ln>
        </p:spPr>
      </p:sp>
      <p:pic>
        <p:nvPicPr>
          <p:cNvPr id="15" name="">
            <a:extLst xmlns:a="http://schemas.openxmlformats.org/drawingml/2006/main">
              <a:ext uri="{FF2B5EF4-FFF2-40B4-BE49-F238E27FC236}">
                <a16:creationId xmlns:a16="http://schemas.microsoft.com/office/drawing/2014/main" id="{1BD95237-13E7-424A-A3CC-3D6B764FFDE0}"/>
              </a:ext>
            </a:extLst>
          </p:cNvPr>
          <p:cNvPicPr>
            <a:picLocks xmlns:a="http://schemas.openxmlformats.org/drawingml/2006/main" noChangeAspect="1"/>
          </p:cNvPicPr>
          <p:nvPr/>
        </p:nvPicPr>
        <p:blipFill>
          <a:blip xmlns:r="http://schemas.openxmlformats.org/officeDocument/2006/relationships" xmlns:a="http://schemas.openxmlformats.org/drawingml/2006/main" r:embed="R8c6f5065b6154de9"/>
          <a:stretch xmlns:a="http://schemas.openxmlformats.org/drawingml/2006/main"/>
        </p:blipFill>
        <p:spPr>
          <a:xfrm xmlns:a="http://schemas.openxmlformats.org/drawingml/2006/main">
            <a:off x="4638675" y="3667125"/>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89A676F0-0F6A-4695-B5D6-96F41EF873B5}"/>
              </a:ext>
            </a:extLst>
          </p:cNvPr>
          <p:cNvSpPr>
            <a:spLocks xmlns:a="http://schemas.openxmlformats.org/drawingml/2006/main" noGrp="1"/>
          </p:cNvSpPr>
          <p:nvPr/>
        </p:nvSpPr>
        <p:spPr>
          <a:xfrm xmlns:a="http://schemas.openxmlformats.org/drawingml/2006/main">
            <a:off x="5257800" y="3667125"/>
            <a:ext cx="1847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Cloud Run Job</a:t>
            </a:r>
          </a:p>
        </p:txBody>
      </p:sp>
      <p:sp>
        <p:nvSpPr>
          <p:cNvPr id="17" name="text">
            <a:extLst xmlns:a="http://schemas.openxmlformats.org/drawingml/2006/main">
              <a:ext uri="{FF2B5EF4-FFF2-40B4-BE49-F238E27FC236}">
                <a16:creationId xmlns:a16="http://schemas.microsoft.com/office/drawing/2014/main" id="{C623B569-4FE6-4B04-8886-3A3FD7F5EE86}"/>
              </a:ext>
            </a:extLst>
          </p:cNvPr>
          <p:cNvSpPr>
            <a:spLocks xmlns:a="http://schemas.openxmlformats.org/drawingml/2006/main" noGrp="1"/>
          </p:cNvSpPr>
          <p:nvPr/>
        </p:nvSpPr>
        <p:spPr>
          <a:xfrm xmlns:a="http://schemas.openxmlformats.org/drawingml/2006/main">
            <a:off x="4648200" y="4352925"/>
            <a:ext cx="24003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GitHub App token</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Fetch and normalize users</a:t>
            </a:r>
          </a:p>
        </p:txBody>
      </p:sp>
      <p:sp>
        <p:nvSpPr>
          <p:cNvPr id="18" name="Cloud Storage">
            <a:extLst xmlns:a="http://schemas.openxmlformats.org/drawingml/2006/main">
              <a:ext uri="{FF2B5EF4-FFF2-40B4-BE49-F238E27FC236}">
                <a16:creationId xmlns:a16="http://schemas.microsoft.com/office/drawing/2014/main" id="{781E39D3-3B2C-4551-9BBE-8B24848444F7}"/>
              </a:ext>
            </a:extLst>
          </p:cNvPr>
          <p:cNvSpPr>
            <a:spLocks xmlns:a="http://schemas.openxmlformats.org/drawingml/2006/main" noGrp="1"/>
          </p:cNvSpPr>
          <p:nvPr/>
        </p:nvSpPr>
        <p:spPr>
          <a:xfrm xmlns:a="http://schemas.openxmlformats.org/drawingml/2006/main">
            <a:off x="8267700" y="3486150"/>
            <a:ext cx="2800350" cy="1781175"/>
          </a:xfrm>
          <a:prstGeom xmlns:a="http://schemas.openxmlformats.org/drawingml/2006/main" prst="roundRect">
            <a:avLst>
              <a:gd name="adj" fmla="val 4813"/>
            </a:avLst>
          </a:prstGeom>
          <a:solidFill xmlns:a="http://schemas.openxmlformats.org/drawingml/2006/main">
            <a:srgbClr val="F3F7FB"/>
          </a:solidFill>
          <a:ln xmlns:a="http://schemas.openxmlformats.org/drawingml/2006/main" w="13335">
            <a:solidFill>
              <a:srgbClr val="3276D2"/>
            </a:solidFill>
            <a:prstDash val="solid"/>
          </a:ln>
        </p:spPr>
      </p:sp>
      <p:pic>
        <p:nvPicPr>
          <p:cNvPr id="19" name="">
            <a:extLst xmlns:a="http://schemas.openxmlformats.org/drawingml/2006/main">
              <a:ext uri="{FF2B5EF4-FFF2-40B4-BE49-F238E27FC236}">
                <a16:creationId xmlns:a16="http://schemas.microsoft.com/office/drawing/2014/main" id="{F9A9850E-6D44-4D31-8061-10E3C9231638}"/>
              </a:ext>
            </a:extLst>
          </p:cNvPr>
          <p:cNvPicPr>
            <a:picLocks xmlns:a="http://schemas.openxmlformats.org/drawingml/2006/main" noChangeAspect="1"/>
          </p:cNvPicPr>
          <p:nvPr/>
        </p:nvPicPr>
        <p:blipFill>
          <a:blip xmlns:r="http://schemas.openxmlformats.org/officeDocument/2006/relationships" xmlns:a="http://schemas.openxmlformats.org/drawingml/2006/main" r:embed="R972df6f9a4bc4371"/>
          <a:stretch xmlns:a="http://schemas.openxmlformats.org/drawingml/2006/main"/>
        </p:blipFill>
        <p:spPr>
          <a:xfrm xmlns:a="http://schemas.openxmlformats.org/drawingml/2006/main">
            <a:off x="8458200" y="3667125"/>
            <a:ext cx="457200" cy="457200"/>
          </a:xfrm>
          <a:prstGeom xmlns:a="http://schemas.openxmlformats.org/drawingml/2006/main" prst="rect">
            <a:avLst/>
          </a:prstGeom>
        </p:spPr>
      </p:pic>
      <p:sp>
        <p:nvSpPr>
          <p:cNvPr id="20" name="text">
            <a:extLst xmlns:a="http://schemas.openxmlformats.org/drawingml/2006/main">
              <a:ext uri="{FF2B5EF4-FFF2-40B4-BE49-F238E27FC236}">
                <a16:creationId xmlns:a16="http://schemas.microsoft.com/office/drawing/2014/main" id="{05918203-7251-4F1F-8958-CF908A2FF6EA}"/>
              </a:ext>
            </a:extLst>
          </p:cNvPr>
          <p:cNvSpPr>
            <a:spLocks xmlns:a="http://schemas.openxmlformats.org/drawingml/2006/main" noGrp="1"/>
          </p:cNvSpPr>
          <p:nvPr/>
        </p:nvSpPr>
        <p:spPr>
          <a:xfrm xmlns:a="http://schemas.openxmlformats.org/drawingml/2006/main">
            <a:off x="9077325" y="3667125"/>
            <a:ext cx="1847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Cloud Storage</a:t>
            </a:r>
          </a:p>
        </p:txBody>
      </p:sp>
      <p:sp>
        <p:nvSpPr>
          <p:cNvPr id="21" name="text">
            <a:extLst xmlns:a="http://schemas.openxmlformats.org/drawingml/2006/main">
              <a:ext uri="{FF2B5EF4-FFF2-40B4-BE49-F238E27FC236}">
                <a16:creationId xmlns:a16="http://schemas.microsoft.com/office/drawing/2014/main" id="{501F696E-425B-40CD-89A3-6BC526C0D124}"/>
              </a:ext>
            </a:extLst>
          </p:cNvPr>
          <p:cNvSpPr>
            <a:spLocks xmlns:a="http://schemas.openxmlformats.org/drawingml/2006/main" noGrp="1"/>
          </p:cNvSpPr>
          <p:nvPr/>
        </p:nvSpPr>
        <p:spPr>
          <a:xfrm xmlns:a="http://schemas.openxmlformats.org/drawingml/2006/main">
            <a:off x="8467725" y="4352925"/>
            <a:ext cx="24003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Raw pages and manifest</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Canonical load file</a:t>
            </a:r>
          </a:p>
        </p:txBody>
      </p:sp>
      <p:sp>
        <p:nvSpPr>
          <p:cNvPr id="22" name="BigQuery">
            <a:extLst xmlns:a="http://schemas.openxmlformats.org/drawingml/2006/main">
              <a:ext uri="{FF2B5EF4-FFF2-40B4-BE49-F238E27FC236}">
                <a16:creationId xmlns:a16="http://schemas.microsoft.com/office/drawing/2014/main" id="{525EA3E5-7A51-4D4B-91AD-C5E26F7C2CB8}"/>
              </a:ext>
            </a:extLst>
          </p:cNvPr>
          <p:cNvSpPr>
            <a:spLocks xmlns:a="http://schemas.openxmlformats.org/drawingml/2006/main" noGrp="1"/>
          </p:cNvSpPr>
          <p:nvPr/>
        </p:nvSpPr>
        <p:spPr>
          <a:xfrm xmlns:a="http://schemas.openxmlformats.org/drawingml/2006/main">
            <a:off x="12049125" y="3486150"/>
            <a:ext cx="2505075" cy="1781175"/>
          </a:xfrm>
          <a:prstGeom xmlns:a="http://schemas.openxmlformats.org/drawingml/2006/main" prst="roundRect">
            <a:avLst>
              <a:gd name="adj" fmla="val 4813"/>
            </a:avLst>
          </a:prstGeom>
          <a:solidFill xmlns:a="http://schemas.openxmlformats.org/drawingml/2006/main">
            <a:srgbClr val="F3F7FB"/>
          </a:solidFill>
          <a:ln xmlns:a="http://schemas.openxmlformats.org/drawingml/2006/main" w="13335">
            <a:solidFill>
              <a:srgbClr val="3276D2"/>
            </a:solidFill>
            <a:prstDash val="solid"/>
          </a:ln>
        </p:spPr>
      </p:sp>
      <p:pic>
        <p:nvPicPr>
          <p:cNvPr id="23" name="">
            <a:extLst xmlns:a="http://schemas.openxmlformats.org/drawingml/2006/main">
              <a:ext uri="{FF2B5EF4-FFF2-40B4-BE49-F238E27FC236}">
                <a16:creationId xmlns:a16="http://schemas.microsoft.com/office/drawing/2014/main" id="{85B87FB1-794D-4253-AD5F-C2A4D3EF2FA6}"/>
              </a:ext>
            </a:extLst>
          </p:cNvPr>
          <p:cNvPicPr>
            <a:picLocks xmlns:a="http://schemas.openxmlformats.org/drawingml/2006/main" noChangeAspect="1"/>
          </p:cNvPicPr>
          <p:nvPr/>
        </p:nvPicPr>
        <p:blipFill>
          <a:blip xmlns:r="http://schemas.openxmlformats.org/officeDocument/2006/relationships" xmlns:a="http://schemas.openxmlformats.org/drawingml/2006/main" r:embed="Rff5b0e7865064484"/>
          <a:stretch xmlns:a="http://schemas.openxmlformats.org/drawingml/2006/main"/>
        </p:blipFill>
        <p:spPr>
          <a:xfrm xmlns:a="http://schemas.openxmlformats.org/drawingml/2006/main">
            <a:off x="12239625" y="3667125"/>
            <a:ext cx="457200" cy="457200"/>
          </a:xfrm>
          <a:prstGeom xmlns:a="http://schemas.openxmlformats.org/drawingml/2006/main" prst="rect">
            <a:avLst/>
          </a:prstGeom>
        </p:spPr>
      </p:pic>
      <p:sp>
        <p:nvSpPr>
          <p:cNvPr id="24" name="text">
            <a:extLst xmlns:a="http://schemas.openxmlformats.org/drawingml/2006/main">
              <a:ext uri="{FF2B5EF4-FFF2-40B4-BE49-F238E27FC236}">
                <a16:creationId xmlns:a16="http://schemas.microsoft.com/office/drawing/2014/main" id="{2BDD7877-4ACD-4C01-A7B5-697D59EB8416}"/>
              </a:ext>
            </a:extLst>
          </p:cNvPr>
          <p:cNvSpPr>
            <a:spLocks xmlns:a="http://schemas.openxmlformats.org/drawingml/2006/main" noGrp="1"/>
          </p:cNvSpPr>
          <p:nvPr/>
        </p:nvSpPr>
        <p:spPr>
          <a:xfrm xmlns:a="http://schemas.openxmlformats.org/drawingml/2006/main">
            <a:off x="12858750" y="3667125"/>
            <a:ext cx="15525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BigQuery</a:t>
            </a:r>
          </a:p>
        </p:txBody>
      </p:sp>
      <p:sp>
        <p:nvSpPr>
          <p:cNvPr id="25" name="text">
            <a:extLst xmlns:a="http://schemas.openxmlformats.org/drawingml/2006/main">
              <a:ext uri="{FF2B5EF4-FFF2-40B4-BE49-F238E27FC236}">
                <a16:creationId xmlns:a16="http://schemas.microsoft.com/office/drawing/2014/main" id="{2451EC2B-9F19-416E-8F8D-C06D053E0805}"/>
              </a:ext>
            </a:extLst>
          </p:cNvPr>
          <p:cNvSpPr>
            <a:spLocks xmlns:a="http://schemas.openxmlformats.org/drawingml/2006/main" noGrp="1"/>
          </p:cNvSpPr>
          <p:nvPr/>
        </p:nvSpPr>
        <p:spPr>
          <a:xfrm xmlns:a="http://schemas.openxmlformats.org/drawingml/2006/main">
            <a:off x="12249150" y="4352925"/>
            <a:ext cx="21050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Snapshot rows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Run validation</a:t>
            </a:r>
          </a:p>
        </p:txBody>
      </p:sp>
      <p:sp>
        <p:nvSpPr>
          <p:cNvPr id="30" name="text">
            <a:extLst xmlns:a="http://schemas.openxmlformats.org/drawingml/2006/main">
              <a:ext uri="{FF2B5EF4-FFF2-40B4-BE49-F238E27FC236}">
                <a16:creationId xmlns:a16="http://schemas.microsoft.com/office/drawing/2014/main" id="{6E2A6EB6-77A6-4147-804F-109061552050}"/>
              </a:ext>
            </a:extLst>
          </p:cNvPr>
          <p:cNvSpPr>
            <a:spLocks xmlns:a="http://schemas.openxmlformats.org/drawingml/2006/main" noGrp="1"/>
          </p:cNvSpPr>
          <p:nvPr/>
        </p:nvSpPr>
        <p:spPr>
          <a:xfrm xmlns:a="http://schemas.openxmlformats.org/drawingml/2006/main">
            <a:off x="3590925" y="407670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575" b="0">
                <a:solidFill>
                  <a:srgbClr val="5B6F83"/>
                </a:solidFill>
                <a:latin typeface="Nimbus Sans"/>
                <a:ea typeface="Nimbus Sans"/>
                <a:cs typeface="Nimbus Sans"/>
              </a:defRPr>
            </a:defPPr>
          </a:lstStyle>
          <a:p xmlns:a="http://schemas.openxmlformats.org/drawingml/2006/main">
            <a:pPr algn="ctr">
              <a:defRPr sz="1575" b="0">
                <a:solidFill>
                  <a:srgbClr val="5B6F83"/>
                </a:solidFill>
                <a:latin typeface="Nimbus Sans"/>
                <a:ea typeface="Nimbus Sans"/>
                <a:cs typeface="Nimbus Sans"/>
              </a:defRPr>
            </a:pPr>
            <a:r>
              <a:rPr sz="1575" b="0">
                <a:solidFill>
                  <a:srgbClr val="5B6F83"/>
                </a:solidFill>
                <a:latin typeface="Nimbus Sans"/>
                <a:ea typeface="Nimbus Sans"/>
                <a:cs typeface="Nimbus Sans"/>
              </a:rPr>
              <a:t>HTTPS</a:t>
            </a:r>
          </a:p>
        </p:txBody>
      </p:sp>
      <p:sp>
        <p:nvSpPr>
          <p:cNvPr id="31" name="Secret Manager">
            <a:extLst xmlns:a="http://schemas.openxmlformats.org/drawingml/2006/main">
              <a:ext uri="{FF2B5EF4-FFF2-40B4-BE49-F238E27FC236}">
                <a16:creationId xmlns:a16="http://schemas.microsoft.com/office/drawing/2014/main" id="{112F2DBF-7671-4CF6-A080-58B5F1B300A7}"/>
              </a:ext>
            </a:extLst>
          </p:cNvPr>
          <p:cNvSpPr>
            <a:spLocks xmlns:a="http://schemas.openxmlformats.org/drawingml/2006/main" noGrp="1"/>
          </p:cNvSpPr>
          <p:nvPr/>
        </p:nvSpPr>
        <p:spPr>
          <a:xfrm xmlns:a="http://schemas.openxmlformats.org/drawingml/2006/main">
            <a:off x="4448175" y="5905500"/>
            <a:ext cx="2800350" cy="1162050"/>
          </a:xfrm>
          <a:prstGeom xmlns:a="http://schemas.openxmlformats.org/drawingml/2006/main" prst="roundRect">
            <a:avLst>
              <a:gd name="adj" fmla="val 7377"/>
            </a:avLst>
          </a:prstGeom>
          <a:solidFill xmlns:a="http://schemas.openxmlformats.org/drawingml/2006/main">
            <a:srgbClr val="F3EFF8"/>
          </a:solidFill>
          <a:ln xmlns:a="http://schemas.openxmlformats.org/drawingml/2006/main" w="13335">
            <a:solidFill>
              <a:srgbClr val="7350A4"/>
            </a:solidFill>
            <a:prstDash val="solid"/>
          </a:ln>
        </p:spPr>
      </p:sp>
      <p:pic>
        <p:nvPicPr>
          <p:cNvPr id="32" name="">
            <a:extLst xmlns:a="http://schemas.openxmlformats.org/drawingml/2006/main">
              <a:ext uri="{FF2B5EF4-FFF2-40B4-BE49-F238E27FC236}">
                <a16:creationId xmlns:a16="http://schemas.microsoft.com/office/drawing/2014/main" id="{9D28D189-7AA8-47B8-98C4-F199698E6E53}"/>
              </a:ext>
            </a:extLst>
          </p:cNvPr>
          <p:cNvPicPr>
            <a:picLocks xmlns:a="http://schemas.openxmlformats.org/drawingml/2006/main" noChangeAspect="1"/>
          </p:cNvPicPr>
          <p:nvPr/>
        </p:nvPicPr>
        <p:blipFill>
          <a:blip xmlns:r="http://schemas.openxmlformats.org/officeDocument/2006/relationships" xmlns:a="http://schemas.openxmlformats.org/drawingml/2006/main" r:embed="R85bcd3e8601a406c"/>
          <a:stretch xmlns:a="http://schemas.openxmlformats.org/drawingml/2006/main"/>
        </p:blipFill>
        <p:spPr>
          <a:xfrm xmlns:a="http://schemas.openxmlformats.org/drawingml/2006/main">
            <a:off x="4638675" y="6086475"/>
            <a:ext cx="457200" cy="457200"/>
          </a:xfrm>
          <a:prstGeom xmlns:a="http://schemas.openxmlformats.org/drawingml/2006/main" prst="rect">
            <a:avLst/>
          </a:prstGeom>
        </p:spPr>
      </p:pic>
      <p:sp>
        <p:nvSpPr>
          <p:cNvPr id="33" name="text">
            <a:extLst xmlns:a="http://schemas.openxmlformats.org/drawingml/2006/main">
              <a:ext uri="{FF2B5EF4-FFF2-40B4-BE49-F238E27FC236}">
                <a16:creationId xmlns:a16="http://schemas.microsoft.com/office/drawing/2014/main" id="{B94AF2C6-5F52-423B-8BF9-57292C88319D}"/>
              </a:ext>
            </a:extLst>
          </p:cNvPr>
          <p:cNvSpPr>
            <a:spLocks xmlns:a="http://schemas.openxmlformats.org/drawingml/2006/main" noGrp="1"/>
          </p:cNvSpPr>
          <p:nvPr/>
        </p:nvSpPr>
        <p:spPr>
          <a:xfrm xmlns:a="http://schemas.openxmlformats.org/drawingml/2006/main">
            <a:off x="5257800" y="6086475"/>
            <a:ext cx="1847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Secret Manager</a:t>
            </a:r>
          </a:p>
        </p:txBody>
      </p:sp>
      <p:sp>
        <p:nvSpPr>
          <p:cNvPr id="34" name="text">
            <a:extLst xmlns:a="http://schemas.openxmlformats.org/drawingml/2006/main">
              <a:ext uri="{FF2B5EF4-FFF2-40B4-BE49-F238E27FC236}">
                <a16:creationId xmlns:a16="http://schemas.microsoft.com/office/drawing/2014/main" id="{D2A97C9D-2F2D-4C6C-9109-5C7A52A44012}"/>
              </a:ext>
            </a:extLst>
          </p:cNvPr>
          <p:cNvSpPr>
            <a:spLocks xmlns:a="http://schemas.openxmlformats.org/drawingml/2006/main" noGrp="1"/>
          </p:cNvSpPr>
          <p:nvPr/>
        </p:nvSpPr>
        <p:spPr>
          <a:xfrm xmlns:a="http://schemas.openxmlformats.org/drawingml/2006/main">
            <a:off x="4648200" y="6724650"/>
            <a:ext cx="2400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App private key</a:t>
            </a:r>
          </a:p>
        </p:txBody>
      </p:sp>
      <p:sp>
        <p:nvSpPr>
          <p:cNvPr id="36" name="Current licensed-user view">
            <a:extLst xmlns:a="http://schemas.openxmlformats.org/drawingml/2006/main">
              <a:ext uri="{FF2B5EF4-FFF2-40B4-BE49-F238E27FC236}">
                <a16:creationId xmlns:a16="http://schemas.microsoft.com/office/drawing/2014/main" id="{E9CFA373-5141-4E10-9A26-214CA2B00B07}"/>
              </a:ext>
            </a:extLst>
          </p:cNvPr>
          <p:cNvSpPr>
            <a:spLocks xmlns:a="http://schemas.openxmlformats.org/drawingml/2006/main" noGrp="1"/>
          </p:cNvSpPr>
          <p:nvPr/>
        </p:nvSpPr>
        <p:spPr>
          <a:xfrm xmlns:a="http://schemas.openxmlformats.org/drawingml/2006/main">
            <a:off x="8705850" y="5895975"/>
            <a:ext cx="5848350" cy="1171575"/>
          </a:xfrm>
          <a:prstGeom xmlns:a="http://schemas.openxmlformats.org/drawingml/2006/main" prst="roundRect">
            <a:avLst>
              <a:gd name="adj" fmla="val 7317"/>
            </a:avLst>
          </a:prstGeom>
          <a:solidFill xmlns:a="http://schemas.openxmlformats.org/drawingml/2006/main">
            <a:srgbClr val="EDF7F1"/>
          </a:solidFill>
          <a:ln xmlns:a="http://schemas.openxmlformats.org/drawingml/2006/main" w="13335">
            <a:solidFill>
              <a:srgbClr val="228455"/>
            </a:solidFill>
            <a:prstDash val="solid"/>
          </a:ln>
        </p:spPr>
      </p:sp>
      <p:pic>
        <p:nvPicPr>
          <p:cNvPr id="37" name="">
            <a:extLst xmlns:a="http://schemas.openxmlformats.org/drawingml/2006/main">
              <a:ext uri="{FF2B5EF4-FFF2-40B4-BE49-F238E27FC236}">
                <a16:creationId xmlns:a16="http://schemas.microsoft.com/office/drawing/2014/main" id="{417E875E-3680-4B63-A4BC-DC570B64120C}"/>
              </a:ext>
            </a:extLst>
          </p:cNvPr>
          <p:cNvPicPr>
            <a:picLocks xmlns:a="http://schemas.openxmlformats.org/drawingml/2006/main" noChangeAspect="1"/>
          </p:cNvPicPr>
          <p:nvPr/>
        </p:nvPicPr>
        <p:blipFill>
          <a:blip xmlns:r="http://schemas.openxmlformats.org/officeDocument/2006/relationships" xmlns:a="http://schemas.openxmlformats.org/drawingml/2006/main" r:embed="R58e644cf21024160">
            <a:extLst>
              <a:ext uri="{96DAC541-7B7A-43D3-8B79-37D633B846F1}">
                <asvg:svgBlip xmlns:asvg="http://schemas.microsoft.com/office/drawing/2016/SVG/main" r:embed="Re66a0f90696e4d3c"/>
              </a:ext>
            </a:extLst>
          </a:blip>
          <a:stretch xmlns:a="http://schemas.openxmlformats.org/drawingml/2006/main"/>
        </p:blipFill>
        <p:spPr>
          <a:xfrm xmlns:a="http://schemas.openxmlformats.org/drawingml/2006/main">
            <a:off x="8896350" y="6076950"/>
            <a:ext cx="457200" cy="457200"/>
          </a:xfrm>
          <a:prstGeom xmlns:a="http://schemas.openxmlformats.org/drawingml/2006/main" prst="rect">
            <a:avLst/>
          </a:prstGeom>
        </p:spPr>
      </p:pic>
      <p:sp>
        <p:nvSpPr>
          <p:cNvPr id="38" name="text">
            <a:extLst xmlns:a="http://schemas.openxmlformats.org/drawingml/2006/main">
              <a:ext uri="{FF2B5EF4-FFF2-40B4-BE49-F238E27FC236}">
                <a16:creationId xmlns:a16="http://schemas.microsoft.com/office/drawing/2014/main" id="{608E88CA-B1F9-43F5-94AF-E522C325488D}"/>
              </a:ext>
            </a:extLst>
          </p:cNvPr>
          <p:cNvSpPr>
            <a:spLocks xmlns:a="http://schemas.openxmlformats.org/drawingml/2006/main" noGrp="1"/>
          </p:cNvSpPr>
          <p:nvPr/>
        </p:nvSpPr>
        <p:spPr>
          <a:xfrm xmlns:a="http://schemas.openxmlformats.org/drawingml/2006/main">
            <a:off x="9515475" y="6076950"/>
            <a:ext cx="4895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112D49"/>
                </a:solidFill>
                <a:latin typeface="Nimbus Sans"/>
                <a:ea typeface="Nimbus Sans"/>
                <a:cs typeface="Nimbus Sans"/>
              </a:defRPr>
            </a:defPPr>
          </a:lstStyle>
          <a:p xmlns:a="http://schemas.openxmlformats.org/drawingml/2006/main">
            <a:pPr algn="l">
              <a:defRPr sz="2025" b="1">
                <a:solidFill>
                  <a:srgbClr val="112D49"/>
                </a:solidFill>
                <a:latin typeface="Nimbus Sans"/>
                <a:ea typeface="Nimbus Sans"/>
                <a:cs typeface="Nimbus Sans"/>
              </a:defRPr>
            </a:pPr>
            <a:r>
              <a:rPr sz="2025" b="1">
                <a:solidFill>
                  <a:srgbClr val="112D49"/>
                </a:solidFill>
                <a:latin typeface="Nimbus Sans"/>
                <a:ea typeface="Nimbus Sans"/>
                <a:cs typeface="Nimbus Sans"/>
              </a:rPr>
              <a:t>Current licensed-user view</a:t>
            </a:r>
          </a:p>
        </p:txBody>
      </p:sp>
      <p:sp>
        <p:nvSpPr>
          <p:cNvPr id="39" name="text">
            <a:extLst xmlns:a="http://schemas.openxmlformats.org/drawingml/2006/main">
              <a:ext uri="{FF2B5EF4-FFF2-40B4-BE49-F238E27FC236}">
                <a16:creationId xmlns:a16="http://schemas.microsoft.com/office/drawing/2014/main" id="{DA065994-31F9-499B-B29C-62AC1F000269}"/>
              </a:ext>
            </a:extLst>
          </p:cNvPr>
          <p:cNvSpPr>
            <a:spLocks xmlns:a="http://schemas.openxmlformats.org/drawingml/2006/main" noGrp="1"/>
          </p:cNvSpPr>
          <p:nvPr/>
        </p:nvSpPr>
        <p:spPr>
          <a:xfrm xmlns:a="http://schemas.openxmlformats.org/drawingml/2006/main">
            <a:off x="8905875" y="6715125"/>
            <a:ext cx="544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Publish only the latest COMPLETE run</a:t>
            </a:r>
          </a:p>
        </p:txBody>
      </p:sp>
      <p:sp>
        <p:nvSpPr>
          <p:cNvPr id="41" name="text">
            <a:extLst xmlns:a="http://schemas.openxmlformats.org/drawingml/2006/main">
              <a:ext uri="{FF2B5EF4-FFF2-40B4-BE49-F238E27FC236}">
                <a16:creationId xmlns:a16="http://schemas.microsoft.com/office/drawing/2014/main" id="{FCFDB2F9-79C5-43B9-8B12-225F25C8A952}"/>
              </a:ext>
            </a:extLst>
          </p:cNvPr>
          <p:cNvSpPr>
            <a:spLocks xmlns:a="http://schemas.openxmlformats.org/drawingml/2006/main" noGrp="1"/>
          </p:cNvSpPr>
          <p:nvPr/>
        </p:nvSpPr>
        <p:spPr>
          <a:xfrm xmlns:a="http://schemas.openxmlformats.org/drawingml/2006/main">
            <a:off x="695325" y="7334250"/>
            <a:ext cx="1343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073763"/>
                </a:solidFill>
                <a:latin typeface="Nimbus Sans"/>
                <a:ea typeface="Nimbus Sans"/>
                <a:cs typeface="Nimbus Sans"/>
              </a:defRPr>
            </a:defPPr>
          </a:lstStyle>
          <a:p xmlns:a="http://schemas.openxmlformats.org/drawingml/2006/main">
            <a:pPr algn="l">
              <a:defRPr sz="1875" b="1">
                <a:solidFill>
                  <a:srgbClr val="073763"/>
                </a:solidFill>
                <a:latin typeface="Nimbus Sans"/>
                <a:ea typeface="Nimbus Sans"/>
                <a:cs typeface="Nimbus Sans"/>
              </a:defRPr>
            </a:pPr>
            <a:r>
              <a:rPr sz="1875" b="1">
                <a:solidFill>
                  <a:srgbClr val="073763"/>
                </a:solidFill>
                <a:latin typeface="Nimbus Sans"/>
                <a:ea typeface="Nimbus Sans"/>
                <a:cs typeface="Nimbus Sans"/>
              </a:rPr>
              <a:t>Terraform owns tables, views, runtime configuration and IAM</a:t>
            </a:r>
          </a:p>
        </p:txBody>
      </p:sp>
    </p:spTree>
    <p:extLst>
      <p:ext uri="{BB962C8B-B14F-4D97-AF65-F5344CB8AC3E}">
        <p14:creationId xmlns:p14="http://schemas.microsoft.com/office/powerpoint/2010/main" val="20720556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F3C1FB49-C370-4F94-88E9-C0D827B2E036}"/>
              </a:ext>
            </a:extLst>
          </p:cNvPr>
          <p:cNvCxnSpPr>
            <a:stCxn xmlns:a="http://schemas.openxmlformats.org/drawingml/2006/main" id="25" idx="1"/>
            <a:endCxn xmlns:a="http://schemas.openxmlformats.org/drawingml/2006/main" id="29" idx="3"/>
          </p:cNvCxnSpPr>
          <p:nvPr/>
        </p:nvCxnSpPr>
        <p:spPr>
          <a:xfrm xmlns:a="http://schemas.openxmlformats.org/drawingml/2006/main" flipH="1">
            <a:off x="7229475" y="5767388"/>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FF7EAC97-2317-49F9-8026-BD6CED42FFBD}"/>
              </a:ext>
            </a:extLst>
          </p:cNvPr>
          <p:cNvCxnSpPr>
            <a:stCxn xmlns:a="http://schemas.openxmlformats.org/drawingml/2006/main" id="18" idx="2"/>
            <a:endCxn xmlns:a="http://schemas.openxmlformats.org/drawingml/2006/main" id="25" idx="3"/>
          </p:cNvCxnSpPr>
          <p:nvPr/>
        </p:nvCxnSpPr>
        <p:spPr>
          <a:xfrm xmlns:a="http://schemas.openxmlformats.org/drawingml/2006/main" flipH="1">
            <a:off x="10991850" y="3952875"/>
            <a:ext cx="2266950" cy="1814513"/>
          </a:xfrm>
          <a:prstGeom xmlns:a="http://schemas.openxmlformats.org/drawingml/2006/main" prst="bentConnector5">
            <a:avLst>
              <a:gd name="adj1" fmla="val 0"/>
              <a:gd name="adj2" fmla="val 12598"/>
              <a:gd name="adj3" fmla="val 89916"/>
            </a:avLst>
          </a:prstGeom>
          <a:ln xmlns:a="http://schemas.openxmlformats.org/drawingml/2006/main" w="22860">
            <a:solidFill>
              <a:srgbClr val="5B6F8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397D4FED-3EF6-421A-9692-BDF12F8D2911}"/>
              </a:ext>
            </a:extLst>
          </p:cNvPr>
          <p:cNvCxnSpPr>
            <a:stCxn xmlns:a="http://schemas.openxmlformats.org/drawingml/2006/main" id="14" idx="3"/>
            <a:endCxn xmlns:a="http://schemas.openxmlformats.org/drawingml/2006/main" id="18" idx="1"/>
          </p:cNvCxnSpPr>
          <p:nvPr/>
        </p:nvCxnSpPr>
        <p:spPr>
          <a:xfrm xmlns:a="http://schemas.openxmlformats.org/drawingml/2006/main">
            <a:off x="10991850" y="3071813"/>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1E86D3DA-9C38-4796-BB63-0361E3C8301C}"/>
              </a:ext>
            </a:extLst>
          </p:cNvPr>
          <p:cNvCxnSpPr>
            <a:stCxn xmlns:a="http://schemas.openxmlformats.org/drawingml/2006/main" id="10" idx="3"/>
            <a:endCxn xmlns:a="http://schemas.openxmlformats.org/drawingml/2006/main" id="14" idx="1"/>
          </p:cNvCxnSpPr>
          <p:nvPr/>
        </p:nvCxnSpPr>
        <p:spPr>
          <a:xfrm xmlns:a="http://schemas.openxmlformats.org/drawingml/2006/main">
            <a:off x="7229475" y="3071813"/>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A3D94DE-E523-48A0-9346-27E16F6774BB}"/>
              </a:ext>
            </a:extLst>
          </p:cNvPr>
          <p:cNvCxnSpPr>
            <a:stCxn xmlns:a="http://schemas.openxmlformats.org/drawingml/2006/main" id="6" idx="3"/>
            <a:endCxn xmlns:a="http://schemas.openxmlformats.org/drawingml/2006/main" id="10" idx="1"/>
          </p:cNvCxnSpPr>
          <p:nvPr/>
        </p:nvCxnSpPr>
        <p:spPr>
          <a:xfrm xmlns:a="http://schemas.openxmlformats.org/drawingml/2006/main">
            <a:off x="3467100" y="3071813"/>
            <a:ext cx="9810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sp>
        <p:nvSpPr>
          <p:cNvPr id="40" name="slide-title">
            <a:extLst xmlns:a="http://schemas.openxmlformats.org/drawingml/2006/main">
              <a:ext uri="{FF2B5EF4-FFF2-40B4-BE49-F238E27FC236}">
                <a16:creationId xmlns:a16="http://schemas.microsoft.com/office/drawing/2014/main" id="{AD0E9BBA-7141-495C-B556-1E13F173C7A2}"/>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Path 2: Reuse the GitHub audit stream</a:t>
            </a:r>
          </a:p>
        </p:txBody>
      </p:sp>
      <p:sp>
        <p:nvSpPr>
          <p:cNvPr id="2" name="slide-subtitle">
            <a:extLst xmlns:a="http://schemas.openxmlformats.org/drawingml/2006/main">
              <a:ext uri="{FF2B5EF4-FFF2-40B4-BE49-F238E27FC236}">
                <a16:creationId xmlns:a16="http://schemas.microsoft.com/office/drawing/2014/main" id="{B08D0311-8A01-4337-A7D7-60D4C6EA1994}"/>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Existing collection supplies activity evidence. A new aggregation layer makes it inexpensive to report</a:t>
            </a:r>
          </a:p>
        </p:txBody>
      </p:sp>
      <p:sp>
        <p:nvSpPr>
          <p:cNvPr id="3" name="">
            <a:extLst xmlns:a="http://schemas.openxmlformats.org/drawingml/2006/main">
              <a:ext uri="{FF2B5EF4-FFF2-40B4-BE49-F238E27FC236}">
                <a16:creationId xmlns:a16="http://schemas.microsoft.com/office/drawing/2014/main" id="{F27171C1-6224-4692-8064-D382EE84ED80}"/>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2840B424-F17E-46EE-83CE-3F12C5DBEE85}"/>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EA076C5C-FD06-48D4-B9BE-741F90E9BEF8}"/>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5</a:t>
            </a:r>
          </a:p>
        </p:txBody>
      </p:sp>
      <p:sp>
        <p:nvSpPr>
          <p:cNvPr id="6" name="GitHub audit stream">
            <a:extLst xmlns:a="http://schemas.openxmlformats.org/drawingml/2006/main">
              <a:ext uri="{FF2B5EF4-FFF2-40B4-BE49-F238E27FC236}">
                <a16:creationId xmlns:a16="http://schemas.microsoft.com/office/drawing/2014/main" id="{79122FB8-5171-4D0F-BAF2-FA890DE38BC6}"/>
              </a:ext>
            </a:extLst>
          </p:cNvPr>
          <p:cNvSpPr>
            <a:spLocks xmlns:a="http://schemas.openxmlformats.org/drawingml/2006/main" noGrp="1"/>
          </p:cNvSpPr>
          <p:nvPr/>
        </p:nvSpPr>
        <p:spPr>
          <a:xfrm xmlns:a="http://schemas.openxmlformats.org/drawingml/2006/main">
            <a:off x="685800" y="2190750"/>
            <a:ext cx="2781300" cy="1762125"/>
          </a:xfrm>
          <a:prstGeom xmlns:a="http://schemas.openxmlformats.org/drawingml/2006/main" prst="roundRect">
            <a:avLst>
              <a:gd name="adj" fmla="val 4865"/>
            </a:avLst>
          </a:prstGeom>
          <a:solidFill xmlns:a="http://schemas.openxmlformats.org/drawingml/2006/main">
            <a:srgbClr val="EAF7F6"/>
          </a:solidFill>
          <a:ln xmlns:a="http://schemas.openxmlformats.org/drawingml/2006/main" w="13335">
            <a:solidFill>
              <a:srgbClr val="008A91"/>
            </a:solidFill>
            <a:prstDash val="solid"/>
          </a:ln>
        </p:spPr>
      </p:sp>
      <p:pic>
        <p:nvPicPr>
          <p:cNvPr id="7" name="">
            <a:extLst xmlns:a="http://schemas.openxmlformats.org/drawingml/2006/main">
              <a:ext uri="{FF2B5EF4-FFF2-40B4-BE49-F238E27FC236}">
                <a16:creationId xmlns:a16="http://schemas.microsoft.com/office/drawing/2014/main" id="{F4224277-4293-420E-8CEC-5ED2A1A6B1EE}"/>
              </a:ext>
            </a:extLst>
          </p:cNvPr>
          <p:cNvPicPr>
            <a:picLocks xmlns:a="http://schemas.openxmlformats.org/drawingml/2006/main" noChangeAspect="1"/>
          </p:cNvPicPr>
          <p:nvPr/>
        </p:nvPicPr>
        <p:blipFill>
          <a:blip xmlns:r="http://schemas.openxmlformats.org/officeDocument/2006/relationships" xmlns:a="http://schemas.openxmlformats.org/drawingml/2006/main" r:embed="R61cad1f4606f46d6">
            <a:extLst>
              <a:ext uri="{96DAC541-7B7A-43D3-8B79-37D633B846F1}">
                <asvg:svgBlip xmlns:asvg="http://schemas.microsoft.com/office/drawing/2016/SVG/main" r:embed="R2c5f5434861e46fb"/>
              </a:ext>
            </a:extLst>
          </a:blip>
          <a:stretch xmlns:a="http://schemas.openxmlformats.org/drawingml/2006/main"/>
        </p:blipFill>
        <p:spPr>
          <a:xfrm xmlns:a="http://schemas.openxmlformats.org/drawingml/2006/main">
            <a:off x="876300" y="2371725"/>
            <a:ext cx="457200" cy="4572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37ACE97-17A3-4879-835B-9546358EA4F5}"/>
              </a:ext>
            </a:extLst>
          </p:cNvPr>
          <p:cNvSpPr>
            <a:spLocks xmlns:a="http://schemas.openxmlformats.org/drawingml/2006/main" noGrp="1"/>
          </p:cNvSpPr>
          <p:nvPr/>
        </p:nvSpPr>
        <p:spPr>
          <a:xfrm xmlns:a="http://schemas.openxmlformats.org/drawingml/2006/main">
            <a:off x="1495425" y="2371725"/>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GitHub audit stream</a:t>
            </a:r>
          </a:p>
        </p:txBody>
      </p:sp>
      <p:sp>
        <p:nvSpPr>
          <p:cNvPr id="9" name="text">
            <a:extLst xmlns:a="http://schemas.openxmlformats.org/drawingml/2006/main">
              <a:ext uri="{FF2B5EF4-FFF2-40B4-BE49-F238E27FC236}">
                <a16:creationId xmlns:a16="http://schemas.microsoft.com/office/drawing/2014/main" id="{A0503235-D2FC-40FD-8BD0-004432224F0B}"/>
              </a:ext>
            </a:extLst>
          </p:cNvPr>
          <p:cNvSpPr>
            <a:spLocks xmlns:a="http://schemas.openxmlformats.org/drawingml/2006/main" noGrp="1"/>
          </p:cNvSpPr>
          <p:nvPr/>
        </p:nvSpPr>
        <p:spPr>
          <a:xfrm xmlns:a="http://schemas.openxmlformats.org/drawingml/2006/main">
            <a:off x="885825" y="3057525"/>
            <a:ext cx="238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Audit and Git events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Enterprise activity</a:t>
            </a:r>
          </a:p>
        </p:txBody>
      </p:sp>
      <p:sp>
        <p:nvSpPr>
          <p:cNvPr id="10" name="Existing GCS landing">
            <a:extLst xmlns:a="http://schemas.openxmlformats.org/drawingml/2006/main">
              <a:ext uri="{FF2B5EF4-FFF2-40B4-BE49-F238E27FC236}">
                <a16:creationId xmlns:a16="http://schemas.microsoft.com/office/drawing/2014/main" id="{2792DF7B-C36A-41FA-AC57-D76FA79DA816}"/>
              </a:ext>
            </a:extLst>
          </p:cNvPr>
          <p:cNvSpPr>
            <a:spLocks xmlns:a="http://schemas.openxmlformats.org/drawingml/2006/main" noGrp="1"/>
          </p:cNvSpPr>
          <p:nvPr/>
        </p:nvSpPr>
        <p:spPr>
          <a:xfrm xmlns:a="http://schemas.openxmlformats.org/drawingml/2006/main">
            <a:off x="4448175" y="2190750"/>
            <a:ext cx="2781300" cy="1762125"/>
          </a:xfrm>
          <a:prstGeom xmlns:a="http://schemas.openxmlformats.org/drawingml/2006/main" prst="roundRect">
            <a:avLst>
              <a:gd name="adj" fmla="val 4865"/>
            </a:avLst>
          </a:prstGeom>
          <a:solidFill xmlns:a="http://schemas.openxmlformats.org/drawingml/2006/main">
            <a:srgbClr val="EAF7F6"/>
          </a:solidFill>
          <a:ln xmlns:a="http://schemas.openxmlformats.org/drawingml/2006/main" w="13335">
            <a:solidFill>
              <a:srgbClr val="008A91"/>
            </a:solidFill>
            <a:prstDash val="solid"/>
          </a:ln>
        </p:spPr>
      </p:sp>
      <p:pic>
        <p:nvPicPr>
          <p:cNvPr id="11" name="">
            <a:extLst xmlns:a="http://schemas.openxmlformats.org/drawingml/2006/main">
              <a:ext uri="{FF2B5EF4-FFF2-40B4-BE49-F238E27FC236}">
                <a16:creationId xmlns:a16="http://schemas.microsoft.com/office/drawing/2014/main" id="{3478B2B0-6514-480A-A017-F1087F15000F}"/>
              </a:ext>
            </a:extLst>
          </p:cNvPr>
          <p:cNvPicPr>
            <a:picLocks xmlns:a="http://schemas.openxmlformats.org/drawingml/2006/main" noChangeAspect="1"/>
          </p:cNvPicPr>
          <p:nvPr/>
        </p:nvPicPr>
        <p:blipFill>
          <a:blip xmlns:r="http://schemas.openxmlformats.org/officeDocument/2006/relationships" xmlns:a="http://schemas.openxmlformats.org/drawingml/2006/main" r:embed="Rb5313caa3c4c4f91"/>
          <a:stretch xmlns:a="http://schemas.openxmlformats.org/drawingml/2006/main"/>
        </p:blipFill>
        <p:spPr>
          <a:xfrm xmlns:a="http://schemas.openxmlformats.org/drawingml/2006/main">
            <a:off x="4638675" y="2371725"/>
            <a:ext cx="457200" cy="45720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B6895BC2-C969-478A-BFBA-50FCB5BE1367}"/>
              </a:ext>
            </a:extLst>
          </p:cNvPr>
          <p:cNvSpPr>
            <a:spLocks xmlns:a="http://schemas.openxmlformats.org/drawingml/2006/main" noGrp="1"/>
          </p:cNvSpPr>
          <p:nvPr/>
        </p:nvSpPr>
        <p:spPr>
          <a:xfrm xmlns:a="http://schemas.openxmlformats.org/drawingml/2006/main">
            <a:off x="5257800" y="2371725"/>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Existing GCS landing</a:t>
            </a:r>
          </a:p>
        </p:txBody>
      </p:sp>
      <p:sp>
        <p:nvSpPr>
          <p:cNvPr id="13" name="text">
            <a:extLst xmlns:a="http://schemas.openxmlformats.org/drawingml/2006/main">
              <a:ext uri="{FF2B5EF4-FFF2-40B4-BE49-F238E27FC236}">
                <a16:creationId xmlns:a16="http://schemas.microsoft.com/office/drawing/2014/main" id="{E2314270-1B3A-4B6C-8926-8340882D0CD2}"/>
              </a:ext>
            </a:extLst>
          </p:cNvPr>
          <p:cNvSpPr>
            <a:spLocks xmlns:a="http://schemas.openxmlformats.org/drawingml/2006/main" noGrp="1"/>
          </p:cNvSpPr>
          <p:nvPr/>
        </p:nvSpPr>
        <p:spPr>
          <a:xfrm xmlns:a="http://schemas.openxmlformats.org/drawingml/2006/main">
            <a:off x="4648200" y="3057525"/>
            <a:ext cx="238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Compressed event files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Retained audit evidence</a:t>
            </a:r>
          </a:p>
        </p:txBody>
      </p:sp>
      <p:sp>
        <p:nvSpPr>
          <p:cNvPr id="14" name="Existing processing">
            <a:extLst xmlns:a="http://schemas.openxmlformats.org/drawingml/2006/main">
              <a:ext uri="{FF2B5EF4-FFF2-40B4-BE49-F238E27FC236}">
                <a16:creationId xmlns:a16="http://schemas.microsoft.com/office/drawing/2014/main" id="{3EA74DBD-5B0E-42AE-BFB3-9879ADE582A7}"/>
              </a:ext>
            </a:extLst>
          </p:cNvPr>
          <p:cNvSpPr>
            <a:spLocks xmlns:a="http://schemas.openxmlformats.org/drawingml/2006/main" noGrp="1"/>
          </p:cNvSpPr>
          <p:nvPr/>
        </p:nvSpPr>
        <p:spPr>
          <a:xfrm xmlns:a="http://schemas.openxmlformats.org/drawingml/2006/main">
            <a:off x="8210550" y="2190750"/>
            <a:ext cx="2781300" cy="1762125"/>
          </a:xfrm>
          <a:prstGeom xmlns:a="http://schemas.openxmlformats.org/drawingml/2006/main" prst="roundRect">
            <a:avLst>
              <a:gd name="adj" fmla="val 4865"/>
            </a:avLst>
          </a:prstGeom>
          <a:solidFill xmlns:a="http://schemas.openxmlformats.org/drawingml/2006/main">
            <a:srgbClr val="EAF7F6"/>
          </a:solidFill>
          <a:ln xmlns:a="http://schemas.openxmlformats.org/drawingml/2006/main" w="13335">
            <a:solidFill>
              <a:srgbClr val="008A91"/>
            </a:solidFill>
            <a:prstDash val="solid"/>
          </a:ln>
        </p:spPr>
      </p:sp>
      <p:pic>
        <p:nvPicPr>
          <p:cNvPr id="15" name="">
            <a:extLst xmlns:a="http://schemas.openxmlformats.org/drawingml/2006/main">
              <a:ext uri="{FF2B5EF4-FFF2-40B4-BE49-F238E27FC236}">
                <a16:creationId xmlns:a16="http://schemas.microsoft.com/office/drawing/2014/main" id="{FB2CACEC-9E48-4460-8C87-00E2D874C379}"/>
              </a:ext>
            </a:extLst>
          </p:cNvPr>
          <p:cNvPicPr>
            <a:picLocks xmlns:a="http://schemas.openxmlformats.org/drawingml/2006/main" noChangeAspect="1"/>
          </p:cNvPicPr>
          <p:nvPr/>
        </p:nvPicPr>
        <p:blipFill>
          <a:blip xmlns:r="http://schemas.openxmlformats.org/officeDocument/2006/relationships" xmlns:a="http://schemas.openxmlformats.org/drawingml/2006/main" r:embed="R5486cd11112c4ced"/>
          <a:stretch xmlns:a="http://schemas.openxmlformats.org/drawingml/2006/main"/>
        </p:blipFill>
        <p:spPr>
          <a:xfrm xmlns:a="http://schemas.openxmlformats.org/drawingml/2006/main">
            <a:off x="8401050" y="2371725"/>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C0102AD0-B680-4892-BEBA-0C7D85093ACB}"/>
              </a:ext>
            </a:extLst>
          </p:cNvPr>
          <p:cNvSpPr>
            <a:spLocks xmlns:a="http://schemas.openxmlformats.org/drawingml/2006/main" noGrp="1"/>
          </p:cNvSpPr>
          <p:nvPr/>
        </p:nvSpPr>
        <p:spPr>
          <a:xfrm xmlns:a="http://schemas.openxmlformats.org/drawingml/2006/main">
            <a:off x="9020175" y="2371725"/>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Existing processing</a:t>
            </a:r>
          </a:p>
        </p:txBody>
      </p:sp>
      <p:sp>
        <p:nvSpPr>
          <p:cNvPr id="17" name="text">
            <a:extLst xmlns:a="http://schemas.openxmlformats.org/drawingml/2006/main">
              <a:ext uri="{FF2B5EF4-FFF2-40B4-BE49-F238E27FC236}">
                <a16:creationId xmlns:a16="http://schemas.microsoft.com/office/drawing/2014/main" id="{AF6C9BD3-026B-4FD1-99F9-2D7EE29FA4CE}"/>
              </a:ext>
            </a:extLst>
          </p:cNvPr>
          <p:cNvSpPr>
            <a:spLocks xmlns:a="http://schemas.openxmlformats.org/drawingml/2006/main" noGrp="1"/>
          </p:cNvSpPr>
          <p:nvPr/>
        </p:nvSpPr>
        <p:spPr>
          <a:xfrm xmlns:a="http://schemas.openxmlformats.org/drawingml/2006/main">
            <a:off x="8410575" y="3057525"/>
            <a:ext cx="238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Parse and normalize</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Stable event identity</a:t>
            </a:r>
          </a:p>
        </p:txBody>
      </p:sp>
      <p:sp>
        <p:nvSpPr>
          <p:cNvPr id="18" name="Normalized events">
            <a:extLst xmlns:a="http://schemas.openxmlformats.org/drawingml/2006/main">
              <a:ext uri="{FF2B5EF4-FFF2-40B4-BE49-F238E27FC236}">
                <a16:creationId xmlns:a16="http://schemas.microsoft.com/office/drawing/2014/main" id="{53DE0A9B-7D85-46C4-B8E8-534419111038}"/>
              </a:ext>
            </a:extLst>
          </p:cNvPr>
          <p:cNvSpPr>
            <a:spLocks xmlns:a="http://schemas.openxmlformats.org/drawingml/2006/main" noGrp="1"/>
          </p:cNvSpPr>
          <p:nvPr/>
        </p:nvSpPr>
        <p:spPr>
          <a:xfrm xmlns:a="http://schemas.openxmlformats.org/drawingml/2006/main">
            <a:off x="11972925" y="2190750"/>
            <a:ext cx="2571750" cy="1762125"/>
          </a:xfrm>
          <a:prstGeom xmlns:a="http://schemas.openxmlformats.org/drawingml/2006/main" prst="roundRect">
            <a:avLst>
              <a:gd name="adj" fmla="val 4865"/>
            </a:avLst>
          </a:prstGeom>
          <a:solidFill xmlns:a="http://schemas.openxmlformats.org/drawingml/2006/main">
            <a:srgbClr val="EAF7F6"/>
          </a:solidFill>
          <a:ln xmlns:a="http://schemas.openxmlformats.org/drawingml/2006/main" w="13335">
            <a:solidFill>
              <a:srgbClr val="008A91"/>
            </a:solidFill>
            <a:prstDash val="solid"/>
          </a:ln>
        </p:spPr>
      </p:sp>
      <p:pic>
        <p:nvPicPr>
          <p:cNvPr id="19" name="">
            <a:extLst xmlns:a="http://schemas.openxmlformats.org/drawingml/2006/main">
              <a:ext uri="{FF2B5EF4-FFF2-40B4-BE49-F238E27FC236}">
                <a16:creationId xmlns:a16="http://schemas.microsoft.com/office/drawing/2014/main" id="{6F5CDF70-D351-4527-847F-5628240297D1}"/>
              </a:ext>
            </a:extLst>
          </p:cNvPr>
          <p:cNvPicPr>
            <a:picLocks xmlns:a="http://schemas.openxmlformats.org/drawingml/2006/main" noChangeAspect="1"/>
          </p:cNvPicPr>
          <p:nvPr/>
        </p:nvPicPr>
        <p:blipFill>
          <a:blip xmlns:r="http://schemas.openxmlformats.org/officeDocument/2006/relationships" xmlns:a="http://schemas.openxmlformats.org/drawingml/2006/main" r:embed="R02a4ca5742d64dc7"/>
          <a:stretch xmlns:a="http://schemas.openxmlformats.org/drawingml/2006/main"/>
        </p:blipFill>
        <p:spPr>
          <a:xfrm xmlns:a="http://schemas.openxmlformats.org/drawingml/2006/main">
            <a:off x="12163425" y="2371725"/>
            <a:ext cx="457200" cy="457200"/>
          </a:xfrm>
          <a:prstGeom xmlns:a="http://schemas.openxmlformats.org/drawingml/2006/main" prst="rect">
            <a:avLst/>
          </a:prstGeom>
        </p:spPr>
      </p:pic>
      <p:sp>
        <p:nvSpPr>
          <p:cNvPr id="20" name="text">
            <a:extLst xmlns:a="http://schemas.openxmlformats.org/drawingml/2006/main">
              <a:ext uri="{FF2B5EF4-FFF2-40B4-BE49-F238E27FC236}">
                <a16:creationId xmlns:a16="http://schemas.microsoft.com/office/drawing/2014/main" id="{382C8560-828D-462F-8917-FA4B24546D2B}"/>
              </a:ext>
            </a:extLst>
          </p:cNvPr>
          <p:cNvSpPr>
            <a:spLocks xmlns:a="http://schemas.openxmlformats.org/drawingml/2006/main" noGrp="1"/>
          </p:cNvSpPr>
          <p:nvPr/>
        </p:nvSpPr>
        <p:spPr>
          <a:xfrm xmlns:a="http://schemas.openxmlformats.org/drawingml/2006/main">
            <a:off x="12782550" y="2371725"/>
            <a:ext cx="1619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Normalized events</a:t>
            </a:r>
          </a:p>
        </p:txBody>
      </p:sp>
      <p:sp>
        <p:nvSpPr>
          <p:cNvPr id="21" name="text">
            <a:extLst xmlns:a="http://schemas.openxmlformats.org/drawingml/2006/main">
              <a:ext uri="{FF2B5EF4-FFF2-40B4-BE49-F238E27FC236}">
                <a16:creationId xmlns:a16="http://schemas.microsoft.com/office/drawing/2014/main" id="{0A95BD7C-8597-49B1-AABD-3E35C45B4098}"/>
              </a:ext>
            </a:extLst>
          </p:cNvPr>
          <p:cNvSpPr>
            <a:spLocks xmlns:a="http://schemas.openxmlformats.org/drawingml/2006/main" noGrp="1"/>
          </p:cNvSpPr>
          <p:nvPr/>
        </p:nvSpPr>
        <p:spPr>
          <a:xfrm xmlns:a="http://schemas.openxmlformats.org/drawingml/2006/main">
            <a:off x="12172950" y="3057525"/>
            <a:ext cx="21717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BigQuery foundation</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Existing partitioned table</a:t>
            </a:r>
          </a:p>
        </p:txBody>
      </p:sp>
      <p:sp>
        <p:nvSpPr>
          <p:cNvPr id="25" name="Daily activity rollup">
            <a:extLst xmlns:a="http://schemas.openxmlformats.org/drawingml/2006/main">
              <a:ext uri="{FF2B5EF4-FFF2-40B4-BE49-F238E27FC236}">
                <a16:creationId xmlns:a16="http://schemas.microsoft.com/office/drawing/2014/main" id="{A769A300-A4D7-48F5-B58F-BBB6B7DAA59E}"/>
              </a:ext>
            </a:extLst>
          </p:cNvPr>
          <p:cNvSpPr>
            <a:spLocks xmlns:a="http://schemas.openxmlformats.org/drawingml/2006/main" noGrp="1"/>
          </p:cNvSpPr>
          <p:nvPr/>
        </p:nvSpPr>
        <p:spPr>
          <a:xfrm xmlns:a="http://schemas.openxmlformats.org/drawingml/2006/main">
            <a:off x="8210550" y="4886325"/>
            <a:ext cx="2781300" cy="1762125"/>
          </a:xfrm>
          <a:prstGeom xmlns:a="http://schemas.openxmlformats.org/drawingml/2006/main" prst="roundRect">
            <a:avLst>
              <a:gd name="adj" fmla="val 4865"/>
            </a:avLst>
          </a:prstGeom>
          <a:solidFill xmlns:a="http://schemas.openxmlformats.org/drawingml/2006/main">
            <a:srgbClr val="F3F7FB"/>
          </a:solidFill>
          <a:ln xmlns:a="http://schemas.openxmlformats.org/drawingml/2006/main" w="13335">
            <a:solidFill>
              <a:srgbClr val="3276D2"/>
            </a:solidFill>
            <a:prstDash val="solid"/>
          </a:ln>
        </p:spPr>
      </p:sp>
      <p:pic>
        <p:nvPicPr>
          <p:cNvPr id="26" name="">
            <a:extLst xmlns:a="http://schemas.openxmlformats.org/drawingml/2006/main">
              <a:ext uri="{FF2B5EF4-FFF2-40B4-BE49-F238E27FC236}">
                <a16:creationId xmlns:a16="http://schemas.microsoft.com/office/drawing/2014/main" id="{64B174C9-E749-44FB-B5AF-D2AF6466193C}"/>
              </a:ext>
            </a:extLst>
          </p:cNvPr>
          <p:cNvPicPr>
            <a:picLocks xmlns:a="http://schemas.openxmlformats.org/drawingml/2006/main" noChangeAspect="1"/>
          </p:cNvPicPr>
          <p:nvPr/>
        </p:nvPicPr>
        <p:blipFill>
          <a:blip xmlns:r="http://schemas.openxmlformats.org/officeDocument/2006/relationships" xmlns:a="http://schemas.openxmlformats.org/drawingml/2006/main" r:embed="Ree3cb96884784d13">
            <a:extLst>
              <a:ext uri="{96DAC541-7B7A-43D3-8B79-37D633B846F1}">
                <asvg:svgBlip xmlns:asvg="http://schemas.microsoft.com/office/drawing/2016/SVG/main" r:embed="R0fae685e2a0a49fb"/>
              </a:ext>
            </a:extLst>
          </a:blip>
          <a:stretch xmlns:a="http://schemas.openxmlformats.org/drawingml/2006/main"/>
        </p:blipFill>
        <p:spPr>
          <a:xfrm xmlns:a="http://schemas.openxmlformats.org/drawingml/2006/main">
            <a:off x="8401050" y="5067300"/>
            <a:ext cx="457200" cy="457200"/>
          </a:xfrm>
          <a:prstGeom xmlns:a="http://schemas.openxmlformats.org/drawingml/2006/main" prst="rect">
            <a:avLst/>
          </a:prstGeom>
        </p:spPr>
      </p:pic>
      <p:sp>
        <p:nvSpPr>
          <p:cNvPr id="27" name="text">
            <a:extLst xmlns:a="http://schemas.openxmlformats.org/drawingml/2006/main">
              <a:ext uri="{FF2B5EF4-FFF2-40B4-BE49-F238E27FC236}">
                <a16:creationId xmlns:a16="http://schemas.microsoft.com/office/drawing/2014/main" id="{9DA579D9-251E-4DC8-8D1C-14FF5B978C98}"/>
              </a:ext>
            </a:extLst>
          </p:cNvPr>
          <p:cNvSpPr>
            <a:spLocks xmlns:a="http://schemas.openxmlformats.org/drawingml/2006/main" noGrp="1"/>
          </p:cNvSpPr>
          <p:nvPr/>
        </p:nvSpPr>
        <p:spPr>
          <a:xfrm xmlns:a="http://schemas.openxmlformats.org/drawingml/2006/main">
            <a:off x="9020175" y="50673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Daily activity rollup</a:t>
            </a:r>
          </a:p>
        </p:txBody>
      </p:sp>
      <p:sp>
        <p:nvSpPr>
          <p:cNvPr id="28" name="text">
            <a:extLst xmlns:a="http://schemas.openxmlformats.org/drawingml/2006/main">
              <a:ext uri="{FF2B5EF4-FFF2-40B4-BE49-F238E27FC236}">
                <a16:creationId xmlns:a16="http://schemas.microsoft.com/office/drawing/2014/main" id="{6564B3A6-DB96-4138-B3D8-93FC052C0248}"/>
              </a:ext>
            </a:extLst>
          </p:cNvPr>
          <p:cNvSpPr>
            <a:spLocks xmlns:a="http://schemas.openxmlformats.org/drawingml/2006/main" noGrp="1"/>
          </p:cNvSpPr>
          <p:nvPr/>
        </p:nvSpPr>
        <p:spPr>
          <a:xfrm xmlns:a="http://schemas.openxmlformats.org/drawingml/2006/main">
            <a:off x="8410575" y="5753100"/>
            <a:ext cx="238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User, date and action</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Deduplicate and handle late data</a:t>
            </a:r>
          </a:p>
        </p:txBody>
      </p:sp>
      <p:sp>
        <p:nvSpPr>
          <p:cNvPr id="29" name="User activity summary">
            <a:extLst xmlns:a="http://schemas.openxmlformats.org/drawingml/2006/main">
              <a:ext uri="{FF2B5EF4-FFF2-40B4-BE49-F238E27FC236}">
                <a16:creationId xmlns:a16="http://schemas.microsoft.com/office/drawing/2014/main" id="{A84D13D4-3264-44ED-9348-A58FC79BAF17}"/>
              </a:ext>
            </a:extLst>
          </p:cNvPr>
          <p:cNvSpPr>
            <a:spLocks xmlns:a="http://schemas.openxmlformats.org/drawingml/2006/main" noGrp="1"/>
          </p:cNvSpPr>
          <p:nvPr/>
        </p:nvSpPr>
        <p:spPr>
          <a:xfrm xmlns:a="http://schemas.openxmlformats.org/drawingml/2006/main">
            <a:off x="4448175" y="4886325"/>
            <a:ext cx="2781300" cy="1762125"/>
          </a:xfrm>
          <a:prstGeom xmlns:a="http://schemas.openxmlformats.org/drawingml/2006/main" prst="roundRect">
            <a:avLst>
              <a:gd name="adj" fmla="val 4865"/>
            </a:avLst>
          </a:prstGeom>
          <a:solidFill xmlns:a="http://schemas.openxmlformats.org/drawingml/2006/main">
            <a:srgbClr val="F3F7FB"/>
          </a:solidFill>
          <a:ln xmlns:a="http://schemas.openxmlformats.org/drawingml/2006/main" w="13335">
            <a:solidFill>
              <a:srgbClr val="3276D2"/>
            </a:solidFill>
            <a:prstDash val="solid"/>
          </a:ln>
        </p:spPr>
      </p:sp>
      <p:pic>
        <p:nvPicPr>
          <p:cNvPr id="30" name="">
            <a:extLst xmlns:a="http://schemas.openxmlformats.org/drawingml/2006/main">
              <a:ext uri="{FF2B5EF4-FFF2-40B4-BE49-F238E27FC236}">
                <a16:creationId xmlns:a16="http://schemas.microsoft.com/office/drawing/2014/main" id="{7C0CAD6A-AD34-43C2-A3C6-3CE59A429C11}"/>
              </a:ext>
            </a:extLst>
          </p:cNvPr>
          <p:cNvPicPr>
            <a:picLocks xmlns:a="http://schemas.openxmlformats.org/drawingml/2006/main" noChangeAspect="1"/>
          </p:cNvPicPr>
          <p:nvPr/>
        </p:nvPicPr>
        <p:blipFill>
          <a:blip xmlns:r="http://schemas.openxmlformats.org/officeDocument/2006/relationships" xmlns:a="http://schemas.openxmlformats.org/drawingml/2006/main" r:embed="Rce6e40ee9ba8494d"/>
          <a:stretch xmlns:a="http://schemas.openxmlformats.org/drawingml/2006/main"/>
        </p:blipFill>
        <p:spPr>
          <a:xfrm xmlns:a="http://schemas.openxmlformats.org/drawingml/2006/main">
            <a:off x="4638675" y="5067300"/>
            <a:ext cx="457200" cy="457200"/>
          </a:xfrm>
          <a:prstGeom xmlns:a="http://schemas.openxmlformats.org/drawingml/2006/main" prst="rect">
            <a:avLst/>
          </a:prstGeom>
        </p:spPr>
      </p:pic>
      <p:sp>
        <p:nvSpPr>
          <p:cNvPr id="31" name="text">
            <a:extLst xmlns:a="http://schemas.openxmlformats.org/drawingml/2006/main">
              <a:ext uri="{FF2B5EF4-FFF2-40B4-BE49-F238E27FC236}">
                <a16:creationId xmlns:a16="http://schemas.microsoft.com/office/drawing/2014/main" id="{61420FC8-173F-47EC-90F9-72BD665C753A}"/>
              </a:ext>
            </a:extLst>
          </p:cNvPr>
          <p:cNvSpPr>
            <a:spLocks xmlns:a="http://schemas.openxmlformats.org/drawingml/2006/main" noGrp="1"/>
          </p:cNvSpPr>
          <p:nvPr/>
        </p:nvSpPr>
        <p:spPr>
          <a:xfrm xmlns:a="http://schemas.openxmlformats.org/drawingml/2006/main">
            <a:off x="5257800" y="50673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User activity summary</a:t>
            </a:r>
          </a:p>
        </p:txBody>
      </p:sp>
      <p:sp>
        <p:nvSpPr>
          <p:cNvPr id="32" name="text">
            <a:extLst xmlns:a="http://schemas.openxmlformats.org/drawingml/2006/main">
              <a:ext uri="{FF2B5EF4-FFF2-40B4-BE49-F238E27FC236}">
                <a16:creationId xmlns:a16="http://schemas.microsoft.com/office/drawing/2014/main" id="{4F1B0CA0-F1B4-4B4E-8747-B75A4A06D38E}"/>
              </a:ext>
            </a:extLst>
          </p:cNvPr>
          <p:cNvSpPr>
            <a:spLocks xmlns:a="http://schemas.openxmlformats.org/drawingml/2006/main" noGrp="1"/>
          </p:cNvSpPr>
          <p:nvPr/>
        </p:nvSpPr>
        <p:spPr>
          <a:xfrm xmlns:a="http://schemas.openxmlformats.org/drawingml/2006/main">
            <a:off x="4648200" y="5753100"/>
            <a:ext cx="238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Last activity, Git and SSO</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Activity counts</a:t>
            </a:r>
          </a:p>
        </p:txBody>
      </p:sp>
      <p:sp>
        <p:nvSpPr>
          <p:cNvPr id="35" name="text">
            <a:extLst xmlns:a="http://schemas.openxmlformats.org/drawingml/2006/main">
              <a:ext uri="{FF2B5EF4-FFF2-40B4-BE49-F238E27FC236}">
                <a16:creationId xmlns:a16="http://schemas.microsoft.com/office/drawing/2014/main" id="{688607FA-C579-4DD3-8774-65B9A8E01264}"/>
              </a:ext>
            </a:extLst>
          </p:cNvPr>
          <p:cNvSpPr>
            <a:spLocks xmlns:a="http://schemas.openxmlformats.org/drawingml/2006/main" noGrp="1"/>
          </p:cNvSpPr>
          <p:nvPr/>
        </p:nvSpPr>
        <p:spPr>
          <a:xfrm xmlns:a="http://schemas.openxmlformats.org/drawingml/2006/main">
            <a:off x="685800" y="51816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3276D2"/>
                </a:solidFill>
                <a:latin typeface="Nimbus Sans"/>
                <a:ea typeface="Nimbus Sans"/>
                <a:cs typeface="Nimbus Sans"/>
              </a:defRPr>
            </a:defPPr>
          </a:lstStyle>
          <a:p xmlns:a="http://schemas.openxmlformats.org/drawingml/2006/main">
            <a:pPr algn="l">
              <a:defRPr sz="1800" b="1">
                <a:solidFill>
                  <a:srgbClr val="3276D2"/>
                </a:solidFill>
                <a:latin typeface="Nimbus Sans"/>
                <a:ea typeface="Nimbus Sans"/>
                <a:cs typeface="Nimbus Sans"/>
              </a:defRPr>
            </a:pPr>
            <a:r>
              <a:rPr sz="1800" b="1">
                <a:solidFill>
                  <a:srgbClr val="3276D2"/>
                </a:solidFill>
                <a:latin typeface="Nimbus Sans"/>
                <a:ea typeface="Nimbus Sans"/>
                <a:cs typeface="Nimbus Sans"/>
              </a:rPr>
              <a:t>NEW REPORTING LAYER</a:t>
            </a:r>
          </a:p>
        </p:txBody>
      </p:sp>
      <p:sp>
        <p:nvSpPr>
          <p:cNvPr id="36" name="text">
            <a:extLst xmlns:a="http://schemas.openxmlformats.org/drawingml/2006/main">
              <a:ext uri="{FF2B5EF4-FFF2-40B4-BE49-F238E27FC236}">
                <a16:creationId xmlns:a16="http://schemas.microsoft.com/office/drawing/2014/main" id="{174AD5D3-CC79-40E4-8D40-AB43E068D57F}"/>
              </a:ext>
            </a:extLst>
          </p:cNvPr>
          <p:cNvSpPr>
            <a:spLocks xmlns:a="http://schemas.openxmlformats.org/drawingml/2006/main" noGrp="1"/>
          </p:cNvSpPr>
          <p:nvPr/>
        </p:nvSpPr>
        <p:spPr>
          <a:xfrm xmlns:a="http://schemas.openxmlformats.org/drawingml/2006/main">
            <a:off x="685800" y="56864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112D49"/>
                </a:solidFill>
                <a:latin typeface="Nimbus Sans"/>
                <a:ea typeface="Nimbus Sans"/>
                <a:cs typeface="Nimbus Sans"/>
              </a:defRPr>
            </a:defPPr>
          </a:lstStyle>
          <a:p xmlns:a="http://schemas.openxmlformats.org/drawingml/2006/main">
            <a:pPr algn="l">
              <a:defRPr sz="2025" b="0">
                <a:solidFill>
                  <a:srgbClr val="112D49"/>
                </a:solidFill>
                <a:latin typeface="Nimbus Sans"/>
                <a:ea typeface="Nimbus Sans"/>
                <a:cs typeface="Nimbus Sans"/>
              </a:defRPr>
            </a:pPr>
            <a:r>
              <a:rPr sz="2025" b="0">
                <a:solidFill>
                  <a:srgbClr val="112D49"/>
                </a:solidFill>
                <a:latin typeface="Nimbus Sans"/>
                <a:ea typeface="Nimbus Sans"/>
                <a:cs typeface="Nimbus Sans"/>
              </a:rPr>
              <a:t>Grafana queries compact</a:t>
            </a:r>
          </a:p>
          <a:p xmlns:a="http://schemas.openxmlformats.org/drawingml/2006/main">
            <a:pPr algn="l">
              <a:defRPr sz="2025" b="0">
                <a:solidFill>
                  <a:srgbClr val="112D49"/>
                </a:solidFill>
                <a:latin typeface="Nimbus Sans"/>
                <a:ea typeface="Nimbus Sans"/>
                <a:cs typeface="Nimbus Sans"/>
              </a:defRPr>
            </a:pPr>
            <a:r>
              <a:rPr sz="2025" b="0">
                <a:solidFill>
                  <a:srgbClr val="112D49"/>
                </a:solidFill>
                <a:latin typeface="Nimbus Sans"/>
                <a:ea typeface="Nimbus Sans"/>
                <a:cs typeface="Nimbus Sans"/>
              </a:rPr>
              <a:t>summary data</a:t>
            </a:r>
          </a:p>
        </p:txBody>
      </p:sp>
      <p:sp>
        <p:nvSpPr>
          <p:cNvPr id="37" name="box">
            <a:extLst xmlns:a="http://schemas.openxmlformats.org/drawingml/2006/main">
              <a:ext uri="{FF2B5EF4-FFF2-40B4-BE49-F238E27FC236}">
                <a16:creationId xmlns:a16="http://schemas.microsoft.com/office/drawing/2014/main" id="{D5E6F47A-C705-4F45-9988-DE87CE96AB69}"/>
              </a:ext>
            </a:extLst>
          </p:cNvPr>
          <p:cNvSpPr>
            <a:spLocks xmlns:a="http://schemas.openxmlformats.org/drawingml/2006/main" noGrp="1"/>
          </p:cNvSpPr>
          <p:nvPr/>
        </p:nvSpPr>
        <p:spPr>
          <a:xfrm xmlns:a="http://schemas.openxmlformats.org/drawingml/2006/main">
            <a:off x="685800" y="7105650"/>
            <a:ext cx="13868400" cy="619125"/>
          </a:xfrm>
          <a:prstGeom xmlns:a="http://schemas.openxmlformats.org/drawingml/2006/main" prst="rect">
            <a:avLst/>
          </a:prstGeom>
          <a:solidFill xmlns:a="http://schemas.openxmlformats.org/drawingml/2006/main">
            <a:srgbClr val="EAF7F6"/>
          </a:solidFill>
          <a:ln xmlns:a="http://schemas.openxmlformats.org/drawingml/2006/main" w="0">
            <a:noFill/>
            <a:prstDash val="solid"/>
          </a:ln>
        </p:spPr>
      </p:sp>
      <p:sp>
        <p:nvSpPr>
          <p:cNvPr id="38" name="box">
            <a:extLst xmlns:a="http://schemas.openxmlformats.org/drawingml/2006/main">
              <a:ext uri="{FF2B5EF4-FFF2-40B4-BE49-F238E27FC236}">
                <a16:creationId xmlns:a16="http://schemas.microsoft.com/office/drawing/2014/main" id="{C378AF5C-F58C-4106-88B0-75B80E396102}"/>
              </a:ext>
            </a:extLst>
          </p:cNvPr>
          <p:cNvSpPr>
            <a:spLocks xmlns:a="http://schemas.openxmlformats.org/drawingml/2006/main" noGrp="1"/>
          </p:cNvSpPr>
          <p:nvPr/>
        </p:nvSpPr>
        <p:spPr>
          <a:xfrm xmlns:a="http://schemas.openxmlformats.org/drawingml/2006/main">
            <a:off x="685800" y="7105650"/>
            <a:ext cx="47625" cy="619125"/>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39" name="text">
            <a:extLst xmlns:a="http://schemas.openxmlformats.org/drawingml/2006/main">
              <a:ext uri="{FF2B5EF4-FFF2-40B4-BE49-F238E27FC236}">
                <a16:creationId xmlns:a16="http://schemas.microsoft.com/office/drawing/2014/main" id="{8CAB446E-D424-4FE9-8647-B469972B1BAD}"/>
              </a:ext>
            </a:extLst>
          </p:cNvPr>
          <p:cNvSpPr>
            <a:spLocks xmlns:a="http://schemas.openxmlformats.org/drawingml/2006/main" noGrp="1"/>
          </p:cNvSpPr>
          <p:nvPr/>
        </p:nvSpPr>
        <p:spPr>
          <a:xfrm xmlns:a="http://schemas.openxmlformats.org/drawingml/2006/main">
            <a:off x="895350" y="7267575"/>
            <a:ext cx="1345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12D49"/>
                </a:solidFill>
                <a:latin typeface="Nimbus Sans"/>
                <a:ea typeface="Nimbus Sans"/>
                <a:cs typeface="Nimbus Sans"/>
              </a:defRPr>
            </a:defPPr>
          </a:lstStyle>
          <a:p xmlns:a="http://schemas.openxmlformats.org/drawingml/2006/main">
            <a:pPr algn="l">
              <a:defRPr sz="1800" b="0">
                <a:solidFill>
                  <a:srgbClr val="112D49"/>
                </a:solidFill>
                <a:latin typeface="Nimbus Sans"/>
                <a:ea typeface="Nimbus Sans"/>
                <a:cs typeface="Nimbus Sans"/>
              </a:defRPr>
            </a:pPr>
            <a:r>
              <a:rPr sz="1800" b="0">
                <a:solidFill>
                  <a:srgbClr val="112D49"/>
                </a:solidFill>
                <a:latin typeface="Nimbus Sans"/>
                <a:ea typeface="Nimbus Sans"/>
                <a:cs typeface="Nimbus Sans"/>
              </a:rPr>
              <a:t>Keep activity and SSO signals separate. Show coverage and freshness alongside every dormancy result.</a:t>
            </a:r>
          </a:p>
        </p:txBody>
      </p:sp>
    </p:spTree>
    <p:extLst>
      <p:ext uri="{BB962C8B-B14F-4D97-AF65-F5344CB8AC3E}">
        <p14:creationId xmlns:p14="http://schemas.microsoft.com/office/powerpoint/2010/main" val="10108559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13113699-1DAA-4A05-976C-A117CB559444}"/>
              </a:ext>
            </a:extLst>
          </p:cNvPr>
          <p:cNvCxnSpPr>
            <a:stCxn xmlns:a="http://schemas.openxmlformats.org/drawingml/2006/main" id="14" idx="3"/>
            <a:endCxn xmlns:a="http://schemas.openxmlformats.org/drawingml/2006/main" id="18" idx="1"/>
          </p:cNvCxnSpPr>
          <p:nvPr/>
        </p:nvCxnSpPr>
        <p:spPr>
          <a:xfrm xmlns:a="http://schemas.openxmlformats.org/drawingml/2006/main">
            <a:off x="9220200" y="4424363"/>
            <a:ext cx="187642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8C25A6E1-3E3C-4946-8A30-AF47108DE770}"/>
              </a:ext>
            </a:extLst>
          </p:cNvPr>
          <p:cNvCxnSpPr>
            <a:stCxn xmlns:a="http://schemas.openxmlformats.org/drawingml/2006/main" id="10" idx="3"/>
            <a:endCxn xmlns:a="http://schemas.openxmlformats.org/drawingml/2006/main" id="14" idx="1"/>
          </p:cNvCxnSpPr>
          <p:nvPr/>
        </p:nvCxnSpPr>
        <p:spPr>
          <a:xfrm xmlns:a="http://schemas.openxmlformats.org/drawingml/2006/main" flipV="1">
            <a:off x="4019550" y="4424363"/>
            <a:ext cx="1866900" cy="1271588"/>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B1A80081-50F4-47C5-8B38-ABDD2354157C}"/>
              </a:ext>
            </a:extLst>
          </p:cNvPr>
          <p:cNvCxnSpPr>
            <a:stCxn xmlns:a="http://schemas.openxmlformats.org/drawingml/2006/main" id="6" idx="3"/>
            <a:endCxn xmlns:a="http://schemas.openxmlformats.org/drawingml/2006/main" id="14" idx="1"/>
          </p:cNvCxnSpPr>
          <p:nvPr/>
        </p:nvCxnSpPr>
        <p:spPr>
          <a:xfrm xmlns:a="http://schemas.openxmlformats.org/drawingml/2006/main">
            <a:off x="4019550" y="3076575"/>
            <a:ext cx="1866900" cy="1347788"/>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sp>
        <p:nvSpPr>
          <p:cNvPr id="28" name="slide-title">
            <a:extLst xmlns:a="http://schemas.openxmlformats.org/drawingml/2006/main">
              <a:ext uri="{FF2B5EF4-FFF2-40B4-BE49-F238E27FC236}">
                <a16:creationId xmlns:a16="http://schemas.microsoft.com/office/drawing/2014/main" id="{03C88CCA-6163-439E-B78B-D03C35F380B5}"/>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Path 3: Staff ownership and group eligibility</a:t>
            </a:r>
          </a:p>
        </p:txBody>
      </p:sp>
      <p:sp>
        <p:nvSpPr>
          <p:cNvPr id="2" name="slide-subtitle">
            <a:extLst xmlns:a="http://schemas.openxmlformats.org/drawingml/2006/main">
              <a:ext uri="{FF2B5EF4-FFF2-40B4-BE49-F238E27FC236}">
                <a16:creationId xmlns:a16="http://schemas.microsoft.com/office/drawing/2014/main" id="{3F5303E9-26A6-43B3-B990-130691BCC5DD}"/>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Reuse approved staff and directory integrations before replacing the existing script</a:t>
            </a:r>
          </a:p>
        </p:txBody>
      </p:sp>
      <p:sp>
        <p:nvSpPr>
          <p:cNvPr id="3" name="">
            <a:extLst xmlns:a="http://schemas.openxmlformats.org/drawingml/2006/main">
              <a:ext uri="{FF2B5EF4-FFF2-40B4-BE49-F238E27FC236}">
                <a16:creationId xmlns:a16="http://schemas.microsoft.com/office/drawing/2014/main" id="{90059339-803B-453B-84D2-7F9BE767DABA}"/>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DF4FD67B-D506-41D4-88A6-30133916856C}"/>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5CF5E987-DC70-4372-B8DB-18938EF8E724}"/>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6</a:t>
            </a:r>
          </a:p>
        </p:txBody>
      </p:sp>
      <p:sp>
        <p:nvSpPr>
          <p:cNvPr id="6" name="Staff / DBIB">
            <a:extLst xmlns:a="http://schemas.openxmlformats.org/drawingml/2006/main">
              <a:ext uri="{FF2B5EF4-FFF2-40B4-BE49-F238E27FC236}">
                <a16:creationId xmlns:a16="http://schemas.microsoft.com/office/drawing/2014/main" id="{1DFB8E73-F52B-4D14-BAD5-AE1400AA6E82}"/>
              </a:ext>
            </a:extLst>
          </p:cNvPr>
          <p:cNvSpPr>
            <a:spLocks xmlns:a="http://schemas.openxmlformats.org/drawingml/2006/main" noGrp="1"/>
          </p:cNvSpPr>
          <p:nvPr/>
        </p:nvSpPr>
        <p:spPr>
          <a:xfrm xmlns:a="http://schemas.openxmlformats.org/drawingml/2006/main">
            <a:off x="704850" y="2219325"/>
            <a:ext cx="3314700" cy="1714500"/>
          </a:xfrm>
          <a:prstGeom xmlns:a="http://schemas.openxmlformats.org/drawingml/2006/main" prst="roundRect">
            <a:avLst>
              <a:gd name="adj" fmla="val 5000"/>
            </a:avLst>
          </a:prstGeom>
          <a:solidFill xmlns:a="http://schemas.openxmlformats.org/drawingml/2006/main">
            <a:srgbClr val="F3EFF8"/>
          </a:solidFill>
          <a:ln xmlns:a="http://schemas.openxmlformats.org/drawingml/2006/main" w="13335">
            <a:solidFill>
              <a:srgbClr val="7350A4"/>
            </a:solidFill>
            <a:prstDash val="solid"/>
          </a:ln>
        </p:spPr>
      </p:sp>
      <p:pic>
        <p:nvPicPr>
          <p:cNvPr id="7" name="">
            <a:extLst xmlns:a="http://schemas.openxmlformats.org/drawingml/2006/main">
              <a:ext uri="{FF2B5EF4-FFF2-40B4-BE49-F238E27FC236}">
                <a16:creationId xmlns:a16="http://schemas.microsoft.com/office/drawing/2014/main" id="{28E37935-94B5-4031-A150-111FBA1DAA6A}"/>
              </a:ext>
            </a:extLst>
          </p:cNvPr>
          <p:cNvPicPr>
            <a:picLocks xmlns:a="http://schemas.openxmlformats.org/drawingml/2006/main" noChangeAspect="1"/>
          </p:cNvPicPr>
          <p:nvPr/>
        </p:nvPicPr>
        <p:blipFill>
          <a:blip xmlns:r="http://schemas.openxmlformats.org/officeDocument/2006/relationships" xmlns:a="http://schemas.openxmlformats.org/drawingml/2006/main" r:embed="R9ba0718ee7874010">
            <a:extLst>
              <a:ext uri="{96DAC541-7B7A-43D3-8B79-37D633B846F1}">
                <asvg:svgBlip xmlns:asvg="http://schemas.microsoft.com/office/drawing/2016/SVG/main" r:embed="R46c41e4a9c9d43cd"/>
              </a:ext>
            </a:extLst>
          </a:blip>
          <a:stretch xmlns:a="http://schemas.openxmlformats.org/drawingml/2006/main"/>
        </p:blipFill>
        <p:spPr>
          <a:xfrm xmlns:a="http://schemas.openxmlformats.org/drawingml/2006/main">
            <a:off x="895350" y="2400300"/>
            <a:ext cx="457200" cy="4572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A87AE7E-BA6D-4EF5-8466-1143D349EEC1}"/>
              </a:ext>
            </a:extLst>
          </p:cNvPr>
          <p:cNvSpPr>
            <a:spLocks xmlns:a="http://schemas.openxmlformats.org/drawingml/2006/main" noGrp="1"/>
          </p:cNvSpPr>
          <p:nvPr/>
        </p:nvSpPr>
        <p:spPr>
          <a:xfrm xmlns:a="http://schemas.openxmlformats.org/drawingml/2006/main">
            <a:off x="1514475" y="2400300"/>
            <a:ext cx="2362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Staff / DBIB</a:t>
            </a:r>
          </a:p>
        </p:txBody>
      </p:sp>
      <p:sp>
        <p:nvSpPr>
          <p:cNvPr id="9" name="text">
            <a:extLst xmlns:a="http://schemas.openxmlformats.org/drawingml/2006/main">
              <a:ext uri="{FF2B5EF4-FFF2-40B4-BE49-F238E27FC236}">
                <a16:creationId xmlns:a16="http://schemas.microsoft.com/office/drawing/2014/main" id="{9F482312-1332-4D06-B980-5DEDF9B0AFBC}"/>
              </a:ext>
            </a:extLst>
          </p:cNvPr>
          <p:cNvSpPr>
            <a:spLocks xmlns:a="http://schemas.openxmlformats.org/drawingml/2006/main" noGrp="1"/>
          </p:cNvSpPr>
          <p:nvPr/>
        </p:nvSpPr>
        <p:spPr>
          <a:xfrm xmlns:a="http://schemas.openxmlformats.org/drawingml/2006/main">
            <a:off x="904875" y="3086100"/>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Staff identity, UBR hierarchy</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Manager and account mapping</a:t>
            </a:r>
          </a:p>
        </p:txBody>
      </p:sp>
      <p:sp>
        <p:nvSpPr>
          <p:cNvPr id="10" name="LDAP / SCIM groups">
            <a:extLst xmlns:a="http://schemas.openxmlformats.org/drawingml/2006/main">
              <a:ext uri="{FF2B5EF4-FFF2-40B4-BE49-F238E27FC236}">
                <a16:creationId xmlns:a16="http://schemas.microsoft.com/office/drawing/2014/main" id="{9F76D714-E0B3-466F-8C55-A911DB307E5B}"/>
              </a:ext>
            </a:extLst>
          </p:cNvPr>
          <p:cNvSpPr>
            <a:spLocks xmlns:a="http://schemas.openxmlformats.org/drawingml/2006/main" noGrp="1"/>
          </p:cNvSpPr>
          <p:nvPr/>
        </p:nvSpPr>
        <p:spPr>
          <a:xfrm xmlns:a="http://schemas.openxmlformats.org/drawingml/2006/main">
            <a:off x="704850" y="4838700"/>
            <a:ext cx="3314700" cy="1714500"/>
          </a:xfrm>
          <a:prstGeom xmlns:a="http://schemas.openxmlformats.org/drawingml/2006/main" prst="roundRect">
            <a:avLst>
              <a:gd name="adj" fmla="val 5000"/>
            </a:avLst>
          </a:prstGeom>
          <a:solidFill xmlns:a="http://schemas.openxmlformats.org/drawingml/2006/main">
            <a:srgbClr val="F3EFF8"/>
          </a:solidFill>
          <a:ln xmlns:a="http://schemas.openxmlformats.org/drawingml/2006/main" w="13335">
            <a:solidFill>
              <a:srgbClr val="7350A4"/>
            </a:solidFill>
            <a:prstDash val="solid"/>
          </a:ln>
        </p:spPr>
      </p:sp>
      <p:pic>
        <p:nvPicPr>
          <p:cNvPr id="11" name="">
            <a:extLst xmlns:a="http://schemas.openxmlformats.org/drawingml/2006/main">
              <a:ext uri="{FF2B5EF4-FFF2-40B4-BE49-F238E27FC236}">
                <a16:creationId xmlns:a16="http://schemas.microsoft.com/office/drawing/2014/main" id="{BF49806E-89E1-42B2-A155-DF8BF7862573}"/>
              </a:ext>
            </a:extLst>
          </p:cNvPr>
          <p:cNvPicPr>
            <a:picLocks xmlns:a="http://schemas.openxmlformats.org/drawingml/2006/main" noChangeAspect="1"/>
          </p:cNvPicPr>
          <p:nvPr/>
        </p:nvPicPr>
        <p:blipFill>
          <a:blip xmlns:r="http://schemas.openxmlformats.org/officeDocument/2006/relationships" xmlns:a="http://schemas.openxmlformats.org/drawingml/2006/main" r:embed="Rd3d2918dad034212">
            <a:extLst>
              <a:ext uri="{96DAC541-7B7A-43D3-8B79-37D633B846F1}">
                <asvg:svgBlip xmlns:asvg="http://schemas.microsoft.com/office/drawing/2016/SVG/main" r:embed="R29059629643f45dd"/>
              </a:ext>
            </a:extLst>
          </a:blip>
          <a:stretch xmlns:a="http://schemas.openxmlformats.org/drawingml/2006/main"/>
        </p:blipFill>
        <p:spPr>
          <a:xfrm xmlns:a="http://schemas.openxmlformats.org/drawingml/2006/main">
            <a:off x="895350" y="5019675"/>
            <a:ext cx="457200" cy="45720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A1D77ABF-F1FA-47E4-AF22-565B9412E9E8}"/>
              </a:ext>
            </a:extLst>
          </p:cNvPr>
          <p:cNvSpPr>
            <a:spLocks xmlns:a="http://schemas.openxmlformats.org/drawingml/2006/main" noGrp="1"/>
          </p:cNvSpPr>
          <p:nvPr/>
        </p:nvSpPr>
        <p:spPr>
          <a:xfrm xmlns:a="http://schemas.openxmlformats.org/drawingml/2006/main">
            <a:off x="1514475" y="5019675"/>
            <a:ext cx="2362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LDAP / SCIM groups</a:t>
            </a:r>
          </a:p>
        </p:txBody>
      </p:sp>
      <p:sp>
        <p:nvSpPr>
          <p:cNvPr id="13" name="text">
            <a:extLst xmlns:a="http://schemas.openxmlformats.org/drawingml/2006/main">
              <a:ext uri="{FF2B5EF4-FFF2-40B4-BE49-F238E27FC236}">
                <a16:creationId xmlns:a16="http://schemas.microsoft.com/office/drawing/2014/main" id="{4B493AE0-2EFE-4FEA-BA82-402DDE96283E}"/>
              </a:ext>
            </a:extLst>
          </p:cNvPr>
          <p:cNvSpPr>
            <a:spLocks xmlns:a="http://schemas.openxmlformats.org/drawingml/2006/main" noGrp="1"/>
          </p:cNvSpPr>
          <p:nvPr/>
        </p:nvSpPr>
        <p:spPr>
          <a:xfrm xmlns:a="http://schemas.openxmlformats.org/drawingml/2006/main">
            <a:off x="904875" y="57054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Current target-group membership</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Included and excluded groups</a:t>
            </a:r>
          </a:p>
        </p:txBody>
      </p:sp>
      <p:sp>
        <p:nvSpPr>
          <p:cNvPr id="14" name="Approved collector">
            <a:extLst xmlns:a="http://schemas.openxmlformats.org/drawingml/2006/main">
              <a:ext uri="{FF2B5EF4-FFF2-40B4-BE49-F238E27FC236}">
                <a16:creationId xmlns:a16="http://schemas.microsoft.com/office/drawing/2014/main" id="{967BBD60-1FF1-4B85-B737-2CFDE50B29E6}"/>
              </a:ext>
            </a:extLst>
          </p:cNvPr>
          <p:cNvSpPr>
            <a:spLocks xmlns:a="http://schemas.openxmlformats.org/drawingml/2006/main" noGrp="1"/>
          </p:cNvSpPr>
          <p:nvPr/>
        </p:nvSpPr>
        <p:spPr>
          <a:xfrm xmlns:a="http://schemas.openxmlformats.org/drawingml/2006/main">
            <a:off x="5886450" y="3305175"/>
            <a:ext cx="3333750" cy="2238375"/>
          </a:xfrm>
          <a:prstGeom xmlns:a="http://schemas.openxmlformats.org/drawingml/2006/main" prst="roundRect">
            <a:avLst>
              <a:gd name="adj" fmla="val 3830"/>
            </a:avLst>
          </a:prstGeom>
          <a:solidFill xmlns:a="http://schemas.openxmlformats.org/drawingml/2006/main">
            <a:srgbClr val="F3EFF8"/>
          </a:solidFill>
          <a:ln xmlns:a="http://schemas.openxmlformats.org/drawingml/2006/main" w="13335">
            <a:solidFill>
              <a:srgbClr val="7350A4"/>
            </a:solidFill>
            <a:prstDash val="solid"/>
          </a:ln>
        </p:spPr>
      </p:sp>
      <p:pic>
        <p:nvPicPr>
          <p:cNvPr id="15" name="">
            <a:extLst xmlns:a="http://schemas.openxmlformats.org/drawingml/2006/main">
              <a:ext uri="{FF2B5EF4-FFF2-40B4-BE49-F238E27FC236}">
                <a16:creationId xmlns:a16="http://schemas.microsoft.com/office/drawing/2014/main" id="{882584AF-0680-4375-BD05-A59DC4843DF7}"/>
              </a:ext>
            </a:extLst>
          </p:cNvPr>
          <p:cNvPicPr>
            <a:picLocks xmlns:a="http://schemas.openxmlformats.org/drawingml/2006/main" noChangeAspect="1"/>
          </p:cNvPicPr>
          <p:nvPr/>
        </p:nvPicPr>
        <p:blipFill>
          <a:blip xmlns:r="http://schemas.openxmlformats.org/officeDocument/2006/relationships" xmlns:a="http://schemas.openxmlformats.org/drawingml/2006/main" r:embed="Rb255299b2bc549bf"/>
          <a:stretch xmlns:a="http://schemas.openxmlformats.org/drawingml/2006/main"/>
        </p:blipFill>
        <p:spPr>
          <a:xfrm xmlns:a="http://schemas.openxmlformats.org/drawingml/2006/main">
            <a:off x="6076950" y="3486150"/>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1646BD62-037E-422F-909B-BFB195E837AE}"/>
              </a:ext>
            </a:extLst>
          </p:cNvPr>
          <p:cNvSpPr>
            <a:spLocks xmlns:a="http://schemas.openxmlformats.org/drawingml/2006/main" noGrp="1"/>
          </p:cNvSpPr>
          <p:nvPr/>
        </p:nvSpPr>
        <p:spPr>
          <a:xfrm xmlns:a="http://schemas.openxmlformats.org/drawingml/2006/main">
            <a:off x="6696075" y="3486150"/>
            <a:ext cx="238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Approved collector</a:t>
            </a:r>
          </a:p>
        </p:txBody>
      </p:sp>
      <p:sp>
        <p:nvSpPr>
          <p:cNvPr id="17" name="text">
            <a:extLst xmlns:a="http://schemas.openxmlformats.org/drawingml/2006/main">
              <a:ext uri="{FF2B5EF4-FFF2-40B4-BE49-F238E27FC236}">
                <a16:creationId xmlns:a16="http://schemas.microsoft.com/office/drawing/2014/main" id="{A345F5B3-CCA5-47D7-9040-F889F62FFA4D}"/>
              </a:ext>
            </a:extLst>
          </p:cNvPr>
          <p:cNvSpPr>
            <a:spLocks xmlns:a="http://schemas.openxmlformats.org/drawingml/2006/main" noGrp="1"/>
          </p:cNvSpPr>
          <p:nvPr/>
        </p:nvSpPr>
        <p:spPr>
          <a:xfrm xmlns:a="http://schemas.openxmlformats.org/drawingml/2006/main">
            <a:off x="6086475" y="4171950"/>
            <a:ext cx="29337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Initially reuse script outputs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Snapshot every membership check</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Retain check errors explicitly</a:t>
            </a:r>
          </a:p>
        </p:txBody>
      </p:sp>
      <p:sp>
        <p:nvSpPr>
          <p:cNvPr id="18" name="BigQuery snapshots">
            <a:extLst xmlns:a="http://schemas.openxmlformats.org/drawingml/2006/main">
              <a:ext uri="{FF2B5EF4-FFF2-40B4-BE49-F238E27FC236}">
                <a16:creationId xmlns:a16="http://schemas.microsoft.com/office/drawing/2014/main" id="{325C5F95-3BC3-491A-99B3-FA07BA7380E5}"/>
              </a:ext>
            </a:extLst>
          </p:cNvPr>
          <p:cNvSpPr>
            <a:spLocks xmlns:a="http://schemas.openxmlformats.org/drawingml/2006/main" noGrp="1"/>
          </p:cNvSpPr>
          <p:nvPr/>
        </p:nvSpPr>
        <p:spPr>
          <a:xfrm xmlns:a="http://schemas.openxmlformats.org/drawingml/2006/main">
            <a:off x="11096625" y="3305175"/>
            <a:ext cx="3429000" cy="2238375"/>
          </a:xfrm>
          <a:prstGeom xmlns:a="http://schemas.openxmlformats.org/drawingml/2006/main" prst="roundRect">
            <a:avLst>
              <a:gd name="adj" fmla="val 3830"/>
            </a:avLst>
          </a:prstGeom>
          <a:solidFill xmlns:a="http://schemas.openxmlformats.org/drawingml/2006/main">
            <a:srgbClr val="F3EFF8"/>
          </a:solidFill>
          <a:ln xmlns:a="http://schemas.openxmlformats.org/drawingml/2006/main" w="13335">
            <a:solidFill>
              <a:srgbClr val="7350A4"/>
            </a:solidFill>
            <a:prstDash val="solid"/>
          </a:ln>
        </p:spPr>
      </p:sp>
      <p:pic>
        <p:nvPicPr>
          <p:cNvPr id="19" name="">
            <a:extLst xmlns:a="http://schemas.openxmlformats.org/drawingml/2006/main">
              <a:ext uri="{FF2B5EF4-FFF2-40B4-BE49-F238E27FC236}">
                <a16:creationId xmlns:a16="http://schemas.microsoft.com/office/drawing/2014/main" id="{AE1B5047-1CEF-4642-B0DC-273BB9F543C5}"/>
              </a:ext>
            </a:extLst>
          </p:cNvPr>
          <p:cNvPicPr>
            <a:picLocks xmlns:a="http://schemas.openxmlformats.org/drawingml/2006/main" noChangeAspect="1"/>
          </p:cNvPicPr>
          <p:nvPr/>
        </p:nvPicPr>
        <p:blipFill>
          <a:blip xmlns:r="http://schemas.openxmlformats.org/officeDocument/2006/relationships" xmlns:a="http://schemas.openxmlformats.org/drawingml/2006/main" r:embed="R1f06267758ec4ed7"/>
          <a:stretch xmlns:a="http://schemas.openxmlformats.org/drawingml/2006/main"/>
        </p:blipFill>
        <p:spPr>
          <a:xfrm xmlns:a="http://schemas.openxmlformats.org/drawingml/2006/main">
            <a:off x="11287125" y="3486150"/>
            <a:ext cx="457200" cy="457200"/>
          </a:xfrm>
          <a:prstGeom xmlns:a="http://schemas.openxmlformats.org/drawingml/2006/main" prst="rect">
            <a:avLst/>
          </a:prstGeom>
        </p:spPr>
      </p:pic>
      <p:sp>
        <p:nvSpPr>
          <p:cNvPr id="20" name="text">
            <a:extLst xmlns:a="http://schemas.openxmlformats.org/drawingml/2006/main">
              <a:ext uri="{FF2B5EF4-FFF2-40B4-BE49-F238E27FC236}">
                <a16:creationId xmlns:a16="http://schemas.microsoft.com/office/drawing/2014/main" id="{F669373B-E54B-45D2-8EA6-E6342DAB8373}"/>
              </a:ext>
            </a:extLst>
          </p:cNvPr>
          <p:cNvSpPr>
            <a:spLocks xmlns:a="http://schemas.openxmlformats.org/drawingml/2006/main" noGrp="1"/>
          </p:cNvSpPr>
          <p:nvPr/>
        </p:nvSpPr>
        <p:spPr>
          <a:xfrm xmlns:a="http://schemas.openxmlformats.org/drawingml/2006/main">
            <a:off x="11906250" y="3486150"/>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BigQuery snapshots</a:t>
            </a:r>
          </a:p>
        </p:txBody>
      </p:sp>
      <p:sp>
        <p:nvSpPr>
          <p:cNvPr id="21" name="text">
            <a:extLst xmlns:a="http://schemas.openxmlformats.org/drawingml/2006/main">
              <a:ext uri="{FF2B5EF4-FFF2-40B4-BE49-F238E27FC236}">
                <a16:creationId xmlns:a16="http://schemas.microsoft.com/office/drawing/2014/main" id="{E996D288-F7E3-4D0A-ADAF-D84D5211C8E0}"/>
              </a:ext>
            </a:extLst>
          </p:cNvPr>
          <p:cNvSpPr>
            <a:spLocks xmlns:a="http://schemas.openxmlformats.org/drawingml/2006/main" noGrp="1"/>
          </p:cNvSpPr>
          <p:nvPr/>
        </p:nvSpPr>
        <p:spPr>
          <a:xfrm xmlns:a="http://schemas.openxmlformats.org/drawingml/2006/main">
            <a:off x="11296650" y="4171950"/>
            <a:ext cx="30289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Staff and UBR data</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SCIM membership and checks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Account type and exemptions</a:t>
            </a:r>
          </a:p>
        </p:txBody>
      </p:sp>
      <p:sp>
        <p:nvSpPr>
          <p:cNvPr id="25" name="box">
            <a:extLst xmlns:a="http://schemas.openxmlformats.org/drawingml/2006/main">
              <a:ext uri="{FF2B5EF4-FFF2-40B4-BE49-F238E27FC236}">
                <a16:creationId xmlns:a16="http://schemas.microsoft.com/office/drawing/2014/main" id="{9E44D6EB-D7EA-466E-809C-9277F19710AC}"/>
              </a:ext>
            </a:extLst>
          </p:cNvPr>
          <p:cNvSpPr>
            <a:spLocks xmlns:a="http://schemas.openxmlformats.org/drawingml/2006/main" noGrp="1"/>
          </p:cNvSpPr>
          <p:nvPr/>
        </p:nvSpPr>
        <p:spPr>
          <a:xfrm xmlns:a="http://schemas.openxmlformats.org/drawingml/2006/main">
            <a:off x="685800" y="7115175"/>
            <a:ext cx="13868400" cy="619125"/>
          </a:xfrm>
          <a:prstGeom xmlns:a="http://schemas.openxmlformats.org/drawingml/2006/main" prst="rect">
            <a:avLst/>
          </a:prstGeom>
          <a:solidFill xmlns:a="http://schemas.openxmlformats.org/drawingml/2006/main">
            <a:srgbClr val="F3EFF8"/>
          </a:solidFill>
          <a:ln xmlns:a="http://schemas.openxmlformats.org/drawingml/2006/main" w="0">
            <a:noFill/>
            <a:prstDash val="solid"/>
          </a:ln>
        </p:spPr>
      </p:sp>
      <p:sp>
        <p:nvSpPr>
          <p:cNvPr id="26" name="box">
            <a:extLst xmlns:a="http://schemas.openxmlformats.org/drawingml/2006/main">
              <a:ext uri="{FF2B5EF4-FFF2-40B4-BE49-F238E27FC236}">
                <a16:creationId xmlns:a16="http://schemas.microsoft.com/office/drawing/2014/main" id="{9A141434-FCD9-4A6C-A090-2581E40CC960}"/>
              </a:ext>
            </a:extLst>
          </p:cNvPr>
          <p:cNvSpPr>
            <a:spLocks xmlns:a="http://schemas.openxmlformats.org/drawingml/2006/main" noGrp="1"/>
          </p:cNvSpPr>
          <p:nvPr/>
        </p:nvSpPr>
        <p:spPr>
          <a:xfrm xmlns:a="http://schemas.openxmlformats.org/drawingml/2006/main">
            <a:off x="685800" y="7115175"/>
            <a:ext cx="47625" cy="619125"/>
          </a:xfrm>
          <a:prstGeom xmlns:a="http://schemas.openxmlformats.org/drawingml/2006/main" prst="rect">
            <a:avLst/>
          </a:prstGeom>
          <a:solidFill xmlns:a="http://schemas.openxmlformats.org/drawingml/2006/main">
            <a:srgbClr val="7350A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115ADB13-77A0-4107-955A-801ACD69173E}"/>
              </a:ext>
            </a:extLst>
          </p:cNvPr>
          <p:cNvSpPr>
            <a:spLocks xmlns:a="http://schemas.openxmlformats.org/drawingml/2006/main" noGrp="1"/>
          </p:cNvSpPr>
          <p:nvPr/>
        </p:nvSpPr>
        <p:spPr>
          <a:xfrm xmlns:a="http://schemas.openxmlformats.org/drawingml/2006/main">
            <a:off x="895350" y="7277100"/>
            <a:ext cx="1345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12D49"/>
                </a:solidFill>
                <a:latin typeface="Nimbus Sans"/>
                <a:ea typeface="Nimbus Sans"/>
                <a:cs typeface="Nimbus Sans"/>
              </a:defRPr>
            </a:defPPr>
          </a:lstStyle>
          <a:p xmlns:a="http://schemas.openxmlformats.org/drawingml/2006/main">
            <a:pPr algn="l">
              <a:defRPr sz="1800" b="0">
                <a:solidFill>
                  <a:srgbClr val="112D49"/>
                </a:solidFill>
                <a:latin typeface="Nimbus Sans"/>
                <a:ea typeface="Nimbus Sans"/>
                <a:cs typeface="Nimbus Sans"/>
              </a:defRPr>
            </a:pPr>
            <a:r>
              <a:rPr sz="1800" b="0">
                <a:solidFill>
                  <a:srgbClr val="112D49"/>
                </a:solidFill>
                <a:latin typeface="Nimbus Sans"/>
                <a:ea typeface="Nimbus Sans"/>
                <a:cs typeface="Nimbus Sans"/>
              </a:rPr>
              <a:t>A failed directory lookup creates a data-review status. It must never become “not a member” or permission to remove access.</a:t>
            </a:r>
          </a:p>
        </p:txBody>
      </p:sp>
    </p:spTree>
    <p:extLst>
      <p:ext uri="{BB962C8B-B14F-4D97-AF65-F5344CB8AC3E}">
        <p14:creationId xmlns:p14="http://schemas.microsoft.com/office/powerpoint/2010/main" val="15119608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38E1F255-545F-49EF-B400-7B95F272EB23}"/>
              </a:ext>
            </a:extLst>
          </p:cNvPr>
          <p:cNvCxnSpPr>
            <a:stCxn xmlns:a="http://schemas.openxmlformats.org/drawingml/2006/main" id="18" idx="3"/>
            <a:endCxn xmlns:a="http://schemas.openxmlformats.org/drawingml/2006/main" id="30" idx="1"/>
          </p:cNvCxnSpPr>
          <p:nvPr/>
        </p:nvCxnSpPr>
        <p:spPr>
          <a:xfrm xmlns:a="http://schemas.openxmlformats.org/drawingml/2006/main">
            <a:off x="9429750" y="4471988"/>
            <a:ext cx="1914525" cy="1585913"/>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5962A060-DA75-4B6B-A6D2-79A0EE7F4EF3}"/>
              </a:ext>
            </a:extLst>
          </p:cNvPr>
          <p:cNvCxnSpPr>
            <a:stCxn xmlns:a="http://schemas.openxmlformats.org/drawingml/2006/main" id="18" idx="3"/>
            <a:endCxn xmlns:a="http://schemas.openxmlformats.org/drawingml/2006/main" id="26" idx="1"/>
          </p:cNvCxnSpPr>
          <p:nvPr/>
        </p:nvCxnSpPr>
        <p:spPr>
          <a:xfrm xmlns:a="http://schemas.openxmlformats.org/drawingml/2006/main" flipV="1">
            <a:off x="9429750" y="3305175"/>
            <a:ext cx="1914525" cy="1166813"/>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61E659A7-8BBC-432A-AD08-5E5A70D0EDAD}"/>
              </a:ext>
            </a:extLst>
          </p:cNvPr>
          <p:cNvCxnSpPr>
            <a:stCxn xmlns:a="http://schemas.openxmlformats.org/drawingml/2006/main" id="14" idx="3"/>
            <a:endCxn xmlns:a="http://schemas.openxmlformats.org/drawingml/2006/main" id="18" idx="1"/>
          </p:cNvCxnSpPr>
          <p:nvPr/>
        </p:nvCxnSpPr>
        <p:spPr>
          <a:xfrm xmlns:a="http://schemas.openxmlformats.org/drawingml/2006/main" flipV="1">
            <a:off x="4095750" y="4471988"/>
            <a:ext cx="1943100" cy="1952625"/>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D9D1F6ED-0837-4D7D-A59C-DA7B086184E4}"/>
              </a:ext>
            </a:extLst>
          </p:cNvPr>
          <p:cNvCxnSpPr>
            <a:stCxn xmlns:a="http://schemas.openxmlformats.org/drawingml/2006/main" id="10" idx="3"/>
            <a:endCxn xmlns:a="http://schemas.openxmlformats.org/drawingml/2006/main" id="18" idx="1"/>
          </p:cNvCxnSpPr>
          <p:nvPr/>
        </p:nvCxnSpPr>
        <p:spPr>
          <a:xfrm xmlns:a="http://schemas.openxmlformats.org/drawingml/2006/main" flipV="1">
            <a:off x="4095750" y="4471988"/>
            <a:ext cx="1943100" cy="104775"/>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1A92923-21D5-4934-B1D0-38580099AD96}"/>
              </a:ext>
            </a:extLst>
          </p:cNvPr>
          <p:cNvCxnSpPr>
            <a:stCxn xmlns:a="http://schemas.openxmlformats.org/drawingml/2006/main" id="6" idx="3"/>
            <a:endCxn xmlns:a="http://schemas.openxmlformats.org/drawingml/2006/main" id="18" idx="1"/>
          </p:cNvCxnSpPr>
          <p:nvPr/>
        </p:nvCxnSpPr>
        <p:spPr>
          <a:xfrm xmlns:a="http://schemas.openxmlformats.org/drawingml/2006/main">
            <a:off x="4095750" y="2728913"/>
            <a:ext cx="1943100" cy="1743075"/>
          </a:xfrm>
          <a:prstGeom xmlns:a="http://schemas.openxmlformats.org/drawingml/2006/main" prst="bentConnector3">
            <a:avLst>
              <a:gd name="adj1" fmla="val 50000"/>
            </a:avLst>
          </a:prstGeom>
          <a:ln xmlns:a="http://schemas.openxmlformats.org/drawingml/2006/main" w="22860">
            <a:solidFill>
              <a:srgbClr val="5B6F83"/>
            </a:solidFill>
            <a:prstDash val="solid"/>
            <a:tailEnd type="triangle" w="med" len="med"/>
          </a:ln>
        </p:spPr>
      </p:cxnSp>
      <p:sp>
        <p:nvSpPr>
          <p:cNvPr id="37" name="slide-title">
            <a:extLst xmlns:a="http://schemas.openxmlformats.org/drawingml/2006/main">
              <a:ext uri="{FF2B5EF4-FFF2-40B4-BE49-F238E27FC236}">
                <a16:creationId xmlns:a16="http://schemas.microsoft.com/office/drawing/2014/main" id="{AC01C1A2-F1B6-48EC-95EF-D9DAD6CDC45B}"/>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How the three paths combine</a:t>
            </a:r>
          </a:p>
        </p:txBody>
      </p:sp>
      <p:sp>
        <p:nvSpPr>
          <p:cNvPr id="2" name="slide-subtitle">
            <a:extLst xmlns:a="http://schemas.openxmlformats.org/drawingml/2006/main">
              <a:ext uri="{FF2B5EF4-FFF2-40B4-BE49-F238E27FC236}">
                <a16:creationId xmlns:a16="http://schemas.microsoft.com/office/drawing/2014/main" id="{BE9458B6-F193-4033-A00B-EAE8DAF840AC}"/>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The licensed-user inventory remains the starting population, including users with no observed activity</a:t>
            </a:r>
          </a:p>
        </p:txBody>
      </p:sp>
      <p:sp>
        <p:nvSpPr>
          <p:cNvPr id="3" name="">
            <a:extLst xmlns:a="http://schemas.openxmlformats.org/drawingml/2006/main">
              <a:ext uri="{FF2B5EF4-FFF2-40B4-BE49-F238E27FC236}">
                <a16:creationId xmlns:a16="http://schemas.microsoft.com/office/drawing/2014/main" id="{B74D4B8F-ED1F-4202-98BA-C9EC8CB61077}"/>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E1673CCE-9E1E-48C3-B2C1-D734E573D5B1}"/>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52AE3B4C-182B-4A8F-A0CA-276B8A7CA80E}"/>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7</a:t>
            </a:r>
          </a:p>
        </p:txBody>
      </p:sp>
      <p:sp>
        <p:nvSpPr>
          <p:cNvPr id="6" name="Current licensed users">
            <a:extLst xmlns:a="http://schemas.openxmlformats.org/drawingml/2006/main">
              <a:ext uri="{FF2B5EF4-FFF2-40B4-BE49-F238E27FC236}">
                <a16:creationId xmlns:a16="http://schemas.microsoft.com/office/drawing/2014/main" id="{8D7C9E00-76D1-404A-A16D-E3B1B6088072}"/>
              </a:ext>
            </a:extLst>
          </p:cNvPr>
          <p:cNvSpPr>
            <a:spLocks xmlns:a="http://schemas.openxmlformats.org/drawingml/2006/main" noGrp="1"/>
          </p:cNvSpPr>
          <p:nvPr/>
        </p:nvSpPr>
        <p:spPr>
          <a:xfrm xmlns:a="http://schemas.openxmlformats.org/drawingml/2006/main">
            <a:off x="685800" y="2028825"/>
            <a:ext cx="3409950" cy="1400175"/>
          </a:xfrm>
          <a:prstGeom xmlns:a="http://schemas.openxmlformats.org/drawingml/2006/main" prst="roundRect">
            <a:avLst>
              <a:gd name="adj" fmla="val 6122"/>
            </a:avLst>
          </a:prstGeom>
          <a:solidFill xmlns:a="http://schemas.openxmlformats.org/drawingml/2006/main">
            <a:srgbClr val="F3F7FB"/>
          </a:solidFill>
          <a:ln xmlns:a="http://schemas.openxmlformats.org/drawingml/2006/main" w="13335">
            <a:solidFill>
              <a:srgbClr val="3276D2"/>
            </a:solidFill>
            <a:prstDash val="solid"/>
          </a:ln>
        </p:spPr>
      </p:sp>
      <p:pic>
        <p:nvPicPr>
          <p:cNvPr id="7" name="">
            <a:extLst xmlns:a="http://schemas.openxmlformats.org/drawingml/2006/main">
              <a:ext uri="{FF2B5EF4-FFF2-40B4-BE49-F238E27FC236}">
                <a16:creationId xmlns:a16="http://schemas.microsoft.com/office/drawing/2014/main" id="{D82924DC-08E6-4A8F-9C2A-73E99CBC58EE}"/>
              </a:ext>
            </a:extLst>
          </p:cNvPr>
          <p:cNvPicPr>
            <a:picLocks xmlns:a="http://schemas.openxmlformats.org/drawingml/2006/main" noChangeAspect="1"/>
          </p:cNvPicPr>
          <p:nvPr/>
        </p:nvPicPr>
        <p:blipFill>
          <a:blip xmlns:r="http://schemas.openxmlformats.org/officeDocument/2006/relationships" xmlns:a="http://schemas.openxmlformats.org/drawingml/2006/main" r:embed="R64c030c36ad0409f">
            <a:extLst>
              <a:ext uri="{96DAC541-7B7A-43D3-8B79-37D633B846F1}">
                <asvg:svgBlip xmlns:asvg="http://schemas.microsoft.com/office/drawing/2016/SVG/main" r:embed="R476307b457fa4e85"/>
              </a:ext>
            </a:extLst>
          </a:blip>
          <a:stretch xmlns:a="http://schemas.openxmlformats.org/drawingml/2006/main"/>
        </p:blipFill>
        <p:spPr>
          <a:xfrm xmlns:a="http://schemas.openxmlformats.org/drawingml/2006/main">
            <a:off x="876300" y="2209800"/>
            <a:ext cx="457200" cy="4572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1950334-597D-41A2-BC2F-944FF74AFF86}"/>
              </a:ext>
            </a:extLst>
          </p:cNvPr>
          <p:cNvSpPr>
            <a:spLocks xmlns:a="http://schemas.openxmlformats.org/drawingml/2006/main" noGrp="1"/>
          </p:cNvSpPr>
          <p:nvPr/>
        </p:nvSpPr>
        <p:spPr>
          <a:xfrm xmlns:a="http://schemas.openxmlformats.org/drawingml/2006/main">
            <a:off x="1495425" y="2209800"/>
            <a:ext cx="2457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Current licensed users</a:t>
            </a:r>
          </a:p>
        </p:txBody>
      </p:sp>
      <p:sp>
        <p:nvSpPr>
          <p:cNvPr id="9" name="text">
            <a:extLst xmlns:a="http://schemas.openxmlformats.org/drawingml/2006/main">
              <a:ext uri="{FF2B5EF4-FFF2-40B4-BE49-F238E27FC236}">
                <a16:creationId xmlns:a16="http://schemas.microsoft.com/office/drawing/2014/main" id="{EB26A60C-6820-4458-965E-D07154F245EC}"/>
              </a:ext>
            </a:extLst>
          </p:cNvPr>
          <p:cNvSpPr>
            <a:spLocks xmlns:a="http://schemas.openxmlformats.org/drawingml/2006/main" noGrp="1"/>
          </p:cNvSpPr>
          <p:nvPr/>
        </p:nvSpPr>
        <p:spPr>
          <a:xfrm xmlns:a="http://schemas.openxmlformats.org/drawingml/2006/main">
            <a:off x="885825" y="2847975"/>
            <a:ext cx="300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Latest validated COMPLETE snapshot</a:t>
            </a:r>
          </a:p>
        </p:txBody>
      </p:sp>
      <p:sp>
        <p:nvSpPr>
          <p:cNvPr id="10" name="Activity summary">
            <a:extLst xmlns:a="http://schemas.openxmlformats.org/drawingml/2006/main">
              <a:ext uri="{FF2B5EF4-FFF2-40B4-BE49-F238E27FC236}">
                <a16:creationId xmlns:a16="http://schemas.microsoft.com/office/drawing/2014/main" id="{CB6D7A49-4284-4FDD-A17A-43A0CD52E46A}"/>
              </a:ext>
            </a:extLst>
          </p:cNvPr>
          <p:cNvSpPr>
            <a:spLocks xmlns:a="http://schemas.openxmlformats.org/drawingml/2006/main" noGrp="1"/>
          </p:cNvSpPr>
          <p:nvPr/>
        </p:nvSpPr>
        <p:spPr>
          <a:xfrm xmlns:a="http://schemas.openxmlformats.org/drawingml/2006/main">
            <a:off x="685800" y="3876675"/>
            <a:ext cx="3409950" cy="1400175"/>
          </a:xfrm>
          <a:prstGeom xmlns:a="http://schemas.openxmlformats.org/drawingml/2006/main" prst="roundRect">
            <a:avLst>
              <a:gd name="adj" fmla="val 6122"/>
            </a:avLst>
          </a:prstGeom>
          <a:solidFill xmlns:a="http://schemas.openxmlformats.org/drawingml/2006/main">
            <a:srgbClr val="EAF7F6"/>
          </a:solidFill>
          <a:ln xmlns:a="http://schemas.openxmlformats.org/drawingml/2006/main" w="13335">
            <a:solidFill>
              <a:srgbClr val="008A91"/>
            </a:solidFill>
            <a:prstDash val="solid"/>
          </a:ln>
        </p:spPr>
      </p:sp>
      <p:pic>
        <p:nvPicPr>
          <p:cNvPr id="11" name="">
            <a:extLst xmlns:a="http://schemas.openxmlformats.org/drawingml/2006/main">
              <a:ext uri="{FF2B5EF4-FFF2-40B4-BE49-F238E27FC236}">
                <a16:creationId xmlns:a16="http://schemas.microsoft.com/office/drawing/2014/main" id="{2E9ADBE7-CD0E-4AC8-B618-20E5C30AA09E}"/>
              </a:ext>
            </a:extLst>
          </p:cNvPr>
          <p:cNvPicPr>
            <a:picLocks xmlns:a="http://schemas.openxmlformats.org/drawingml/2006/main" noChangeAspect="1"/>
          </p:cNvPicPr>
          <p:nvPr/>
        </p:nvPicPr>
        <p:blipFill>
          <a:blip xmlns:r="http://schemas.openxmlformats.org/officeDocument/2006/relationships" xmlns:a="http://schemas.openxmlformats.org/drawingml/2006/main" r:embed="Rad1de1589b3f4b07">
            <a:extLst>
              <a:ext uri="{96DAC541-7B7A-43D3-8B79-37D633B846F1}">
                <asvg:svgBlip xmlns:asvg="http://schemas.microsoft.com/office/drawing/2016/SVG/main" r:embed="Re7ad9879371944f6"/>
              </a:ext>
            </a:extLst>
          </a:blip>
          <a:stretch xmlns:a="http://schemas.openxmlformats.org/drawingml/2006/main"/>
        </p:blipFill>
        <p:spPr>
          <a:xfrm xmlns:a="http://schemas.openxmlformats.org/drawingml/2006/main">
            <a:off x="876300" y="4057650"/>
            <a:ext cx="457200" cy="45720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3A2416A9-8303-4FA1-93D1-344C4F6DCBE7}"/>
              </a:ext>
            </a:extLst>
          </p:cNvPr>
          <p:cNvSpPr>
            <a:spLocks xmlns:a="http://schemas.openxmlformats.org/drawingml/2006/main" noGrp="1"/>
          </p:cNvSpPr>
          <p:nvPr/>
        </p:nvSpPr>
        <p:spPr>
          <a:xfrm xmlns:a="http://schemas.openxmlformats.org/drawingml/2006/main">
            <a:off x="1495425" y="4057650"/>
            <a:ext cx="2457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Activity summary</a:t>
            </a:r>
          </a:p>
        </p:txBody>
      </p:sp>
      <p:sp>
        <p:nvSpPr>
          <p:cNvPr id="13" name="text">
            <a:extLst xmlns:a="http://schemas.openxmlformats.org/drawingml/2006/main">
              <a:ext uri="{FF2B5EF4-FFF2-40B4-BE49-F238E27FC236}">
                <a16:creationId xmlns:a16="http://schemas.microsoft.com/office/drawing/2014/main" id="{5BA4E2F5-979E-411B-BA24-A1C85364FCFA}"/>
              </a:ext>
            </a:extLst>
          </p:cNvPr>
          <p:cNvSpPr>
            <a:spLocks xmlns:a="http://schemas.openxmlformats.org/drawingml/2006/main" noGrp="1"/>
          </p:cNvSpPr>
          <p:nvPr/>
        </p:nvSpPr>
        <p:spPr>
          <a:xfrm xmlns:a="http://schemas.openxmlformats.org/drawingml/2006/main">
            <a:off x="885825" y="4695825"/>
            <a:ext cx="300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Last activity, Git and SSO signals</a:t>
            </a:r>
          </a:p>
        </p:txBody>
      </p:sp>
      <p:sp>
        <p:nvSpPr>
          <p:cNvPr id="14" name="Staff and eligibility">
            <a:extLst xmlns:a="http://schemas.openxmlformats.org/drawingml/2006/main">
              <a:ext uri="{FF2B5EF4-FFF2-40B4-BE49-F238E27FC236}">
                <a16:creationId xmlns:a16="http://schemas.microsoft.com/office/drawing/2014/main" id="{2039BCD2-60B7-4B38-834D-266A049CF9C3}"/>
              </a:ext>
            </a:extLst>
          </p:cNvPr>
          <p:cNvSpPr>
            <a:spLocks xmlns:a="http://schemas.openxmlformats.org/drawingml/2006/main" noGrp="1"/>
          </p:cNvSpPr>
          <p:nvPr/>
        </p:nvSpPr>
        <p:spPr>
          <a:xfrm xmlns:a="http://schemas.openxmlformats.org/drawingml/2006/main">
            <a:off x="685800" y="5724525"/>
            <a:ext cx="3409950" cy="1400175"/>
          </a:xfrm>
          <a:prstGeom xmlns:a="http://schemas.openxmlformats.org/drawingml/2006/main" prst="roundRect">
            <a:avLst>
              <a:gd name="adj" fmla="val 6122"/>
            </a:avLst>
          </a:prstGeom>
          <a:solidFill xmlns:a="http://schemas.openxmlformats.org/drawingml/2006/main">
            <a:srgbClr val="F3EFF8"/>
          </a:solidFill>
          <a:ln xmlns:a="http://schemas.openxmlformats.org/drawingml/2006/main" w="13335">
            <a:solidFill>
              <a:srgbClr val="7350A4"/>
            </a:solidFill>
            <a:prstDash val="solid"/>
          </a:ln>
        </p:spPr>
      </p:sp>
      <p:pic>
        <p:nvPicPr>
          <p:cNvPr id="15" name="">
            <a:extLst xmlns:a="http://schemas.openxmlformats.org/drawingml/2006/main">
              <a:ext uri="{FF2B5EF4-FFF2-40B4-BE49-F238E27FC236}">
                <a16:creationId xmlns:a16="http://schemas.microsoft.com/office/drawing/2014/main" id="{50A021AA-F562-4530-AA99-508DE60CFCF3}"/>
              </a:ext>
            </a:extLst>
          </p:cNvPr>
          <p:cNvPicPr>
            <a:picLocks xmlns:a="http://schemas.openxmlformats.org/drawingml/2006/main" noChangeAspect="1"/>
          </p:cNvPicPr>
          <p:nvPr/>
        </p:nvPicPr>
        <p:blipFill>
          <a:blip xmlns:r="http://schemas.openxmlformats.org/officeDocument/2006/relationships" xmlns:a="http://schemas.openxmlformats.org/drawingml/2006/main" r:embed="R575baef9136241a6">
            <a:extLst>
              <a:ext uri="{96DAC541-7B7A-43D3-8B79-37D633B846F1}">
                <asvg:svgBlip xmlns:asvg="http://schemas.microsoft.com/office/drawing/2016/SVG/main" r:embed="R177f27f6918c4536"/>
              </a:ext>
            </a:extLst>
          </a:blip>
          <a:stretch xmlns:a="http://schemas.openxmlformats.org/drawingml/2006/main"/>
        </p:blipFill>
        <p:spPr>
          <a:xfrm xmlns:a="http://schemas.openxmlformats.org/drawingml/2006/main">
            <a:off x="876300" y="5905500"/>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1D0AB823-1A48-4206-AF49-CED92BD59518}"/>
              </a:ext>
            </a:extLst>
          </p:cNvPr>
          <p:cNvSpPr>
            <a:spLocks xmlns:a="http://schemas.openxmlformats.org/drawingml/2006/main" noGrp="1"/>
          </p:cNvSpPr>
          <p:nvPr/>
        </p:nvSpPr>
        <p:spPr>
          <a:xfrm xmlns:a="http://schemas.openxmlformats.org/drawingml/2006/main">
            <a:off x="1495425" y="5905500"/>
            <a:ext cx="2457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Staff and eligibility</a:t>
            </a:r>
          </a:p>
        </p:txBody>
      </p:sp>
      <p:sp>
        <p:nvSpPr>
          <p:cNvPr id="17" name="text">
            <a:extLst xmlns:a="http://schemas.openxmlformats.org/drawingml/2006/main">
              <a:ext uri="{FF2B5EF4-FFF2-40B4-BE49-F238E27FC236}">
                <a16:creationId xmlns:a16="http://schemas.microsoft.com/office/drawing/2014/main" id="{8E848061-0E52-402D-8592-F100596E157B}"/>
              </a:ext>
            </a:extLst>
          </p:cNvPr>
          <p:cNvSpPr>
            <a:spLocks xmlns:a="http://schemas.openxmlformats.org/drawingml/2006/main" noGrp="1"/>
          </p:cNvSpPr>
          <p:nvPr/>
        </p:nvSpPr>
        <p:spPr>
          <a:xfrm xmlns:a="http://schemas.openxmlformats.org/drawingml/2006/main">
            <a:off x="885825" y="6543675"/>
            <a:ext cx="300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Ownership, groups and exemptions</a:t>
            </a:r>
          </a:p>
        </p:txBody>
      </p:sp>
      <p:sp>
        <p:nvSpPr>
          <p:cNvPr id="18" name="Dormancy user model">
            <a:extLst xmlns:a="http://schemas.openxmlformats.org/drawingml/2006/main">
              <a:ext uri="{FF2B5EF4-FFF2-40B4-BE49-F238E27FC236}">
                <a16:creationId xmlns:a16="http://schemas.microsoft.com/office/drawing/2014/main" id="{FA301215-76D0-4316-B682-85A85AB24513}"/>
              </a:ext>
            </a:extLst>
          </p:cNvPr>
          <p:cNvSpPr>
            <a:spLocks xmlns:a="http://schemas.openxmlformats.org/drawingml/2006/main" noGrp="1"/>
          </p:cNvSpPr>
          <p:nvPr/>
        </p:nvSpPr>
        <p:spPr>
          <a:xfrm xmlns:a="http://schemas.openxmlformats.org/drawingml/2006/main">
            <a:off x="6038850" y="3152775"/>
            <a:ext cx="3390900" cy="2638425"/>
          </a:xfrm>
          <a:prstGeom xmlns:a="http://schemas.openxmlformats.org/drawingml/2006/main" prst="roundRect">
            <a:avLst>
              <a:gd name="adj" fmla="val 3249"/>
            </a:avLst>
          </a:prstGeom>
          <a:solidFill xmlns:a="http://schemas.openxmlformats.org/drawingml/2006/main">
            <a:srgbClr val="F3F7FB"/>
          </a:solidFill>
          <a:ln xmlns:a="http://schemas.openxmlformats.org/drawingml/2006/main" w="13335">
            <a:solidFill>
              <a:srgbClr val="3276D2"/>
            </a:solidFill>
            <a:prstDash val="solid"/>
          </a:ln>
        </p:spPr>
      </p:sp>
      <p:pic>
        <p:nvPicPr>
          <p:cNvPr id="19" name="">
            <a:extLst xmlns:a="http://schemas.openxmlformats.org/drawingml/2006/main">
              <a:ext uri="{FF2B5EF4-FFF2-40B4-BE49-F238E27FC236}">
                <a16:creationId xmlns:a16="http://schemas.microsoft.com/office/drawing/2014/main" id="{972512AC-07A4-4EAA-9EE0-5F1B60F80C54}"/>
              </a:ext>
            </a:extLst>
          </p:cNvPr>
          <p:cNvPicPr>
            <a:picLocks xmlns:a="http://schemas.openxmlformats.org/drawingml/2006/main" noChangeAspect="1"/>
          </p:cNvPicPr>
          <p:nvPr/>
        </p:nvPicPr>
        <p:blipFill>
          <a:blip xmlns:r="http://schemas.openxmlformats.org/officeDocument/2006/relationships" xmlns:a="http://schemas.openxmlformats.org/drawingml/2006/main" r:embed="Rb954efb78d0247fc"/>
          <a:stretch xmlns:a="http://schemas.openxmlformats.org/drawingml/2006/main"/>
        </p:blipFill>
        <p:spPr>
          <a:xfrm xmlns:a="http://schemas.openxmlformats.org/drawingml/2006/main">
            <a:off x="6229350" y="3333750"/>
            <a:ext cx="457200" cy="457200"/>
          </a:xfrm>
          <a:prstGeom xmlns:a="http://schemas.openxmlformats.org/drawingml/2006/main" prst="rect">
            <a:avLst/>
          </a:prstGeom>
        </p:spPr>
      </p:pic>
      <p:sp>
        <p:nvSpPr>
          <p:cNvPr id="20" name="text">
            <a:extLst xmlns:a="http://schemas.openxmlformats.org/drawingml/2006/main">
              <a:ext uri="{FF2B5EF4-FFF2-40B4-BE49-F238E27FC236}">
                <a16:creationId xmlns:a16="http://schemas.microsoft.com/office/drawing/2014/main" id="{801F939A-CFEA-4499-AE7F-51993721D619}"/>
              </a:ext>
            </a:extLst>
          </p:cNvPr>
          <p:cNvSpPr>
            <a:spLocks xmlns:a="http://schemas.openxmlformats.org/drawingml/2006/main" noGrp="1"/>
          </p:cNvSpPr>
          <p:nvPr/>
        </p:nvSpPr>
        <p:spPr>
          <a:xfrm xmlns:a="http://schemas.openxmlformats.org/drawingml/2006/main">
            <a:off x="6848475" y="3333750"/>
            <a:ext cx="24384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112D49"/>
                </a:solidFill>
                <a:latin typeface="Nimbus Sans"/>
                <a:ea typeface="Nimbus Sans"/>
                <a:cs typeface="Nimbus Sans"/>
              </a:defRPr>
            </a:defPPr>
          </a:lstStyle>
          <a:p xmlns:a="http://schemas.openxmlformats.org/drawingml/2006/main">
            <a:pPr algn="l">
              <a:defRPr sz="1950" b="1">
                <a:solidFill>
                  <a:srgbClr val="112D49"/>
                </a:solidFill>
                <a:latin typeface="Nimbus Sans"/>
                <a:ea typeface="Nimbus Sans"/>
                <a:cs typeface="Nimbus Sans"/>
              </a:defRPr>
            </a:pPr>
            <a:r>
              <a:rPr sz="1950" b="1">
                <a:solidFill>
                  <a:srgbClr val="112D49"/>
                </a:solidFill>
                <a:latin typeface="Nimbus Sans"/>
                <a:ea typeface="Nimbus Sans"/>
                <a:cs typeface="Nimbus Sans"/>
              </a:rPr>
              <a:t>Dormancy user model</a:t>
            </a:r>
          </a:p>
        </p:txBody>
      </p:sp>
      <p:sp>
        <p:nvSpPr>
          <p:cNvPr id="21" name="text">
            <a:extLst xmlns:a="http://schemas.openxmlformats.org/drawingml/2006/main">
              <a:ext uri="{FF2B5EF4-FFF2-40B4-BE49-F238E27FC236}">
                <a16:creationId xmlns:a16="http://schemas.microsoft.com/office/drawing/2014/main" id="{CA02115C-D202-4A02-80DB-2705F15154B2}"/>
              </a:ext>
            </a:extLst>
          </p:cNvPr>
          <p:cNvSpPr>
            <a:spLocks xmlns:a="http://schemas.openxmlformats.org/drawingml/2006/main" noGrp="1"/>
          </p:cNvSpPr>
          <p:nvPr/>
        </p:nvSpPr>
        <p:spPr>
          <a:xfrm xmlns:a="http://schemas.openxmlformats.org/drawingml/2006/main">
            <a:off x="6238875" y="4019550"/>
            <a:ext cx="2990850" cy="1704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Identity mapping and LEFT JOINs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30 / 45 / 60 / 90-day rules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One row per licensed user</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Reason and evidence for each status</a:t>
            </a:r>
          </a:p>
        </p:txBody>
      </p:sp>
      <p:sp>
        <p:nvSpPr>
          <p:cNvPr id="25" name="text">
            <a:extLst xmlns:a="http://schemas.openxmlformats.org/drawingml/2006/main">
              <a:ext uri="{FF2B5EF4-FFF2-40B4-BE49-F238E27FC236}">
                <a16:creationId xmlns:a16="http://schemas.microsoft.com/office/drawing/2014/main" id="{2C40AE5B-7672-4C52-B764-8AE5AF7AB39C}"/>
              </a:ext>
            </a:extLst>
          </p:cNvPr>
          <p:cNvSpPr>
            <a:spLocks xmlns:a="http://schemas.openxmlformats.org/drawingml/2006/main" noGrp="1"/>
          </p:cNvSpPr>
          <p:nvPr/>
        </p:nvSpPr>
        <p:spPr>
          <a:xfrm xmlns:a="http://schemas.openxmlformats.org/drawingml/2006/main">
            <a:off x="4381500" y="207645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B6F83"/>
                </a:solidFill>
                <a:latin typeface="Nimbus Sans"/>
                <a:ea typeface="Nimbus Sans"/>
                <a:cs typeface="Nimbus Sans"/>
              </a:defRPr>
            </a:defPPr>
          </a:lstStyle>
          <a:p xmlns:a="http://schemas.openxmlformats.org/drawingml/2006/main">
            <a:pPr algn="l">
              <a:defRPr sz="1650" b="0">
                <a:solidFill>
                  <a:srgbClr val="5B6F83"/>
                </a:solidFill>
                <a:latin typeface="Nimbus Sans"/>
                <a:ea typeface="Nimbus Sans"/>
                <a:cs typeface="Nimbus Sans"/>
              </a:defRPr>
            </a:pPr>
            <a:r>
              <a:rPr sz="1650" b="0">
                <a:solidFill>
                  <a:srgbClr val="5B6F83"/>
                </a:solidFill>
                <a:latin typeface="Nimbus Sans"/>
                <a:ea typeface="Nimbus Sans"/>
                <a:cs typeface="Nimbus Sans"/>
              </a:rPr>
              <a:t>Identity mapping</a:t>
            </a:r>
          </a:p>
        </p:txBody>
      </p:sp>
      <p:sp>
        <p:nvSpPr>
          <p:cNvPr id="26" name="Grafana reporting">
            <a:extLst xmlns:a="http://schemas.openxmlformats.org/drawingml/2006/main">
              <a:ext uri="{FF2B5EF4-FFF2-40B4-BE49-F238E27FC236}">
                <a16:creationId xmlns:a16="http://schemas.microsoft.com/office/drawing/2014/main" id="{39C4C300-379D-4F0C-8745-786349524EFE}"/>
              </a:ext>
            </a:extLst>
          </p:cNvPr>
          <p:cNvSpPr>
            <a:spLocks xmlns:a="http://schemas.openxmlformats.org/drawingml/2006/main" noGrp="1"/>
          </p:cNvSpPr>
          <p:nvPr/>
        </p:nvSpPr>
        <p:spPr>
          <a:xfrm xmlns:a="http://schemas.openxmlformats.org/drawingml/2006/main">
            <a:off x="11344275" y="2400300"/>
            <a:ext cx="3190875" cy="1809750"/>
          </a:xfrm>
          <a:prstGeom xmlns:a="http://schemas.openxmlformats.org/drawingml/2006/main" prst="roundRect">
            <a:avLst>
              <a:gd name="adj" fmla="val 4737"/>
            </a:avLst>
          </a:prstGeom>
          <a:solidFill xmlns:a="http://schemas.openxmlformats.org/drawingml/2006/main">
            <a:srgbClr val="FFF7ED"/>
          </a:solidFill>
          <a:ln xmlns:a="http://schemas.openxmlformats.org/drawingml/2006/main" w="13335">
            <a:solidFill>
              <a:srgbClr val="D77816"/>
            </a:solidFill>
            <a:prstDash val="solid"/>
          </a:ln>
        </p:spPr>
      </p:sp>
      <p:pic>
        <p:nvPicPr>
          <p:cNvPr id="27" name="">
            <a:extLst xmlns:a="http://schemas.openxmlformats.org/drawingml/2006/main">
              <a:ext uri="{FF2B5EF4-FFF2-40B4-BE49-F238E27FC236}">
                <a16:creationId xmlns:a16="http://schemas.microsoft.com/office/drawing/2014/main" id="{87478020-3BF5-4641-A505-310320879A29}"/>
              </a:ext>
            </a:extLst>
          </p:cNvPr>
          <p:cNvPicPr>
            <a:picLocks xmlns:a="http://schemas.openxmlformats.org/drawingml/2006/main" noChangeAspect="1"/>
          </p:cNvPicPr>
          <p:nvPr/>
        </p:nvPicPr>
        <p:blipFill>
          <a:blip xmlns:r="http://schemas.openxmlformats.org/officeDocument/2006/relationships" xmlns:a="http://schemas.openxmlformats.org/drawingml/2006/main" r:embed="Ra676626be5124f0c">
            <a:extLst>
              <a:ext uri="{96DAC541-7B7A-43D3-8B79-37D633B846F1}">
                <asvg:svgBlip xmlns:asvg="http://schemas.microsoft.com/office/drawing/2016/SVG/main" r:embed="Rce5baae5e497476c"/>
              </a:ext>
            </a:extLst>
          </a:blip>
          <a:stretch xmlns:a="http://schemas.openxmlformats.org/drawingml/2006/main"/>
        </p:blipFill>
        <p:spPr>
          <a:xfrm xmlns:a="http://schemas.openxmlformats.org/drawingml/2006/main">
            <a:off x="11534775" y="2581275"/>
            <a:ext cx="457200" cy="4572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D2B2CE17-A2B7-4BE6-94A8-C4AE94444F51}"/>
              </a:ext>
            </a:extLst>
          </p:cNvPr>
          <p:cNvSpPr>
            <a:spLocks xmlns:a="http://schemas.openxmlformats.org/drawingml/2006/main" noGrp="1"/>
          </p:cNvSpPr>
          <p:nvPr/>
        </p:nvSpPr>
        <p:spPr>
          <a:xfrm xmlns:a="http://schemas.openxmlformats.org/drawingml/2006/main">
            <a:off x="12153900" y="2581275"/>
            <a:ext cx="2238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Grafana reporting</a:t>
            </a:r>
          </a:p>
        </p:txBody>
      </p:sp>
      <p:sp>
        <p:nvSpPr>
          <p:cNvPr id="29" name="text">
            <a:extLst xmlns:a="http://schemas.openxmlformats.org/drawingml/2006/main">
              <a:ext uri="{FF2B5EF4-FFF2-40B4-BE49-F238E27FC236}">
                <a16:creationId xmlns:a16="http://schemas.microsoft.com/office/drawing/2014/main" id="{ED6708BF-EFB9-4EBB-A84B-76A117F747CC}"/>
              </a:ext>
            </a:extLst>
          </p:cNvPr>
          <p:cNvSpPr>
            <a:spLocks xmlns:a="http://schemas.openxmlformats.org/drawingml/2006/main" noGrp="1"/>
          </p:cNvSpPr>
          <p:nvPr/>
        </p:nvSpPr>
        <p:spPr>
          <a:xfrm xmlns:a="http://schemas.openxmlformats.org/drawingml/2006/main">
            <a:off x="11544300" y="3267075"/>
            <a:ext cx="27908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Distinct-user KPIs</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Candidate details and filters</a:t>
            </a:r>
          </a:p>
        </p:txBody>
      </p:sp>
      <p:sp>
        <p:nvSpPr>
          <p:cNvPr id="30" name="Controlled action view">
            <a:extLst xmlns:a="http://schemas.openxmlformats.org/drawingml/2006/main">
              <a:ext uri="{FF2B5EF4-FFF2-40B4-BE49-F238E27FC236}">
                <a16:creationId xmlns:a16="http://schemas.microsoft.com/office/drawing/2014/main" id="{A5FE2BE6-838A-4B2A-B1DD-68CCE49572E5}"/>
              </a:ext>
            </a:extLst>
          </p:cNvPr>
          <p:cNvSpPr>
            <a:spLocks xmlns:a="http://schemas.openxmlformats.org/drawingml/2006/main" noGrp="1"/>
          </p:cNvSpPr>
          <p:nvPr/>
        </p:nvSpPr>
        <p:spPr>
          <a:xfrm xmlns:a="http://schemas.openxmlformats.org/drawingml/2006/main">
            <a:off x="11344275" y="5153025"/>
            <a:ext cx="3190875" cy="1809750"/>
          </a:xfrm>
          <a:prstGeom xmlns:a="http://schemas.openxmlformats.org/drawingml/2006/main" prst="roundRect">
            <a:avLst>
              <a:gd name="adj" fmla="val 4737"/>
            </a:avLst>
          </a:prstGeom>
          <a:solidFill xmlns:a="http://schemas.openxmlformats.org/drawingml/2006/main">
            <a:srgbClr val="EDF7F1"/>
          </a:solidFill>
          <a:ln xmlns:a="http://schemas.openxmlformats.org/drawingml/2006/main" w="13335">
            <a:solidFill>
              <a:srgbClr val="228455"/>
            </a:solidFill>
            <a:prstDash val="solid"/>
          </a:ln>
        </p:spPr>
      </p:sp>
      <p:pic>
        <p:nvPicPr>
          <p:cNvPr id="31" name="">
            <a:extLst xmlns:a="http://schemas.openxmlformats.org/drawingml/2006/main">
              <a:ext uri="{FF2B5EF4-FFF2-40B4-BE49-F238E27FC236}">
                <a16:creationId xmlns:a16="http://schemas.microsoft.com/office/drawing/2014/main" id="{4320A00F-8B42-4BF0-8B72-FD1C912592B3}"/>
              </a:ext>
            </a:extLst>
          </p:cNvPr>
          <p:cNvPicPr>
            <a:picLocks xmlns:a="http://schemas.openxmlformats.org/drawingml/2006/main" noChangeAspect="1"/>
          </p:cNvPicPr>
          <p:nvPr/>
        </p:nvPicPr>
        <p:blipFill>
          <a:blip xmlns:r="http://schemas.openxmlformats.org/officeDocument/2006/relationships" xmlns:a="http://schemas.openxmlformats.org/drawingml/2006/main" r:embed="R83984ccb8a364962">
            <a:extLst>
              <a:ext uri="{96DAC541-7B7A-43D3-8B79-37D633B846F1}">
                <asvg:svgBlip xmlns:asvg="http://schemas.microsoft.com/office/drawing/2016/SVG/main" r:embed="R4d1c591b79204eab"/>
              </a:ext>
            </a:extLst>
          </a:blip>
          <a:stretch xmlns:a="http://schemas.openxmlformats.org/drawingml/2006/main"/>
        </p:blipFill>
        <p:spPr>
          <a:xfrm xmlns:a="http://schemas.openxmlformats.org/drawingml/2006/main">
            <a:off x="11534775" y="5334000"/>
            <a:ext cx="457200" cy="457200"/>
          </a:xfrm>
          <a:prstGeom xmlns:a="http://schemas.openxmlformats.org/drawingml/2006/main" prst="rect">
            <a:avLst/>
          </a:prstGeom>
        </p:spPr>
      </p:pic>
      <p:sp>
        <p:nvSpPr>
          <p:cNvPr id="32" name="text">
            <a:extLst xmlns:a="http://schemas.openxmlformats.org/drawingml/2006/main">
              <a:ext uri="{FF2B5EF4-FFF2-40B4-BE49-F238E27FC236}">
                <a16:creationId xmlns:a16="http://schemas.microsoft.com/office/drawing/2014/main" id="{A3A678DF-CF0B-4CFD-916C-AC580D02C896}"/>
              </a:ext>
            </a:extLst>
          </p:cNvPr>
          <p:cNvSpPr>
            <a:spLocks xmlns:a="http://schemas.openxmlformats.org/drawingml/2006/main" noGrp="1"/>
          </p:cNvSpPr>
          <p:nvPr/>
        </p:nvSpPr>
        <p:spPr>
          <a:xfrm xmlns:a="http://schemas.openxmlformats.org/drawingml/2006/main">
            <a:off x="12153900" y="5334000"/>
            <a:ext cx="2238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Controlled action view</a:t>
            </a:r>
          </a:p>
        </p:txBody>
      </p:sp>
      <p:sp>
        <p:nvSpPr>
          <p:cNvPr id="33" name="text">
            <a:extLst xmlns:a="http://schemas.openxmlformats.org/drawingml/2006/main">
              <a:ext uri="{FF2B5EF4-FFF2-40B4-BE49-F238E27FC236}">
                <a16:creationId xmlns:a16="http://schemas.microsoft.com/office/drawing/2014/main" id="{CEEFCA0A-7FF9-45E1-A10D-B392263B26D4}"/>
              </a:ext>
            </a:extLst>
          </p:cNvPr>
          <p:cNvSpPr>
            <a:spLocks xmlns:a="http://schemas.openxmlformats.org/drawingml/2006/main" noGrp="1"/>
          </p:cNvSpPr>
          <p:nvPr/>
        </p:nvSpPr>
        <p:spPr>
          <a:xfrm xmlns:a="http://schemas.openxmlformats.org/drawingml/2006/main">
            <a:off x="11544300" y="6019800"/>
            <a:ext cx="27908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One row per user and group</a:t>
            </a:r>
          </a:p>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Approved CSV / group workflow</a:t>
            </a:r>
          </a:p>
        </p:txBody>
      </p:sp>
      <p:sp>
        <p:nvSpPr>
          <p:cNvPr id="36" name="text">
            <a:extLst xmlns:a="http://schemas.openxmlformats.org/drawingml/2006/main">
              <a:ext uri="{FF2B5EF4-FFF2-40B4-BE49-F238E27FC236}">
                <a16:creationId xmlns:a16="http://schemas.microsoft.com/office/drawing/2014/main" id="{A1642B96-FB10-4FE7-AA08-ADAA198C0415}"/>
              </a:ext>
            </a:extLst>
          </p:cNvPr>
          <p:cNvSpPr>
            <a:spLocks xmlns:a="http://schemas.openxmlformats.org/drawingml/2006/main" noGrp="1"/>
          </p:cNvSpPr>
          <p:nvPr/>
        </p:nvSpPr>
        <p:spPr>
          <a:xfrm xmlns:a="http://schemas.openxmlformats.org/drawingml/2006/main">
            <a:off x="714375" y="7486650"/>
            <a:ext cx="1381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073763"/>
                </a:solidFill>
                <a:latin typeface="Nimbus Sans"/>
                <a:ea typeface="Nimbus Sans"/>
                <a:cs typeface="Nimbus Sans"/>
              </a:defRPr>
            </a:defPPr>
          </a:lstStyle>
          <a:p xmlns:a="http://schemas.openxmlformats.org/drawingml/2006/main">
            <a:pPr algn="l">
              <a:defRPr sz="1875" b="1">
                <a:solidFill>
                  <a:srgbClr val="073763"/>
                </a:solidFill>
                <a:latin typeface="Nimbus Sans"/>
                <a:ea typeface="Nimbus Sans"/>
                <a:cs typeface="Nimbus Sans"/>
              </a:defRPr>
            </a:pPr>
            <a:r>
              <a:rPr sz="1875" b="1">
                <a:solidFill>
                  <a:srgbClr val="073763"/>
                </a:solidFill>
                <a:latin typeface="Nimbus Sans"/>
                <a:ea typeface="Nimbus Sans"/>
                <a:cs typeface="Nimbus Sans"/>
              </a:rPr>
              <a:t>No audit row, ambiguous identity or missing staff match stays visible as an explainable status</a:t>
            </a:r>
          </a:p>
        </p:txBody>
      </p:sp>
    </p:spTree>
    <p:extLst>
      <p:ext uri="{BB962C8B-B14F-4D97-AF65-F5344CB8AC3E}">
        <p14:creationId xmlns:p14="http://schemas.microsoft.com/office/powerpoint/2010/main" val="774954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F560BD71-BAB0-44E5-8C6F-160A5EDBC4EC}"/>
              </a:ext>
            </a:extLst>
          </p:cNvPr>
          <p:cNvCxnSpPr>
            <a:stCxn xmlns:a="http://schemas.openxmlformats.org/drawingml/2006/main" id="16" idx="3"/>
            <a:endCxn xmlns:a="http://schemas.openxmlformats.org/drawingml/2006/main" id="20" idx="1"/>
          </p:cNvCxnSpPr>
          <p:nvPr/>
        </p:nvCxnSpPr>
        <p:spPr>
          <a:xfrm xmlns:a="http://schemas.openxmlformats.org/drawingml/2006/main">
            <a:off x="10953750" y="6257925"/>
            <a:ext cx="50482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36B20DD7-02B9-4B79-B4A7-C7FB14A9FCDC}"/>
              </a:ext>
            </a:extLst>
          </p:cNvPr>
          <p:cNvCxnSpPr>
            <a:stCxn xmlns:a="http://schemas.openxmlformats.org/drawingml/2006/main" id="12" idx="3"/>
            <a:endCxn xmlns:a="http://schemas.openxmlformats.org/drawingml/2006/main" id="16" idx="1"/>
          </p:cNvCxnSpPr>
          <p:nvPr/>
        </p:nvCxnSpPr>
        <p:spPr>
          <a:xfrm xmlns:a="http://schemas.openxmlformats.org/drawingml/2006/main">
            <a:off x="7362825" y="6257925"/>
            <a:ext cx="50482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3EEEC783-EBE2-4A88-A98B-91BC68365E62}"/>
              </a:ext>
            </a:extLst>
          </p:cNvPr>
          <p:cNvCxnSpPr>
            <a:stCxn xmlns:a="http://schemas.openxmlformats.org/drawingml/2006/main" id="8" idx="3"/>
            <a:endCxn xmlns:a="http://schemas.openxmlformats.org/drawingml/2006/main" id="12" idx="1"/>
          </p:cNvCxnSpPr>
          <p:nvPr/>
        </p:nvCxnSpPr>
        <p:spPr>
          <a:xfrm xmlns:a="http://schemas.openxmlformats.org/drawingml/2006/main">
            <a:off x="3771900" y="6257925"/>
            <a:ext cx="50482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sp>
        <p:nvSpPr>
          <p:cNvPr id="30" name="slide-title">
            <a:extLst xmlns:a="http://schemas.openxmlformats.org/drawingml/2006/main">
              <a:ext uri="{FF2B5EF4-FFF2-40B4-BE49-F238E27FC236}">
                <a16:creationId xmlns:a16="http://schemas.microsoft.com/office/drawing/2014/main" id="{14BC23F7-DF38-4DC5-AF04-2D97939E2FF4}"/>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Dormancy rules and review eligibility</a:t>
            </a:r>
          </a:p>
        </p:txBody>
      </p:sp>
      <p:sp>
        <p:nvSpPr>
          <p:cNvPr id="2" name="slide-subtitle">
            <a:extLst xmlns:a="http://schemas.openxmlformats.org/drawingml/2006/main">
              <a:ext uri="{FF2B5EF4-FFF2-40B4-BE49-F238E27FC236}">
                <a16:creationId xmlns:a16="http://schemas.microsoft.com/office/drawing/2014/main" id="{2581F8F3-2077-469F-BA36-83BE63039B1C}"/>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A selectable window supports 30 / 45 / 60 / 90-day reporting</a:t>
            </a:r>
          </a:p>
        </p:txBody>
      </p:sp>
      <p:sp>
        <p:nvSpPr>
          <p:cNvPr id="3" name="">
            <a:extLst xmlns:a="http://schemas.openxmlformats.org/drawingml/2006/main">
              <a:ext uri="{FF2B5EF4-FFF2-40B4-BE49-F238E27FC236}">
                <a16:creationId xmlns:a16="http://schemas.microsoft.com/office/drawing/2014/main" id="{919A7080-33B0-4CE8-92DB-45000F698E72}"/>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625D3436-3C93-4FBC-9B4E-1AE586C372BC}"/>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C42EDC59-393A-41F3-A069-5F5DAA280465}"/>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8</a:t>
            </a:r>
          </a:p>
        </p:txBody>
      </p:sp>
      <p:graphicFrame>
        <p:nvGraphicFramePr>
          <p:cNvPr id="6" name="">
            <a:extLst xmlns:a="http://schemas.openxmlformats.org/drawingml/2006/main">
              <a:ext uri="{FF2B5EF4-FFF2-40B4-BE49-F238E27FC236}">
                <a16:creationId xmlns:a16="http://schemas.microsoft.com/office/drawing/2014/main" id="{36246A16-8FDD-4672-A16D-2CE6D25172B7}"/>
              </a:ext>
            </a:extLst>
          </p:cNvPr>
          <p:cNvGraphicFramePr/>
          <p:nvPr/>
        </p:nvGraphicFramePr>
        <p:xfrm>
          <a:off xmlns:a="http://schemas.openxmlformats.org/drawingml/2006/main" x="685800" y="2019300"/>
          <a:ext xmlns:a="http://schemas.openxmlformats.org/drawingml/2006/main" cx="13868400" cy="2628900"/>
        </p:xfrm>
        <a:graphic xmlns:a="http://schemas.openxmlformats.org/drawingml/2006/main">
          <a:graphicData uri="http://schemas.openxmlformats.org/drawingml/2006/table">
            <a:tbl>
              <a:tblPr/>
              <a:tblGrid>
                <a:gridCol w="3333750"/>
                <a:gridCol w="3857625"/>
                <a:gridCol w="6677025"/>
              </a:tblGrid>
              <a:tr h="571500">
                <a:tc>
                  <a:txBody>
                    <a:bodyPr lIns="133350" tIns="123825" rIns="95250" bIns="95250"/>
                    <a:lstStyle/>
                    <a:p>
                      <a:r>
                        <a:rPr sz="1875" b="1">
                          <a:solidFill>
                            <a:srgbClr val="FFFFFF"/>
                          </a:solidFill>
                          <a:latin typeface="Nimbus Sans"/>
                          <a:ea typeface="Nimbus Sans"/>
                          <a:cs typeface="Nimbus Sans"/>
                        </a:rPr>
                        <a:t>Policy choice</a:t>
                      </a:r>
                    </a:p>
                  </a:txBody>
                  <a:tcPr marL="91440" marR="91440" marT="45720" marB="45720" anchor="ctr">
                    <a:lnL w="9525">
                      <a:solidFill>
                        <a:srgbClr val="CCD8E3"/>
                      </a:solidFill>
                      <a:prstDash val="solid"/>
                    </a:lnL>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875" b="1">
                          <a:solidFill>
                            <a:srgbClr val="FFFFFF"/>
                          </a:solidFill>
                          <a:latin typeface="Nimbus Sans"/>
                          <a:ea typeface="Nimbus Sans"/>
                          <a:cs typeface="Nimbus Sans"/>
                        </a:rPr>
                        <a:t>Signal used</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875" b="1">
                          <a:solidFill>
                            <a:srgbClr val="FFFFFF"/>
                          </a:solidFill>
                          <a:latin typeface="Nimbus Sans"/>
                          <a:ea typeface="Nimbus Sans"/>
                          <a:cs typeface="Nimbus Sans"/>
                        </a:rPr>
                        <a:t>Dashboard interpretation</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r>
              <a:tr h="685800">
                <a:tc>
                  <a:txBody>
                    <a:bodyPr lIns="133350" tIns="123825" rIns="95250" bIns="95250"/>
                    <a:lstStyle/>
                    <a:p>
                      <a:r>
                        <a:rPr sz="1875" b="0">
                          <a:solidFill>
                            <a:srgbClr val="112D49"/>
                          </a:solidFill>
                          <a:latin typeface="Nimbus Sans"/>
                          <a:ea typeface="Nimbus Sans"/>
                          <a:cs typeface="Nimbus Sans"/>
                        </a:rPr>
                        <a:t>Activity-based flow</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875" b="0">
                          <a:solidFill>
                            <a:srgbClr val="112D49"/>
                          </a:solidFill>
                          <a:latin typeface="Nimbus Sans"/>
                          <a:ea typeface="Nimbus Sans"/>
                          <a:cs typeface="Nimbus Sans"/>
                        </a:rPr>
                        <a:t>Latest non-SSO activity</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875" b="0">
                          <a:solidFill>
                            <a:srgbClr val="112D49"/>
                          </a:solidFill>
                          <a:latin typeface="Nimbus Sans"/>
                          <a:ea typeface="Nimbus Sans"/>
                          <a:cs typeface="Nimbus Sans"/>
                        </a:rPr>
                        <a:t>Includes observed Git and audit actions</a:t>
                      </a:r>
                    </a:p>
                  </a:txBody>
                  <a:tcPr marL="91440" marR="91440" marT="45720" marB="45720" anchor="ctr">
                    <a:lnR w="9525">
                      <a:solidFill>
                        <a:srgbClr val="CCD8E3"/>
                      </a:solidFill>
                      <a:prstDash val="solid"/>
                    </a:lnR>
                    <a:lnB w="9525">
                      <a:solidFill>
                        <a:srgbClr val="CCD8E3"/>
                      </a:solidFill>
                      <a:prstDash val="solid"/>
                    </a:lnB>
                    <a:solidFill>
                      <a:srgbClr val="FFFFFF"/>
                    </a:solidFill>
                  </a:tcPr>
                </a:tc>
              </a:tr>
              <a:tr h="685800">
                <a:tc>
                  <a:txBody>
                    <a:bodyPr lIns="133350" tIns="123825" rIns="95250" bIns="95250"/>
                    <a:lstStyle/>
                    <a:p>
                      <a:r>
                        <a:rPr sz="1875" b="0">
                          <a:solidFill>
                            <a:srgbClr val="112D49"/>
                          </a:solidFill>
                          <a:latin typeface="Nimbus Sans"/>
                          <a:ea typeface="Nimbus Sans"/>
                          <a:cs typeface="Nimbus Sans"/>
                        </a:rPr>
                        <a:t>Authentication-based flow</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875" b="0">
                          <a:solidFill>
                            <a:srgbClr val="112D49"/>
                          </a:solidFill>
                          <a:latin typeface="Nimbus Sans"/>
                          <a:ea typeface="Nimbus Sans"/>
                          <a:cs typeface="Nimbus Sans"/>
                        </a:rPr>
                        <a:t>Latest SSO signal</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875" b="0">
                          <a:solidFill>
                            <a:srgbClr val="112D49"/>
                          </a:solidFill>
                          <a:latin typeface="Nimbus Sans"/>
                          <a:ea typeface="Nimbus Sans"/>
                          <a:cs typeface="Nimbus Sans"/>
                        </a:rPr>
                        <a:t>Preserves the applicable legacy policy</a:t>
                      </a:r>
                    </a:p>
                  </a:txBody>
                  <a:tcPr marL="91440" marR="91440" marT="45720" marB="45720" anchor="ctr">
                    <a:lnR w="9525">
                      <a:solidFill>
                        <a:srgbClr val="CCD8E3"/>
                      </a:solidFill>
                      <a:prstDash val="solid"/>
                    </a:lnR>
                    <a:lnB w="9525">
                      <a:solidFill>
                        <a:srgbClr val="CCD8E3"/>
                      </a:solidFill>
                      <a:prstDash val="solid"/>
                    </a:lnB>
                    <a:solidFill>
                      <a:srgbClr val="F3F7FB"/>
                    </a:solidFill>
                  </a:tcPr>
                </a:tc>
              </a:tr>
              <a:tr h="685800">
                <a:tc>
                  <a:txBody>
                    <a:bodyPr lIns="133350" tIns="123825" rIns="95250" bIns="95250"/>
                    <a:lstStyle/>
                    <a:p>
                      <a:r>
                        <a:rPr sz="1875" b="0">
                          <a:solidFill>
                            <a:srgbClr val="112D49"/>
                          </a:solidFill>
                          <a:latin typeface="Nimbus Sans"/>
                          <a:ea typeface="Nimbus Sans"/>
                          <a:cs typeface="Nimbus Sans"/>
                        </a:rPr>
                        <a:t>No signal or weak evidence</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875" b="0">
                          <a:solidFill>
                            <a:srgbClr val="112D49"/>
                          </a:solidFill>
                          <a:latin typeface="Nimbus Sans"/>
                          <a:ea typeface="Nimbus Sans"/>
                          <a:cs typeface="Nimbus Sans"/>
                        </a:rPr>
                        <a:t>No reliable last-use timestamp</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875" b="0">
                          <a:solidFill>
                            <a:srgbClr val="112D49"/>
                          </a:solidFill>
                          <a:latin typeface="Nimbus Sans"/>
                          <a:ea typeface="Nimbus Sans"/>
                          <a:cs typeface="Nimbus Sans"/>
                        </a:rPr>
                        <a:t>Data review, not automatic dormancy</a:t>
                      </a:r>
                    </a:p>
                  </a:txBody>
                  <a:tcPr marL="91440" marR="91440" marT="45720" marB="45720" anchor="ctr">
                    <a:lnR w="9525">
                      <a:solidFill>
                        <a:srgbClr val="CCD8E3"/>
                      </a:solidFill>
                      <a:prstDash val="solid"/>
                    </a:lnR>
                    <a:lnB w="9525">
                      <a:solidFill>
                        <a:srgbClr val="CCD8E3"/>
                      </a:solidFill>
                      <a:prstDash val="solid"/>
                    </a:lnB>
                    <a:solidFill>
                      <a:srgbClr val="FFFFFF"/>
                    </a:solidFill>
                  </a:tcPr>
                </a:tc>
              </a:tr>
            </a:tbl>
          </a:graphicData>
        </a:graphic>
      </p:graphicFrame>
      <p:sp>
        <p:nvSpPr>
          <p:cNvPr id="7" name="text">
            <a:extLst xmlns:a="http://schemas.openxmlformats.org/drawingml/2006/main">
              <a:ext uri="{FF2B5EF4-FFF2-40B4-BE49-F238E27FC236}">
                <a16:creationId xmlns:a16="http://schemas.microsoft.com/office/drawing/2014/main" id="{C50C1C81-6C5E-4D99-B5B8-8DA979AA586C}"/>
              </a:ext>
            </a:extLst>
          </p:cNvPr>
          <p:cNvSpPr>
            <a:spLocks xmlns:a="http://schemas.openxmlformats.org/drawingml/2006/main" noGrp="1"/>
          </p:cNvSpPr>
          <p:nvPr/>
        </p:nvSpPr>
        <p:spPr>
          <a:xfrm xmlns:a="http://schemas.openxmlformats.org/drawingml/2006/main">
            <a:off x="742950" y="5057775"/>
            <a:ext cx="1362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073763"/>
                </a:solidFill>
                <a:latin typeface="Nimbus Sans"/>
                <a:ea typeface="Nimbus Sans"/>
                <a:cs typeface="Nimbus Sans"/>
              </a:defRPr>
            </a:defPPr>
          </a:lstStyle>
          <a:p xmlns:a="http://schemas.openxmlformats.org/drawingml/2006/main">
            <a:pPr algn="l">
              <a:defRPr sz="2400" b="1">
                <a:solidFill>
                  <a:srgbClr val="073763"/>
                </a:solidFill>
                <a:latin typeface="Nimbus Sans"/>
                <a:ea typeface="Nimbus Sans"/>
                <a:cs typeface="Nimbus Sans"/>
              </a:defRPr>
            </a:pPr>
            <a:r>
              <a:rPr sz="2400" b="1">
                <a:solidFill>
                  <a:srgbClr val="073763"/>
                </a:solidFill>
                <a:latin typeface="Nimbus Sans"/>
                <a:ea typeface="Nimbus Sans"/>
                <a:cs typeface="Nimbus Sans"/>
              </a:rPr>
              <a:t>Candidate checks</a:t>
            </a:r>
          </a:p>
        </p:txBody>
      </p:sp>
      <p:sp>
        <p:nvSpPr>
          <p:cNvPr id="8" name="Currently licensed">
            <a:extLst xmlns:a="http://schemas.openxmlformats.org/drawingml/2006/main">
              <a:ext uri="{FF2B5EF4-FFF2-40B4-BE49-F238E27FC236}">
                <a16:creationId xmlns:a16="http://schemas.microsoft.com/office/drawing/2014/main" id="{48161241-EFE6-43F2-9747-8324F522D421}"/>
              </a:ext>
            </a:extLst>
          </p:cNvPr>
          <p:cNvSpPr>
            <a:spLocks xmlns:a="http://schemas.openxmlformats.org/drawingml/2006/main" noGrp="1"/>
          </p:cNvSpPr>
          <p:nvPr/>
        </p:nvSpPr>
        <p:spPr>
          <a:xfrm xmlns:a="http://schemas.openxmlformats.org/drawingml/2006/main">
            <a:off x="685800" y="5657850"/>
            <a:ext cx="3086100" cy="1200150"/>
          </a:xfrm>
          <a:prstGeom xmlns:a="http://schemas.openxmlformats.org/drawingml/2006/main" prst="roundRect">
            <a:avLst>
              <a:gd name="adj" fmla="val 7143"/>
            </a:avLst>
          </a:prstGeom>
          <a:solidFill xmlns:a="http://schemas.openxmlformats.org/drawingml/2006/main">
            <a:srgbClr val="EDF7F1"/>
          </a:solidFill>
          <a:ln xmlns:a="http://schemas.openxmlformats.org/drawingml/2006/main" w="13335">
            <a:solidFill>
              <a:srgbClr val="228455"/>
            </a:solidFill>
            <a:prstDash val="solid"/>
          </a:ln>
        </p:spPr>
      </p:sp>
      <p:pic>
        <p:nvPicPr>
          <p:cNvPr id="9" name="">
            <a:extLst xmlns:a="http://schemas.openxmlformats.org/drawingml/2006/main">
              <a:ext uri="{FF2B5EF4-FFF2-40B4-BE49-F238E27FC236}">
                <a16:creationId xmlns:a16="http://schemas.microsoft.com/office/drawing/2014/main" id="{6E5958A3-A2E0-4218-9273-3B91D703EB92}"/>
              </a:ext>
            </a:extLst>
          </p:cNvPr>
          <p:cNvPicPr>
            <a:picLocks xmlns:a="http://schemas.openxmlformats.org/drawingml/2006/main" noChangeAspect="1"/>
          </p:cNvPicPr>
          <p:nvPr/>
        </p:nvPicPr>
        <p:blipFill>
          <a:blip xmlns:r="http://schemas.openxmlformats.org/officeDocument/2006/relationships" xmlns:a="http://schemas.openxmlformats.org/drawingml/2006/main" r:embed="R5013166e1a834e06">
            <a:extLst>
              <a:ext uri="{96DAC541-7B7A-43D3-8B79-37D633B846F1}">
                <asvg:svgBlip xmlns:asvg="http://schemas.microsoft.com/office/drawing/2016/SVG/main" r:embed="R246c01885f6b4f49"/>
              </a:ext>
            </a:extLst>
          </a:blip>
          <a:stretch xmlns:a="http://schemas.openxmlformats.org/drawingml/2006/main"/>
        </p:blipFill>
        <p:spPr>
          <a:xfrm xmlns:a="http://schemas.openxmlformats.org/drawingml/2006/main">
            <a:off x="876300" y="5838825"/>
            <a:ext cx="457200" cy="45720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038EEF4-F1E6-41EE-9C8D-8370FE9D6AB6}"/>
              </a:ext>
            </a:extLst>
          </p:cNvPr>
          <p:cNvSpPr>
            <a:spLocks xmlns:a="http://schemas.openxmlformats.org/drawingml/2006/main" noGrp="1"/>
          </p:cNvSpPr>
          <p:nvPr/>
        </p:nvSpPr>
        <p:spPr>
          <a:xfrm xmlns:a="http://schemas.openxmlformats.org/drawingml/2006/main">
            <a:off x="1495425" y="5838825"/>
            <a:ext cx="21336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Currently licensed</a:t>
            </a:r>
          </a:p>
        </p:txBody>
      </p:sp>
      <p:sp>
        <p:nvSpPr>
          <p:cNvPr id="11" name="text">
            <a:extLst xmlns:a="http://schemas.openxmlformats.org/drawingml/2006/main">
              <a:ext uri="{FF2B5EF4-FFF2-40B4-BE49-F238E27FC236}">
                <a16:creationId xmlns:a16="http://schemas.microsoft.com/office/drawing/2014/main" id="{DDC5CD0A-EDA6-4D3C-AFC1-9688726EFE7B}"/>
              </a:ext>
            </a:extLst>
          </p:cNvPr>
          <p:cNvSpPr>
            <a:spLocks xmlns:a="http://schemas.openxmlformats.org/drawingml/2006/main" noGrp="1"/>
          </p:cNvSpPr>
          <p:nvPr/>
        </p:nvSpPr>
        <p:spPr>
          <a:xfrm xmlns:a="http://schemas.openxmlformats.org/drawingml/2006/main">
            <a:off x="885825" y="6477000"/>
            <a:ext cx="2686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Current inventory</a:t>
            </a:r>
          </a:p>
        </p:txBody>
      </p:sp>
      <p:sp>
        <p:nvSpPr>
          <p:cNvPr id="12" name="Dormant by policy">
            <a:extLst xmlns:a="http://schemas.openxmlformats.org/drawingml/2006/main">
              <a:ext uri="{FF2B5EF4-FFF2-40B4-BE49-F238E27FC236}">
                <a16:creationId xmlns:a16="http://schemas.microsoft.com/office/drawing/2014/main" id="{D4AA036E-6469-46D4-879E-8FF8DFC1B034}"/>
              </a:ext>
            </a:extLst>
          </p:cNvPr>
          <p:cNvSpPr>
            <a:spLocks xmlns:a="http://schemas.openxmlformats.org/drawingml/2006/main" noGrp="1"/>
          </p:cNvSpPr>
          <p:nvPr/>
        </p:nvSpPr>
        <p:spPr>
          <a:xfrm xmlns:a="http://schemas.openxmlformats.org/drawingml/2006/main">
            <a:off x="4276725" y="5657850"/>
            <a:ext cx="3086100" cy="1200150"/>
          </a:xfrm>
          <a:prstGeom xmlns:a="http://schemas.openxmlformats.org/drawingml/2006/main" prst="roundRect">
            <a:avLst>
              <a:gd name="adj" fmla="val 7143"/>
            </a:avLst>
          </a:prstGeom>
          <a:solidFill xmlns:a="http://schemas.openxmlformats.org/drawingml/2006/main">
            <a:srgbClr val="EDF7F1"/>
          </a:solidFill>
          <a:ln xmlns:a="http://schemas.openxmlformats.org/drawingml/2006/main" w="13335">
            <a:solidFill>
              <a:srgbClr val="228455"/>
            </a:solidFill>
            <a:prstDash val="solid"/>
          </a:ln>
        </p:spPr>
      </p:sp>
      <p:pic>
        <p:nvPicPr>
          <p:cNvPr id="13" name="">
            <a:extLst xmlns:a="http://schemas.openxmlformats.org/drawingml/2006/main">
              <a:ext uri="{FF2B5EF4-FFF2-40B4-BE49-F238E27FC236}">
                <a16:creationId xmlns:a16="http://schemas.microsoft.com/office/drawing/2014/main" id="{026A032D-7915-4C48-BA24-EA883A67EEFC}"/>
              </a:ext>
            </a:extLst>
          </p:cNvPr>
          <p:cNvPicPr>
            <a:picLocks xmlns:a="http://schemas.openxmlformats.org/drawingml/2006/main" noChangeAspect="1"/>
          </p:cNvPicPr>
          <p:nvPr/>
        </p:nvPicPr>
        <p:blipFill>
          <a:blip xmlns:r="http://schemas.openxmlformats.org/officeDocument/2006/relationships" xmlns:a="http://schemas.openxmlformats.org/drawingml/2006/main" r:embed="R4096c4b1b9864f34">
            <a:extLst>
              <a:ext uri="{96DAC541-7B7A-43D3-8B79-37D633B846F1}">
                <asvg:svgBlip xmlns:asvg="http://schemas.microsoft.com/office/drawing/2016/SVG/main" r:embed="R6e86c92c6ce54d1f"/>
              </a:ext>
            </a:extLst>
          </a:blip>
          <a:stretch xmlns:a="http://schemas.openxmlformats.org/drawingml/2006/main"/>
        </p:blipFill>
        <p:spPr>
          <a:xfrm xmlns:a="http://schemas.openxmlformats.org/drawingml/2006/main">
            <a:off x="4467225" y="5838825"/>
            <a:ext cx="457200" cy="457200"/>
          </a:xfrm>
          <a:prstGeom xmlns:a="http://schemas.openxmlformats.org/drawingml/2006/main" prst="rect">
            <a:avLst/>
          </a:prstGeom>
        </p:spPr>
      </p:pic>
      <p:sp>
        <p:nvSpPr>
          <p:cNvPr id="14" name="text">
            <a:extLst xmlns:a="http://schemas.openxmlformats.org/drawingml/2006/main">
              <a:ext uri="{FF2B5EF4-FFF2-40B4-BE49-F238E27FC236}">
                <a16:creationId xmlns:a16="http://schemas.microsoft.com/office/drawing/2014/main" id="{55F9642B-82A7-4251-9E59-CB72D3B4E522}"/>
              </a:ext>
            </a:extLst>
          </p:cNvPr>
          <p:cNvSpPr>
            <a:spLocks xmlns:a="http://schemas.openxmlformats.org/drawingml/2006/main" noGrp="1"/>
          </p:cNvSpPr>
          <p:nvPr/>
        </p:nvSpPr>
        <p:spPr>
          <a:xfrm xmlns:a="http://schemas.openxmlformats.org/drawingml/2006/main">
            <a:off x="5086350" y="5838825"/>
            <a:ext cx="21336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Dormant by policy</a:t>
            </a:r>
          </a:p>
        </p:txBody>
      </p:sp>
      <p:sp>
        <p:nvSpPr>
          <p:cNvPr id="15" name="text">
            <a:extLst xmlns:a="http://schemas.openxmlformats.org/drawingml/2006/main">
              <a:ext uri="{FF2B5EF4-FFF2-40B4-BE49-F238E27FC236}">
                <a16:creationId xmlns:a16="http://schemas.microsoft.com/office/drawing/2014/main" id="{9B4C7756-7ED1-4CA8-A3C6-55A78B18F626}"/>
              </a:ext>
            </a:extLst>
          </p:cNvPr>
          <p:cNvSpPr>
            <a:spLocks xmlns:a="http://schemas.openxmlformats.org/drawingml/2006/main" noGrp="1"/>
          </p:cNvSpPr>
          <p:nvPr/>
        </p:nvSpPr>
        <p:spPr>
          <a:xfrm xmlns:a="http://schemas.openxmlformats.org/drawingml/2006/main">
            <a:off x="4476750" y="6477000"/>
            <a:ext cx="2686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Selected basis / window</a:t>
            </a:r>
          </a:p>
        </p:txBody>
      </p:sp>
      <p:sp>
        <p:nvSpPr>
          <p:cNvPr id="16" name="Eligible identity">
            <a:extLst xmlns:a="http://schemas.openxmlformats.org/drawingml/2006/main">
              <a:ext uri="{FF2B5EF4-FFF2-40B4-BE49-F238E27FC236}">
                <a16:creationId xmlns:a16="http://schemas.microsoft.com/office/drawing/2014/main" id="{9C407381-6B6A-4EA8-AC8D-7737E9C3FCF9}"/>
              </a:ext>
            </a:extLst>
          </p:cNvPr>
          <p:cNvSpPr>
            <a:spLocks xmlns:a="http://schemas.openxmlformats.org/drawingml/2006/main" noGrp="1"/>
          </p:cNvSpPr>
          <p:nvPr/>
        </p:nvSpPr>
        <p:spPr>
          <a:xfrm xmlns:a="http://schemas.openxmlformats.org/drawingml/2006/main">
            <a:off x="7867650" y="5657850"/>
            <a:ext cx="3086100" cy="1200150"/>
          </a:xfrm>
          <a:prstGeom xmlns:a="http://schemas.openxmlformats.org/drawingml/2006/main" prst="roundRect">
            <a:avLst>
              <a:gd name="adj" fmla="val 7143"/>
            </a:avLst>
          </a:prstGeom>
          <a:solidFill xmlns:a="http://schemas.openxmlformats.org/drawingml/2006/main">
            <a:srgbClr val="EDF7F1"/>
          </a:solidFill>
          <a:ln xmlns:a="http://schemas.openxmlformats.org/drawingml/2006/main" w="13335">
            <a:solidFill>
              <a:srgbClr val="228455"/>
            </a:solidFill>
            <a:prstDash val="solid"/>
          </a:ln>
        </p:spPr>
      </p:sp>
      <p:pic>
        <p:nvPicPr>
          <p:cNvPr id="17" name="">
            <a:extLst xmlns:a="http://schemas.openxmlformats.org/drawingml/2006/main">
              <a:ext uri="{FF2B5EF4-FFF2-40B4-BE49-F238E27FC236}">
                <a16:creationId xmlns:a16="http://schemas.microsoft.com/office/drawing/2014/main" id="{4A83BDA1-0687-4B41-A85A-EDA27700D5E7}"/>
              </a:ext>
            </a:extLst>
          </p:cNvPr>
          <p:cNvPicPr>
            <a:picLocks xmlns:a="http://schemas.openxmlformats.org/drawingml/2006/main" noChangeAspect="1"/>
          </p:cNvPicPr>
          <p:nvPr/>
        </p:nvPicPr>
        <p:blipFill>
          <a:blip xmlns:r="http://schemas.openxmlformats.org/officeDocument/2006/relationships" xmlns:a="http://schemas.openxmlformats.org/drawingml/2006/main" r:embed="R1588934ec81d4a35">
            <a:extLst>
              <a:ext uri="{96DAC541-7B7A-43D3-8B79-37D633B846F1}">
                <asvg:svgBlip xmlns:asvg="http://schemas.microsoft.com/office/drawing/2016/SVG/main" r:embed="R3a780c6ccc924520"/>
              </a:ext>
            </a:extLst>
          </a:blip>
          <a:stretch xmlns:a="http://schemas.openxmlformats.org/drawingml/2006/main"/>
        </p:blipFill>
        <p:spPr>
          <a:xfrm xmlns:a="http://schemas.openxmlformats.org/drawingml/2006/main">
            <a:off x="8058150" y="5838825"/>
            <a:ext cx="457200" cy="457200"/>
          </a:xfrm>
          <a:prstGeom xmlns:a="http://schemas.openxmlformats.org/drawingml/2006/main" prst="rect">
            <a:avLst/>
          </a:prstGeom>
        </p:spPr>
      </p:pic>
      <p:sp>
        <p:nvSpPr>
          <p:cNvPr id="18" name="text">
            <a:extLst xmlns:a="http://schemas.openxmlformats.org/drawingml/2006/main">
              <a:ext uri="{FF2B5EF4-FFF2-40B4-BE49-F238E27FC236}">
                <a16:creationId xmlns:a16="http://schemas.microsoft.com/office/drawing/2014/main" id="{F6F498AC-A59D-43C2-BCAD-96BE3EBEEA0E}"/>
              </a:ext>
            </a:extLst>
          </p:cNvPr>
          <p:cNvSpPr>
            <a:spLocks xmlns:a="http://schemas.openxmlformats.org/drawingml/2006/main" noGrp="1"/>
          </p:cNvSpPr>
          <p:nvPr/>
        </p:nvSpPr>
        <p:spPr>
          <a:xfrm xmlns:a="http://schemas.openxmlformats.org/drawingml/2006/main">
            <a:off x="8677275" y="5838825"/>
            <a:ext cx="21336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Eligible identity</a:t>
            </a:r>
          </a:p>
        </p:txBody>
      </p:sp>
      <p:sp>
        <p:nvSpPr>
          <p:cNvPr id="19" name="text">
            <a:extLst xmlns:a="http://schemas.openxmlformats.org/drawingml/2006/main">
              <a:ext uri="{FF2B5EF4-FFF2-40B4-BE49-F238E27FC236}">
                <a16:creationId xmlns:a16="http://schemas.microsoft.com/office/drawing/2014/main" id="{697B3EAE-6FBC-4800-9DC5-3B3AB3987CC5}"/>
              </a:ext>
            </a:extLst>
          </p:cNvPr>
          <p:cNvSpPr>
            <a:spLocks xmlns:a="http://schemas.openxmlformats.org/drawingml/2006/main" noGrp="1"/>
          </p:cNvSpPr>
          <p:nvPr/>
        </p:nvSpPr>
        <p:spPr>
          <a:xfrm xmlns:a="http://schemas.openxmlformats.org/drawingml/2006/main">
            <a:off x="8067675" y="6477000"/>
            <a:ext cx="2686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Staff / groups / exceptions</a:t>
            </a:r>
          </a:p>
        </p:txBody>
      </p:sp>
      <p:sp>
        <p:nvSpPr>
          <p:cNvPr id="20" name="Evidence accepted">
            <a:extLst xmlns:a="http://schemas.openxmlformats.org/drawingml/2006/main">
              <a:ext uri="{FF2B5EF4-FFF2-40B4-BE49-F238E27FC236}">
                <a16:creationId xmlns:a16="http://schemas.microsoft.com/office/drawing/2014/main" id="{E252D8EF-D7DF-40E3-9BFD-FBD7354A7C6E}"/>
              </a:ext>
            </a:extLst>
          </p:cNvPr>
          <p:cNvSpPr>
            <a:spLocks xmlns:a="http://schemas.openxmlformats.org/drawingml/2006/main" noGrp="1"/>
          </p:cNvSpPr>
          <p:nvPr/>
        </p:nvSpPr>
        <p:spPr>
          <a:xfrm xmlns:a="http://schemas.openxmlformats.org/drawingml/2006/main">
            <a:off x="11458575" y="5657850"/>
            <a:ext cx="3086100" cy="1200150"/>
          </a:xfrm>
          <a:prstGeom xmlns:a="http://schemas.openxmlformats.org/drawingml/2006/main" prst="roundRect">
            <a:avLst>
              <a:gd name="adj" fmla="val 7143"/>
            </a:avLst>
          </a:prstGeom>
          <a:solidFill xmlns:a="http://schemas.openxmlformats.org/drawingml/2006/main">
            <a:srgbClr val="EDF7F1"/>
          </a:solidFill>
          <a:ln xmlns:a="http://schemas.openxmlformats.org/drawingml/2006/main" w="13335">
            <a:solidFill>
              <a:srgbClr val="228455"/>
            </a:solidFill>
            <a:prstDash val="solid"/>
          </a:ln>
        </p:spPr>
      </p:sp>
      <p:pic>
        <p:nvPicPr>
          <p:cNvPr id="21" name="">
            <a:extLst xmlns:a="http://schemas.openxmlformats.org/drawingml/2006/main">
              <a:ext uri="{FF2B5EF4-FFF2-40B4-BE49-F238E27FC236}">
                <a16:creationId xmlns:a16="http://schemas.microsoft.com/office/drawing/2014/main" id="{6D57A095-60DC-4126-AA7A-A99814E7D832}"/>
              </a:ext>
            </a:extLst>
          </p:cNvPr>
          <p:cNvPicPr>
            <a:picLocks xmlns:a="http://schemas.openxmlformats.org/drawingml/2006/main" noChangeAspect="1"/>
          </p:cNvPicPr>
          <p:nvPr/>
        </p:nvPicPr>
        <p:blipFill>
          <a:blip xmlns:r="http://schemas.openxmlformats.org/officeDocument/2006/relationships" xmlns:a="http://schemas.openxmlformats.org/drawingml/2006/main" r:embed="R8b3ed2515b6d466d">
            <a:extLst>
              <a:ext uri="{96DAC541-7B7A-43D3-8B79-37D633B846F1}">
                <asvg:svgBlip xmlns:asvg="http://schemas.microsoft.com/office/drawing/2016/SVG/main" r:embed="R158b3070bd1f4771"/>
              </a:ext>
            </a:extLst>
          </a:blip>
          <a:stretch xmlns:a="http://schemas.openxmlformats.org/drawingml/2006/main"/>
        </p:blipFill>
        <p:spPr>
          <a:xfrm xmlns:a="http://schemas.openxmlformats.org/drawingml/2006/main">
            <a:off x="11649075" y="5838825"/>
            <a:ext cx="457200" cy="457200"/>
          </a:xfrm>
          <a:prstGeom xmlns:a="http://schemas.openxmlformats.org/drawingml/2006/main" prst="rect">
            <a:avLst/>
          </a:prstGeom>
        </p:spPr>
      </p:pic>
      <p:sp>
        <p:nvSpPr>
          <p:cNvPr id="22" name="text">
            <a:extLst xmlns:a="http://schemas.openxmlformats.org/drawingml/2006/main">
              <a:ext uri="{FF2B5EF4-FFF2-40B4-BE49-F238E27FC236}">
                <a16:creationId xmlns:a16="http://schemas.microsoft.com/office/drawing/2014/main" id="{EFFE8378-989C-4F50-883A-2ED63CE5CC12}"/>
              </a:ext>
            </a:extLst>
          </p:cNvPr>
          <p:cNvSpPr>
            <a:spLocks xmlns:a="http://schemas.openxmlformats.org/drawingml/2006/main" noGrp="1"/>
          </p:cNvSpPr>
          <p:nvPr/>
        </p:nvSpPr>
        <p:spPr>
          <a:xfrm xmlns:a="http://schemas.openxmlformats.org/drawingml/2006/main">
            <a:off x="12268200" y="5838825"/>
            <a:ext cx="21336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Evidence accepted</a:t>
            </a:r>
          </a:p>
        </p:txBody>
      </p:sp>
      <p:sp>
        <p:nvSpPr>
          <p:cNvPr id="23" name="text">
            <a:extLst xmlns:a="http://schemas.openxmlformats.org/drawingml/2006/main">
              <a:ext uri="{FF2B5EF4-FFF2-40B4-BE49-F238E27FC236}">
                <a16:creationId xmlns:a16="http://schemas.microsoft.com/office/drawing/2014/main" id="{406BEDD9-4F4B-4D6B-82EC-9D81046745EA}"/>
              </a:ext>
            </a:extLst>
          </p:cNvPr>
          <p:cNvSpPr>
            <a:spLocks xmlns:a="http://schemas.openxmlformats.org/drawingml/2006/main" noGrp="1"/>
          </p:cNvSpPr>
          <p:nvPr/>
        </p:nvSpPr>
        <p:spPr>
          <a:xfrm xmlns:a="http://schemas.openxmlformats.org/drawingml/2006/main">
            <a:off x="11658600" y="6477000"/>
            <a:ext cx="2686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Freshness and coverage</a:t>
            </a:r>
          </a:p>
        </p:txBody>
      </p:sp>
      <p:sp>
        <p:nvSpPr>
          <p:cNvPr id="27" name="box">
            <a:extLst xmlns:a="http://schemas.openxmlformats.org/drawingml/2006/main">
              <a:ext uri="{FF2B5EF4-FFF2-40B4-BE49-F238E27FC236}">
                <a16:creationId xmlns:a16="http://schemas.microsoft.com/office/drawing/2014/main" id="{84C5B1F1-EB1D-491E-A3DF-2F7DE80F36EB}"/>
              </a:ext>
            </a:extLst>
          </p:cNvPr>
          <p:cNvSpPr>
            <a:spLocks xmlns:a="http://schemas.openxmlformats.org/drawingml/2006/main" noGrp="1"/>
          </p:cNvSpPr>
          <p:nvPr/>
        </p:nvSpPr>
        <p:spPr>
          <a:xfrm xmlns:a="http://schemas.openxmlformats.org/drawingml/2006/main">
            <a:off x="685800" y="7219950"/>
            <a:ext cx="13868400" cy="628650"/>
          </a:xfrm>
          <a:prstGeom xmlns:a="http://schemas.openxmlformats.org/drawingml/2006/main" prst="rect">
            <a:avLst/>
          </a:prstGeom>
          <a:solidFill xmlns:a="http://schemas.openxmlformats.org/drawingml/2006/main">
            <a:srgbClr val="FFF5E9"/>
          </a:solidFill>
          <a:ln xmlns:a="http://schemas.openxmlformats.org/drawingml/2006/main" w="0">
            <a:noFill/>
            <a:prstDash val="solid"/>
          </a:ln>
        </p:spPr>
      </p:sp>
      <p:sp>
        <p:nvSpPr>
          <p:cNvPr id="28" name="box">
            <a:extLst xmlns:a="http://schemas.openxmlformats.org/drawingml/2006/main">
              <a:ext uri="{FF2B5EF4-FFF2-40B4-BE49-F238E27FC236}">
                <a16:creationId xmlns:a16="http://schemas.microsoft.com/office/drawing/2014/main" id="{5B85938F-0746-49F3-BCF4-7BD48330098C}"/>
              </a:ext>
            </a:extLst>
          </p:cNvPr>
          <p:cNvSpPr>
            <a:spLocks xmlns:a="http://schemas.openxmlformats.org/drawingml/2006/main" noGrp="1"/>
          </p:cNvSpPr>
          <p:nvPr/>
        </p:nvSpPr>
        <p:spPr>
          <a:xfrm xmlns:a="http://schemas.openxmlformats.org/drawingml/2006/main">
            <a:off x="685800" y="7219950"/>
            <a:ext cx="47625" cy="628650"/>
          </a:xfrm>
          <a:prstGeom xmlns:a="http://schemas.openxmlformats.org/drawingml/2006/main" prst="rect">
            <a:avLst/>
          </a:prstGeom>
          <a:solidFill xmlns:a="http://schemas.openxmlformats.org/drawingml/2006/main">
            <a:srgbClr val="D77816"/>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D7DD55AB-9B55-4B1D-AC9B-D88F5CC0E792}"/>
              </a:ext>
            </a:extLst>
          </p:cNvPr>
          <p:cNvSpPr>
            <a:spLocks xmlns:a="http://schemas.openxmlformats.org/drawingml/2006/main" noGrp="1"/>
          </p:cNvSpPr>
          <p:nvPr/>
        </p:nvSpPr>
        <p:spPr>
          <a:xfrm xmlns:a="http://schemas.openxmlformats.org/drawingml/2006/main">
            <a:off x="895350" y="7381875"/>
            <a:ext cx="134588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12D49"/>
                </a:solidFill>
                <a:latin typeface="Nimbus Sans"/>
                <a:ea typeface="Nimbus Sans"/>
                <a:cs typeface="Nimbus Sans"/>
              </a:defRPr>
            </a:defPPr>
          </a:lstStyle>
          <a:p xmlns:a="http://schemas.openxmlformats.org/drawingml/2006/main">
            <a:pPr algn="l">
              <a:defRPr sz="1800" b="0">
                <a:solidFill>
                  <a:srgbClr val="112D49"/>
                </a:solidFill>
                <a:latin typeface="Nimbus Sans"/>
                <a:ea typeface="Nimbus Sans"/>
                <a:cs typeface="Nimbus Sans"/>
              </a:defRPr>
            </a:pPr>
            <a:r>
              <a:rPr sz="1800" b="0">
                <a:solidFill>
                  <a:srgbClr val="112D49"/>
                </a:solidFill>
                <a:latin typeface="Nimbus Sans"/>
                <a:ea typeface="Nimbus Sans"/>
                <a:cs typeface="Nimbus Sans"/>
              </a:rPr>
              <a:t>90 days is a proposed initial action threshold. New-user grace, exceptions and coverage criteria need policy-owner agreement.</a:t>
            </a:r>
          </a:p>
        </p:txBody>
      </p:sp>
    </p:spTree>
    <p:extLst>
      <p:ext uri="{BB962C8B-B14F-4D97-AF65-F5344CB8AC3E}">
        <p14:creationId xmlns:p14="http://schemas.microsoft.com/office/powerpoint/2010/main" val="1857540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3C783848-6465-4392-BCBF-7DF9A509FBD6}"/>
              </a:ext>
            </a:extLst>
          </p:cNvPr>
          <p:cNvCxnSpPr>
            <a:stCxn xmlns:a="http://schemas.openxmlformats.org/drawingml/2006/main" id="20" idx="3"/>
            <a:endCxn xmlns:a="http://schemas.openxmlformats.org/drawingml/2006/main" id="22" idx="1"/>
          </p:cNvCxnSpPr>
          <p:nvPr/>
        </p:nvCxnSpPr>
        <p:spPr>
          <a:xfrm xmlns:a="http://schemas.openxmlformats.org/drawingml/2006/main">
            <a:off x="5772150" y="6505575"/>
            <a:ext cx="533400"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875C8F80-62C2-41C8-9183-6DD07CED093E}"/>
              </a:ext>
            </a:extLst>
          </p:cNvPr>
          <p:cNvCxnSpPr>
            <a:stCxn xmlns:a="http://schemas.openxmlformats.org/drawingml/2006/main" id="18" idx="3"/>
            <a:endCxn xmlns:a="http://schemas.openxmlformats.org/drawingml/2006/main" id="20" idx="1"/>
          </p:cNvCxnSpPr>
          <p:nvPr/>
        </p:nvCxnSpPr>
        <p:spPr>
          <a:xfrm xmlns:a="http://schemas.openxmlformats.org/drawingml/2006/main">
            <a:off x="2990850" y="6505575"/>
            <a:ext cx="533400"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sp>
        <p:nvSpPr>
          <p:cNvPr id="30" name="slide-title">
            <a:extLst xmlns:a="http://schemas.openxmlformats.org/drawingml/2006/main">
              <a:ext uri="{FF2B5EF4-FFF2-40B4-BE49-F238E27FC236}">
                <a16:creationId xmlns:a16="http://schemas.microsoft.com/office/drawing/2014/main" id="{9B28C241-A520-4401-BF39-23E7897FEB93}"/>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Controls for a bank environment</a:t>
            </a:r>
          </a:p>
        </p:txBody>
      </p:sp>
      <p:sp>
        <p:nvSpPr>
          <p:cNvPr id="2" name="slide-subtitle">
            <a:extLst xmlns:a="http://schemas.openxmlformats.org/drawingml/2006/main">
              <a:ext uri="{FF2B5EF4-FFF2-40B4-BE49-F238E27FC236}">
                <a16:creationId xmlns:a16="http://schemas.microsoft.com/office/drawing/2014/main" id="{5F921AF7-54D4-475F-899B-99C06268E5B4}"/>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Collection remains read-only. Publication and access changes follow separate approval boundaries</a:t>
            </a:r>
          </a:p>
        </p:txBody>
      </p:sp>
      <p:sp>
        <p:nvSpPr>
          <p:cNvPr id="3" name="">
            <a:extLst xmlns:a="http://schemas.openxmlformats.org/drawingml/2006/main">
              <a:ext uri="{FF2B5EF4-FFF2-40B4-BE49-F238E27FC236}">
                <a16:creationId xmlns:a16="http://schemas.microsoft.com/office/drawing/2014/main" id="{157B2A4D-D84F-4024-8E8B-46303B3DD7CA}"/>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0786D744-7956-40C6-92FB-46AD42839A5C}"/>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89FF3862-EBF0-4B7E-AE74-5F7466B36C08}"/>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9</a:t>
            </a:r>
          </a:p>
        </p:txBody>
      </p:sp>
      <p:pic>
        <p:nvPicPr>
          <p:cNvPr id="6" name="">
            <a:extLst xmlns:a="http://schemas.openxmlformats.org/drawingml/2006/main">
              <a:ext uri="{FF2B5EF4-FFF2-40B4-BE49-F238E27FC236}">
                <a16:creationId xmlns:a16="http://schemas.microsoft.com/office/drawing/2014/main" id="{310D2A4F-FDF2-4338-B661-FA48E196CB05}"/>
              </a:ext>
            </a:extLst>
          </p:cNvPr>
          <p:cNvPicPr>
            <a:picLocks xmlns:a="http://schemas.openxmlformats.org/drawingml/2006/main" noChangeAspect="1"/>
          </p:cNvPicPr>
          <p:nvPr/>
        </p:nvPicPr>
        <p:blipFill>
          <a:blip xmlns:r="http://schemas.openxmlformats.org/officeDocument/2006/relationships" xmlns:a="http://schemas.openxmlformats.org/drawingml/2006/main" r:embed="R2fd9f8ac37904030">
            <a:extLst>
              <a:ext uri="{96DAC541-7B7A-43D3-8B79-37D633B846F1}">
                <asvg:svgBlip xmlns:asvg="http://schemas.microsoft.com/office/drawing/2016/SVG/main" r:embed="R82deb680becc4a19"/>
              </a:ext>
            </a:extLst>
          </a:blip>
          <a:stretch xmlns:a="http://schemas.openxmlformats.org/drawingml/2006/main"/>
        </p:blipFill>
        <p:spPr>
          <a:xfrm xmlns:a="http://schemas.openxmlformats.org/drawingml/2006/main">
            <a:off x="742950" y="2114550"/>
            <a:ext cx="457200" cy="45720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B250D89D-5785-4E3F-856E-588830761621}"/>
              </a:ext>
            </a:extLst>
          </p:cNvPr>
          <p:cNvSpPr>
            <a:spLocks xmlns:a="http://schemas.openxmlformats.org/drawingml/2006/main" noGrp="1"/>
          </p:cNvSpPr>
          <p:nvPr/>
        </p:nvSpPr>
        <p:spPr>
          <a:xfrm xmlns:a="http://schemas.openxmlformats.org/drawingml/2006/main">
            <a:off x="1428750" y="2105025"/>
            <a:ext cx="588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a:solidFill>
                  <a:srgbClr val="112D49"/>
                </a:solidFill>
                <a:latin typeface="Nimbus Sans"/>
                <a:ea typeface="Nimbus Sans"/>
                <a:cs typeface="Nimbus Sans"/>
              </a:defRPr>
            </a:defPPr>
          </a:lstStyle>
          <a:p xmlns:a="http://schemas.openxmlformats.org/drawingml/2006/main">
            <a:pPr algn="l">
              <a:defRPr sz="2250" b="1">
                <a:solidFill>
                  <a:srgbClr val="112D49"/>
                </a:solidFill>
                <a:latin typeface="Nimbus Sans"/>
                <a:ea typeface="Nimbus Sans"/>
                <a:cs typeface="Nimbus Sans"/>
              </a:defRPr>
            </a:pPr>
            <a:r>
              <a:rPr sz="2250" b="1">
                <a:solidFill>
                  <a:srgbClr val="112D49"/>
                </a:solidFill>
                <a:latin typeface="Nimbus Sans"/>
                <a:ea typeface="Nimbus Sans"/>
                <a:cs typeface="Nimbus Sans"/>
              </a:rPr>
              <a:t>Terraform-managed infrastructure</a:t>
            </a:r>
          </a:p>
        </p:txBody>
      </p:sp>
      <p:sp>
        <p:nvSpPr>
          <p:cNvPr id="8" name="text">
            <a:extLst xmlns:a="http://schemas.openxmlformats.org/drawingml/2006/main">
              <a:ext uri="{FF2B5EF4-FFF2-40B4-BE49-F238E27FC236}">
                <a16:creationId xmlns:a16="http://schemas.microsoft.com/office/drawing/2014/main" id="{5603CE9B-CCF6-40A4-96A3-56FA421C94E6}"/>
              </a:ext>
            </a:extLst>
          </p:cNvPr>
          <p:cNvSpPr>
            <a:spLocks xmlns:a="http://schemas.openxmlformats.org/drawingml/2006/main" noGrp="1"/>
          </p:cNvSpPr>
          <p:nvPr/>
        </p:nvSpPr>
        <p:spPr>
          <a:xfrm xmlns:a="http://schemas.openxmlformats.org/drawingml/2006/main">
            <a:off x="1428750" y="2581275"/>
            <a:ext cx="5791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Tables, views, jobs, schedules and IAM follow the existing change process.</a:t>
            </a:r>
          </a:p>
        </p:txBody>
      </p:sp>
      <p:pic>
        <p:nvPicPr>
          <p:cNvPr id="9" name="">
            <a:extLst xmlns:a="http://schemas.openxmlformats.org/drawingml/2006/main">
              <a:ext uri="{FF2B5EF4-FFF2-40B4-BE49-F238E27FC236}">
                <a16:creationId xmlns:a16="http://schemas.microsoft.com/office/drawing/2014/main" id="{091A6165-F305-4CFD-9B19-98E352DD7569}"/>
              </a:ext>
            </a:extLst>
          </p:cNvPr>
          <p:cNvPicPr>
            <a:picLocks xmlns:a="http://schemas.openxmlformats.org/drawingml/2006/main" noChangeAspect="1"/>
          </p:cNvPicPr>
          <p:nvPr/>
        </p:nvPicPr>
        <p:blipFill>
          <a:blip xmlns:r="http://schemas.openxmlformats.org/officeDocument/2006/relationships" xmlns:a="http://schemas.openxmlformats.org/drawingml/2006/main" r:embed="R7152c25d88c24ea9">
            <a:extLst>
              <a:ext uri="{96DAC541-7B7A-43D3-8B79-37D633B846F1}">
                <asvg:svgBlip xmlns:asvg="http://schemas.microsoft.com/office/drawing/2016/SVG/main" r:embed="Rc4a6fb80546b4064"/>
              </a:ext>
            </a:extLst>
          </a:blip>
          <a:stretch xmlns:a="http://schemas.openxmlformats.org/drawingml/2006/main"/>
        </p:blipFill>
        <p:spPr>
          <a:xfrm xmlns:a="http://schemas.openxmlformats.org/drawingml/2006/main">
            <a:off x="8258175" y="2114550"/>
            <a:ext cx="457200" cy="45720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BE83A17-3BEF-4681-AA2C-3B794FCA0279}"/>
              </a:ext>
            </a:extLst>
          </p:cNvPr>
          <p:cNvSpPr>
            <a:spLocks xmlns:a="http://schemas.openxmlformats.org/drawingml/2006/main" noGrp="1"/>
          </p:cNvSpPr>
          <p:nvPr/>
        </p:nvSpPr>
        <p:spPr>
          <a:xfrm xmlns:a="http://schemas.openxmlformats.org/drawingml/2006/main">
            <a:off x="8943975" y="2105025"/>
            <a:ext cx="5505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a:solidFill>
                  <a:srgbClr val="112D49"/>
                </a:solidFill>
                <a:latin typeface="Nimbus Sans"/>
                <a:ea typeface="Nimbus Sans"/>
                <a:cs typeface="Nimbus Sans"/>
              </a:defRPr>
            </a:defPPr>
          </a:lstStyle>
          <a:p xmlns:a="http://schemas.openxmlformats.org/drawingml/2006/main">
            <a:pPr algn="l">
              <a:defRPr sz="2250" b="1">
                <a:solidFill>
                  <a:srgbClr val="112D49"/>
                </a:solidFill>
                <a:latin typeface="Nimbus Sans"/>
                <a:ea typeface="Nimbus Sans"/>
                <a:cs typeface="Nimbus Sans"/>
              </a:defRPr>
            </a:pPr>
            <a:r>
              <a:rPr sz="2250" b="1">
                <a:solidFill>
                  <a:srgbClr val="112D49"/>
                </a:solidFill>
                <a:latin typeface="Nimbus Sans"/>
                <a:ea typeface="Nimbus Sans"/>
                <a:cs typeface="Nimbus Sans"/>
              </a:rPr>
              <a:t>Least-privilege authentication</a:t>
            </a:r>
          </a:p>
        </p:txBody>
      </p:sp>
      <p:sp>
        <p:nvSpPr>
          <p:cNvPr id="11" name="text">
            <a:extLst xmlns:a="http://schemas.openxmlformats.org/drawingml/2006/main">
              <a:ext uri="{FF2B5EF4-FFF2-40B4-BE49-F238E27FC236}">
                <a16:creationId xmlns:a16="http://schemas.microsoft.com/office/drawing/2014/main" id="{CA283B52-6635-42A1-9956-CE00309E87CD}"/>
              </a:ext>
            </a:extLst>
          </p:cNvPr>
          <p:cNvSpPr>
            <a:spLocks xmlns:a="http://schemas.openxmlformats.org/drawingml/2006/main" noGrp="1"/>
          </p:cNvSpPr>
          <p:nvPr/>
        </p:nvSpPr>
        <p:spPr>
          <a:xfrm xmlns:a="http://schemas.openxmlformats.org/drawingml/2006/main">
            <a:off x="8943975" y="2581275"/>
            <a:ext cx="5410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GitHub App with endpoint-specific read access. Secret Manager stores the private key.</a:t>
            </a:r>
          </a:p>
        </p:txBody>
      </p:sp>
      <p:pic>
        <p:nvPicPr>
          <p:cNvPr id="12" name="">
            <a:extLst xmlns:a="http://schemas.openxmlformats.org/drawingml/2006/main">
              <a:ext uri="{FF2B5EF4-FFF2-40B4-BE49-F238E27FC236}">
                <a16:creationId xmlns:a16="http://schemas.microsoft.com/office/drawing/2014/main" id="{5085028E-94A3-4ACD-AB36-F076A4387DBB}"/>
              </a:ext>
            </a:extLst>
          </p:cNvPr>
          <p:cNvPicPr>
            <a:picLocks xmlns:a="http://schemas.openxmlformats.org/drawingml/2006/main" noChangeAspect="1"/>
          </p:cNvPicPr>
          <p:nvPr/>
        </p:nvPicPr>
        <p:blipFill>
          <a:blip xmlns:r="http://schemas.openxmlformats.org/officeDocument/2006/relationships" xmlns:a="http://schemas.openxmlformats.org/drawingml/2006/main" r:embed="R20cb048bb6784bdb">
            <a:extLst>
              <a:ext uri="{96DAC541-7B7A-43D3-8B79-37D633B846F1}">
                <asvg:svgBlip xmlns:asvg="http://schemas.microsoft.com/office/drawing/2016/SVG/main" r:embed="Rd7d4f3653ad24846"/>
              </a:ext>
            </a:extLst>
          </a:blip>
          <a:stretch xmlns:a="http://schemas.openxmlformats.org/drawingml/2006/main"/>
        </p:blipFill>
        <p:spPr>
          <a:xfrm xmlns:a="http://schemas.openxmlformats.org/drawingml/2006/main">
            <a:off x="742950" y="3933825"/>
            <a:ext cx="457200" cy="4572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6427F018-D2E3-4C00-976B-16087AF6286D}"/>
              </a:ext>
            </a:extLst>
          </p:cNvPr>
          <p:cNvSpPr>
            <a:spLocks xmlns:a="http://schemas.openxmlformats.org/drawingml/2006/main" noGrp="1"/>
          </p:cNvSpPr>
          <p:nvPr/>
        </p:nvSpPr>
        <p:spPr>
          <a:xfrm xmlns:a="http://schemas.openxmlformats.org/drawingml/2006/main">
            <a:off x="1428750" y="3924300"/>
            <a:ext cx="588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a:solidFill>
                  <a:srgbClr val="112D49"/>
                </a:solidFill>
                <a:latin typeface="Nimbus Sans"/>
                <a:ea typeface="Nimbus Sans"/>
                <a:cs typeface="Nimbus Sans"/>
              </a:defRPr>
            </a:defPPr>
          </a:lstStyle>
          <a:p xmlns:a="http://schemas.openxmlformats.org/drawingml/2006/main">
            <a:pPr algn="l">
              <a:defRPr sz="2250" b="1">
                <a:solidFill>
                  <a:srgbClr val="112D49"/>
                </a:solidFill>
                <a:latin typeface="Nimbus Sans"/>
                <a:ea typeface="Nimbus Sans"/>
                <a:cs typeface="Nimbus Sans"/>
              </a:defRPr>
            </a:pPr>
            <a:r>
              <a:rPr sz="2250" b="1">
                <a:solidFill>
                  <a:srgbClr val="112D49"/>
                </a:solidFill>
                <a:latin typeface="Nimbus Sans"/>
                <a:ea typeface="Nimbus Sans"/>
                <a:cs typeface="Nimbus Sans"/>
              </a:rPr>
              <a:t>Traceable collection</a:t>
            </a:r>
          </a:p>
        </p:txBody>
      </p:sp>
      <p:sp>
        <p:nvSpPr>
          <p:cNvPr id="14" name="text">
            <a:extLst xmlns:a="http://schemas.openxmlformats.org/drawingml/2006/main">
              <a:ext uri="{FF2B5EF4-FFF2-40B4-BE49-F238E27FC236}">
                <a16:creationId xmlns:a16="http://schemas.microsoft.com/office/drawing/2014/main" id="{69F4946A-E336-4167-975A-458AF39E65EE}"/>
              </a:ext>
            </a:extLst>
          </p:cNvPr>
          <p:cNvSpPr>
            <a:spLocks xmlns:a="http://schemas.openxmlformats.org/drawingml/2006/main" noGrp="1"/>
          </p:cNvSpPr>
          <p:nvPr/>
        </p:nvSpPr>
        <p:spPr>
          <a:xfrm xmlns:a="http://schemas.openxmlformats.org/drawingml/2006/main">
            <a:off x="1428750" y="4400550"/>
            <a:ext cx="5791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Retain raw evidence, counts and run IDs. Use idempotent writes and bounded retries.</a:t>
            </a:r>
          </a:p>
        </p:txBody>
      </p:sp>
      <p:pic>
        <p:nvPicPr>
          <p:cNvPr id="15" name="">
            <a:extLst xmlns:a="http://schemas.openxmlformats.org/drawingml/2006/main">
              <a:ext uri="{FF2B5EF4-FFF2-40B4-BE49-F238E27FC236}">
                <a16:creationId xmlns:a16="http://schemas.microsoft.com/office/drawing/2014/main" id="{8BA5E8F7-AA9A-4123-ABD7-63A1B05412F9}"/>
              </a:ext>
            </a:extLst>
          </p:cNvPr>
          <p:cNvPicPr>
            <a:picLocks xmlns:a="http://schemas.openxmlformats.org/drawingml/2006/main" noChangeAspect="1"/>
          </p:cNvPicPr>
          <p:nvPr/>
        </p:nvPicPr>
        <p:blipFill>
          <a:blip xmlns:r="http://schemas.openxmlformats.org/officeDocument/2006/relationships" xmlns:a="http://schemas.openxmlformats.org/drawingml/2006/main" r:embed="R5d247d696b5d48fe">
            <a:extLst>
              <a:ext uri="{96DAC541-7B7A-43D3-8B79-37D633B846F1}">
                <asvg:svgBlip xmlns:asvg="http://schemas.microsoft.com/office/drawing/2016/SVG/main" r:embed="R0496a14ca565414f"/>
              </a:ext>
            </a:extLst>
          </a:blip>
          <a:stretch xmlns:a="http://schemas.openxmlformats.org/drawingml/2006/main"/>
        </p:blipFill>
        <p:spPr>
          <a:xfrm xmlns:a="http://schemas.openxmlformats.org/drawingml/2006/main">
            <a:off x="8258175" y="3933825"/>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A4933C53-F5E2-4746-AA03-ED0332694B51}"/>
              </a:ext>
            </a:extLst>
          </p:cNvPr>
          <p:cNvSpPr>
            <a:spLocks xmlns:a="http://schemas.openxmlformats.org/drawingml/2006/main" noGrp="1"/>
          </p:cNvSpPr>
          <p:nvPr/>
        </p:nvSpPr>
        <p:spPr>
          <a:xfrm xmlns:a="http://schemas.openxmlformats.org/drawingml/2006/main">
            <a:off x="8943975" y="3924300"/>
            <a:ext cx="5505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a:solidFill>
                  <a:srgbClr val="112D49"/>
                </a:solidFill>
                <a:latin typeface="Nimbus Sans"/>
                <a:ea typeface="Nimbus Sans"/>
                <a:cs typeface="Nimbus Sans"/>
              </a:defRPr>
            </a:defPPr>
          </a:lstStyle>
          <a:p xmlns:a="http://schemas.openxmlformats.org/drawingml/2006/main">
            <a:pPr algn="l">
              <a:defRPr sz="2250" b="1">
                <a:solidFill>
                  <a:srgbClr val="112D49"/>
                </a:solidFill>
                <a:latin typeface="Nimbus Sans"/>
                <a:ea typeface="Nimbus Sans"/>
                <a:cs typeface="Nimbus Sans"/>
              </a:defRPr>
            </a:pPr>
            <a:r>
              <a:rPr sz="2250" b="1">
                <a:solidFill>
                  <a:srgbClr val="112D49"/>
                </a:solidFill>
                <a:latin typeface="Nimbus Sans"/>
                <a:ea typeface="Nimbus Sans"/>
                <a:cs typeface="Nimbus Sans"/>
              </a:rPr>
              <a:t>Controlled license action</a:t>
            </a:r>
          </a:p>
        </p:txBody>
      </p:sp>
      <p:sp>
        <p:nvSpPr>
          <p:cNvPr id="17" name="text">
            <a:extLst xmlns:a="http://schemas.openxmlformats.org/drawingml/2006/main">
              <a:ext uri="{FF2B5EF4-FFF2-40B4-BE49-F238E27FC236}">
                <a16:creationId xmlns:a16="http://schemas.microsoft.com/office/drawing/2014/main" id="{E5AF8B14-B420-4906-80D5-CF821F27E899}"/>
              </a:ext>
            </a:extLst>
          </p:cNvPr>
          <p:cNvSpPr>
            <a:spLocks xmlns:a="http://schemas.openxmlformats.org/drawingml/2006/main" noGrp="1"/>
          </p:cNvSpPr>
          <p:nvPr/>
        </p:nvSpPr>
        <p:spPr>
          <a:xfrm xmlns:a="http://schemas.openxmlformats.org/drawingml/2006/main">
            <a:off x="8943975" y="4400550"/>
            <a:ext cx="5410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A reviewer confirms ownership and exceptions, then uses the approved notification and action process.</a:t>
            </a:r>
          </a:p>
        </p:txBody>
      </p:sp>
      <p:sp>
        <p:nvSpPr>
          <p:cNvPr id="18" name="box">
            <a:extLst xmlns:a="http://schemas.openxmlformats.org/drawingml/2006/main">
              <a:ext uri="{FF2B5EF4-FFF2-40B4-BE49-F238E27FC236}">
                <a16:creationId xmlns:a16="http://schemas.microsoft.com/office/drawing/2014/main" id="{8244C9C8-4128-4CE4-BDE8-4DF36A8E7122}"/>
              </a:ext>
            </a:extLst>
          </p:cNvPr>
          <p:cNvSpPr>
            <a:spLocks xmlns:a="http://schemas.openxmlformats.org/drawingml/2006/main" noGrp="1"/>
          </p:cNvSpPr>
          <p:nvPr/>
        </p:nvSpPr>
        <p:spPr>
          <a:xfrm xmlns:a="http://schemas.openxmlformats.org/drawingml/2006/main">
            <a:off x="742950" y="6191250"/>
            <a:ext cx="2247900" cy="628650"/>
          </a:xfrm>
          <a:prstGeom xmlns:a="http://schemas.openxmlformats.org/drawingml/2006/main" prst="roundRect">
            <a:avLst>
              <a:gd name="adj" fmla="val 7576"/>
            </a:avLst>
          </a:prstGeom>
          <a:solidFill xmlns:a="http://schemas.openxmlformats.org/drawingml/2006/main">
            <a:srgbClr val="F3F7FB"/>
          </a:solidFill>
          <a:ln xmlns:a="http://schemas.openxmlformats.org/drawingml/2006/main" w="13335">
            <a:solidFill>
              <a:srgbClr val="3276D2"/>
            </a:solidFill>
            <a:prstDash val="solid"/>
          </a:ln>
        </p:spPr>
      </p:sp>
      <p:sp>
        <p:nvSpPr>
          <p:cNvPr id="19" name="text">
            <a:extLst xmlns:a="http://schemas.openxmlformats.org/drawingml/2006/main">
              <a:ext uri="{FF2B5EF4-FFF2-40B4-BE49-F238E27FC236}">
                <a16:creationId xmlns:a16="http://schemas.microsoft.com/office/drawing/2014/main" id="{F75E7535-FD45-4039-8197-437E239F7B0D}"/>
              </a:ext>
            </a:extLst>
          </p:cNvPr>
          <p:cNvSpPr>
            <a:spLocks xmlns:a="http://schemas.openxmlformats.org/drawingml/2006/main" noGrp="1"/>
          </p:cNvSpPr>
          <p:nvPr/>
        </p:nvSpPr>
        <p:spPr>
          <a:xfrm xmlns:a="http://schemas.openxmlformats.org/drawingml/2006/main">
            <a:off x="838200" y="637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950" b="1">
                <a:solidFill>
                  <a:srgbClr val="3276D2"/>
                </a:solidFill>
                <a:latin typeface="Nimbus Sans"/>
                <a:ea typeface="Nimbus Sans"/>
                <a:cs typeface="Nimbus Sans"/>
              </a:defRPr>
            </a:defPPr>
          </a:lstStyle>
          <a:p xmlns:a="http://schemas.openxmlformats.org/drawingml/2006/main">
            <a:pPr algn="ctr">
              <a:defRPr sz="1950" b="1">
                <a:solidFill>
                  <a:srgbClr val="3276D2"/>
                </a:solidFill>
                <a:latin typeface="Nimbus Sans"/>
                <a:ea typeface="Nimbus Sans"/>
                <a:cs typeface="Nimbus Sans"/>
              </a:defRPr>
            </a:pPr>
            <a:r>
              <a:rPr sz="1950" b="1">
                <a:solidFill>
                  <a:srgbClr val="3276D2"/>
                </a:solidFill>
                <a:latin typeface="Nimbus Sans"/>
                <a:ea typeface="Nimbus Sans"/>
                <a:cs typeface="Nimbus Sans"/>
              </a:rPr>
              <a:t>EXTRACTED</a:t>
            </a:r>
          </a:p>
        </p:txBody>
      </p:sp>
      <p:sp>
        <p:nvSpPr>
          <p:cNvPr id="20" name="box">
            <a:extLst xmlns:a="http://schemas.openxmlformats.org/drawingml/2006/main">
              <a:ext uri="{FF2B5EF4-FFF2-40B4-BE49-F238E27FC236}">
                <a16:creationId xmlns:a16="http://schemas.microsoft.com/office/drawing/2014/main" id="{FA42AB4C-4D4F-4F24-88CC-42EF695D2CB3}"/>
              </a:ext>
            </a:extLst>
          </p:cNvPr>
          <p:cNvSpPr>
            <a:spLocks xmlns:a="http://schemas.openxmlformats.org/drawingml/2006/main" noGrp="1"/>
          </p:cNvSpPr>
          <p:nvPr/>
        </p:nvSpPr>
        <p:spPr>
          <a:xfrm xmlns:a="http://schemas.openxmlformats.org/drawingml/2006/main">
            <a:off x="3524250" y="6191250"/>
            <a:ext cx="2247900" cy="628650"/>
          </a:xfrm>
          <a:prstGeom xmlns:a="http://schemas.openxmlformats.org/drawingml/2006/main" prst="roundRect">
            <a:avLst>
              <a:gd name="adj" fmla="val 7576"/>
            </a:avLst>
          </a:prstGeom>
          <a:solidFill xmlns:a="http://schemas.openxmlformats.org/drawingml/2006/main">
            <a:srgbClr val="F3F7FB"/>
          </a:solidFill>
          <a:ln xmlns:a="http://schemas.openxmlformats.org/drawingml/2006/main" w="13335">
            <a:solidFill>
              <a:srgbClr val="3276D2"/>
            </a:solidFill>
            <a:prstDash val="solid"/>
          </a:ln>
        </p:spPr>
      </p:sp>
      <p:sp>
        <p:nvSpPr>
          <p:cNvPr id="21" name="text">
            <a:extLst xmlns:a="http://schemas.openxmlformats.org/drawingml/2006/main">
              <a:ext uri="{FF2B5EF4-FFF2-40B4-BE49-F238E27FC236}">
                <a16:creationId xmlns:a16="http://schemas.microsoft.com/office/drawing/2014/main" id="{4D0DDC52-EFE7-4DCB-89CB-91D5C77438EB}"/>
              </a:ext>
            </a:extLst>
          </p:cNvPr>
          <p:cNvSpPr>
            <a:spLocks xmlns:a="http://schemas.openxmlformats.org/drawingml/2006/main" noGrp="1"/>
          </p:cNvSpPr>
          <p:nvPr/>
        </p:nvSpPr>
        <p:spPr>
          <a:xfrm xmlns:a="http://schemas.openxmlformats.org/drawingml/2006/main">
            <a:off x="3619500" y="637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950" b="1">
                <a:solidFill>
                  <a:srgbClr val="3276D2"/>
                </a:solidFill>
                <a:latin typeface="Nimbus Sans"/>
                <a:ea typeface="Nimbus Sans"/>
                <a:cs typeface="Nimbus Sans"/>
              </a:defRPr>
            </a:defPPr>
          </a:lstStyle>
          <a:p xmlns:a="http://schemas.openxmlformats.org/drawingml/2006/main">
            <a:pPr algn="ctr">
              <a:defRPr sz="1950" b="1">
                <a:solidFill>
                  <a:srgbClr val="3276D2"/>
                </a:solidFill>
                <a:latin typeface="Nimbus Sans"/>
                <a:ea typeface="Nimbus Sans"/>
                <a:cs typeface="Nimbus Sans"/>
              </a:defRPr>
            </a:pPr>
            <a:r>
              <a:rPr sz="1950" b="1">
                <a:solidFill>
                  <a:srgbClr val="3276D2"/>
                </a:solidFill>
                <a:latin typeface="Nimbus Sans"/>
                <a:ea typeface="Nimbus Sans"/>
                <a:cs typeface="Nimbus Sans"/>
              </a:rPr>
              <a:t>LOADED</a:t>
            </a:r>
          </a:p>
        </p:txBody>
      </p:sp>
      <p:sp>
        <p:nvSpPr>
          <p:cNvPr id="22" name="box">
            <a:extLst xmlns:a="http://schemas.openxmlformats.org/drawingml/2006/main">
              <a:ext uri="{FF2B5EF4-FFF2-40B4-BE49-F238E27FC236}">
                <a16:creationId xmlns:a16="http://schemas.microsoft.com/office/drawing/2014/main" id="{4ED7A58B-01A5-440E-9BA2-1A47B011F625}"/>
              </a:ext>
            </a:extLst>
          </p:cNvPr>
          <p:cNvSpPr>
            <a:spLocks xmlns:a="http://schemas.openxmlformats.org/drawingml/2006/main" noGrp="1"/>
          </p:cNvSpPr>
          <p:nvPr/>
        </p:nvSpPr>
        <p:spPr>
          <a:xfrm xmlns:a="http://schemas.openxmlformats.org/drawingml/2006/main">
            <a:off x="6305550" y="6191250"/>
            <a:ext cx="2247900" cy="628650"/>
          </a:xfrm>
          <a:prstGeom xmlns:a="http://schemas.openxmlformats.org/drawingml/2006/main" prst="roundRect">
            <a:avLst>
              <a:gd name="adj" fmla="val 7576"/>
            </a:avLst>
          </a:prstGeom>
          <a:solidFill xmlns:a="http://schemas.openxmlformats.org/drawingml/2006/main">
            <a:srgbClr val="EDF7F1"/>
          </a:solidFill>
          <a:ln xmlns:a="http://schemas.openxmlformats.org/drawingml/2006/main" w="13335">
            <a:solidFill>
              <a:srgbClr val="228455"/>
            </a:solidFill>
            <a:prstDash val="solid"/>
          </a:ln>
        </p:spPr>
      </p:sp>
      <p:sp>
        <p:nvSpPr>
          <p:cNvPr id="23" name="text">
            <a:extLst xmlns:a="http://schemas.openxmlformats.org/drawingml/2006/main">
              <a:ext uri="{FF2B5EF4-FFF2-40B4-BE49-F238E27FC236}">
                <a16:creationId xmlns:a16="http://schemas.microsoft.com/office/drawing/2014/main" id="{29DEA85D-6207-4AF0-9FE9-27C1BF8404F2}"/>
              </a:ext>
            </a:extLst>
          </p:cNvPr>
          <p:cNvSpPr>
            <a:spLocks xmlns:a="http://schemas.openxmlformats.org/drawingml/2006/main" noGrp="1"/>
          </p:cNvSpPr>
          <p:nvPr/>
        </p:nvSpPr>
        <p:spPr>
          <a:xfrm xmlns:a="http://schemas.openxmlformats.org/drawingml/2006/main">
            <a:off x="6400800" y="637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950" b="1">
                <a:solidFill>
                  <a:srgbClr val="228455"/>
                </a:solidFill>
                <a:latin typeface="Nimbus Sans"/>
                <a:ea typeface="Nimbus Sans"/>
                <a:cs typeface="Nimbus Sans"/>
              </a:defRPr>
            </a:defPPr>
          </a:lstStyle>
          <a:p xmlns:a="http://schemas.openxmlformats.org/drawingml/2006/main">
            <a:pPr algn="ctr">
              <a:defRPr sz="1950" b="1">
                <a:solidFill>
                  <a:srgbClr val="228455"/>
                </a:solidFill>
                <a:latin typeface="Nimbus Sans"/>
                <a:ea typeface="Nimbus Sans"/>
                <a:cs typeface="Nimbus Sans"/>
              </a:defRPr>
            </a:pPr>
            <a:r>
              <a:rPr sz="1950" b="1">
                <a:solidFill>
                  <a:srgbClr val="228455"/>
                </a:solidFill>
                <a:latin typeface="Nimbus Sans"/>
                <a:ea typeface="Nimbus Sans"/>
                <a:cs typeface="Nimbus Sans"/>
              </a:rPr>
              <a:t>COMPLETE</a:t>
            </a:r>
          </a:p>
        </p:txBody>
      </p:sp>
      <p:sp>
        <p:nvSpPr>
          <p:cNvPr id="26" name="text">
            <a:extLst xmlns:a="http://schemas.openxmlformats.org/drawingml/2006/main">
              <a:ext uri="{FF2B5EF4-FFF2-40B4-BE49-F238E27FC236}">
                <a16:creationId xmlns:a16="http://schemas.microsoft.com/office/drawing/2014/main" id="{A94EA53B-A2A0-44C7-91DB-C69999C13D66}"/>
              </a:ext>
            </a:extLst>
          </p:cNvPr>
          <p:cNvSpPr>
            <a:spLocks xmlns:a="http://schemas.openxmlformats.org/drawingml/2006/main" noGrp="1"/>
          </p:cNvSpPr>
          <p:nvPr/>
        </p:nvSpPr>
        <p:spPr>
          <a:xfrm xmlns:a="http://schemas.openxmlformats.org/drawingml/2006/main">
            <a:off x="9334500" y="6324600"/>
            <a:ext cx="504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228455"/>
                </a:solidFill>
                <a:latin typeface="Nimbus Sans"/>
                <a:ea typeface="Nimbus Sans"/>
                <a:cs typeface="Nimbus Sans"/>
              </a:defRPr>
            </a:defPPr>
          </a:lstStyle>
          <a:p xmlns:a="http://schemas.openxmlformats.org/drawingml/2006/main">
            <a:pPr algn="l">
              <a:defRPr sz="1950" b="1">
                <a:solidFill>
                  <a:srgbClr val="228455"/>
                </a:solidFill>
                <a:latin typeface="Nimbus Sans"/>
                <a:ea typeface="Nimbus Sans"/>
                <a:cs typeface="Nimbus Sans"/>
              </a:defRPr>
            </a:pPr>
            <a:r>
              <a:rPr sz="1950" b="1">
                <a:solidFill>
                  <a:srgbClr val="228455"/>
                </a:solidFill>
                <a:latin typeface="Nimbus Sans"/>
                <a:ea typeface="Nimbus Sans"/>
                <a:cs typeface="Nimbus Sans"/>
              </a:rPr>
              <a:t>COMPLETE publishes to current inventory</a:t>
            </a:r>
          </a:p>
        </p:txBody>
      </p:sp>
      <p:sp>
        <p:nvSpPr>
          <p:cNvPr id="27" name="box">
            <a:extLst xmlns:a="http://schemas.openxmlformats.org/drawingml/2006/main">
              <a:ext uri="{FF2B5EF4-FFF2-40B4-BE49-F238E27FC236}">
                <a16:creationId xmlns:a16="http://schemas.microsoft.com/office/drawing/2014/main" id="{C55731A4-8F72-4423-A8F3-7E212697BFD9}"/>
              </a:ext>
            </a:extLst>
          </p:cNvPr>
          <p:cNvSpPr>
            <a:spLocks xmlns:a="http://schemas.openxmlformats.org/drawingml/2006/main" noGrp="1"/>
          </p:cNvSpPr>
          <p:nvPr/>
        </p:nvSpPr>
        <p:spPr>
          <a:xfrm xmlns:a="http://schemas.openxmlformats.org/drawingml/2006/main">
            <a:off x="685800" y="7191375"/>
            <a:ext cx="13868400" cy="647700"/>
          </a:xfrm>
          <a:prstGeom xmlns:a="http://schemas.openxmlformats.org/drawingml/2006/main" prst="rect">
            <a:avLst/>
          </a:prstGeom>
          <a:solidFill xmlns:a="http://schemas.openxmlformats.org/drawingml/2006/main">
            <a:srgbClr val="FFF1F1"/>
          </a:solidFill>
          <a:ln xmlns:a="http://schemas.openxmlformats.org/drawingml/2006/main" w="0">
            <a:noFill/>
            <a:prstDash val="solid"/>
          </a:ln>
        </p:spPr>
      </p:sp>
      <p:sp>
        <p:nvSpPr>
          <p:cNvPr id="28" name="box">
            <a:extLst xmlns:a="http://schemas.openxmlformats.org/drawingml/2006/main">
              <a:ext uri="{FF2B5EF4-FFF2-40B4-BE49-F238E27FC236}">
                <a16:creationId xmlns:a16="http://schemas.microsoft.com/office/drawing/2014/main" id="{B861765B-CA41-4C0F-A444-004DF94AB83E}"/>
              </a:ext>
            </a:extLst>
          </p:cNvPr>
          <p:cNvSpPr>
            <a:spLocks xmlns:a="http://schemas.openxmlformats.org/drawingml/2006/main" noGrp="1"/>
          </p:cNvSpPr>
          <p:nvPr/>
        </p:nvSpPr>
        <p:spPr>
          <a:xfrm xmlns:a="http://schemas.openxmlformats.org/drawingml/2006/main">
            <a:off x="685800" y="7191375"/>
            <a:ext cx="47625" cy="647700"/>
          </a:xfrm>
          <a:prstGeom xmlns:a="http://schemas.openxmlformats.org/drawingml/2006/main" prst="rect">
            <a:avLst/>
          </a:prstGeom>
          <a:solidFill xmlns:a="http://schemas.openxmlformats.org/drawingml/2006/main">
            <a:srgbClr val="B44242"/>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5202A9E7-BCA0-41FD-B2FC-DFED3807664D}"/>
              </a:ext>
            </a:extLst>
          </p:cNvPr>
          <p:cNvSpPr>
            <a:spLocks xmlns:a="http://schemas.openxmlformats.org/drawingml/2006/main" noGrp="1"/>
          </p:cNvSpPr>
          <p:nvPr/>
        </p:nvSpPr>
        <p:spPr>
          <a:xfrm xmlns:a="http://schemas.openxmlformats.org/drawingml/2006/main">
            <a:off x="895350" y="7353300"/>
            <a:ext cx="134588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12D49"/>
                </a:solidFill>
                <a:latin typeface="Nimbus Sans"/>
                <a:ea typeface="Nimbus Sans"/>
                <a:cs typeface="Nimbus Sans"/>
              </a:defRPr>
            </a:defPPr>
          </a:lstStyle>
          <a:p xmlns:a="http://schemas.openxmlformats.org/drawingml/2006/main">
            <a:pPr algn="l">
              <a:defRPr sz="1800" b="0">
                <a:solidFill>
                  <a:srgbClr val="112D49"/>
                </a:solidFill>
                <a:latin typeface="Nimbus Sans"/>
                <a:ea typeface="Nimbus Sans"/>
                <a:cs typeface="Nimbus Sans"/>
              </a:defRPr>
            </a:pPr>
            <a:r>
              <a:rPr sz="1800" b="0">
                <a:solidFill>
                  <a:srgbClr val="112D49"/>
                </a:solidFill>
                <a:latin typeface="Nimbus Sans"/>
                <a:ea typeface="Nimbus Sans"/>
                <a:cs typeface="Nimbus Sans"/>
              </a:rPr>
              <a:t>Suspicious or failed runs stay unpublished. Grafana shows the age of the last valid snapshot and any open run issues.</a:t>
            </a:r>
          </a:p>
        </p:txBody>
      </p:sp>
    </p:spTree>
    <p:extLst>
      <p:ext uri="{BB962C8B-B14F-4D97-AF65-F5344CB8AC3E}">
        <p14:creationId xmlns:p14="http://schemas.microsoft.com/office/powerpoint/2010/main" val="1705906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C7D2E49B-0A24-4509-AD97-F709C3A1ACC3}"/>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Implementation plan</a:t>
            </a:r>
          </a:p>
        </p:txBody>
      </p:sp>
      <p:sp>
        <p:nvSpPr>
          <p:cNvPr id="2" name="slide-subtitle">
            <a:extLst xmlns:a="http://schemas.openxmlformats.org/drawingml/2006/main">
              <a:ext uri="{FF2B5EF4-FFF2-40B4-BE49-F238E27FC236}">
                <a16:creationId xmlns:a16="http://schemas.microsoft.com/office/drawing/2014/main" id="{D03D2D5A-9DE6-439A-BEA7-465AE02B4F85}"/>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Deliver in small milestones and validate each data path before candidate review</a:t>
            </a:r>
          </a:p>
        </p:txBody>
      </p:sp>
      <p:sp>
        <p:nvSpPr>
          <p:cNvPr id="3" name="">
            <a:extLst xmlns:a="http://schemas.openxmlformats.org/drawingml/2006/main">
              <a:ext uri="{FF2B5EF4-FFF2-40B4-BE49-F238E27FC236}">
                <a16:creationId xmlns:a16="http://schemas.microsoft.com/office/drawing/2014/main" id="{D77B1623-A597-48FC-B192-CA80F64C5AAB}"/>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2A37AD6B-4B7A-4618-B536-9AE206C1D8E3}"/>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8CA84326-E0F5-454F-A036-5DCAA857FC36}"/>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10</a:t>
            </a:r>
          </a:p>
        </p:txBody>
      </p:sp>
      <p:sp>
        <p:nvSpPr>
          <p:cNvPr id="6" name="box">
            <a:extLst xmlns:a="http://schemas.openxmlformats.org/drawingml/2006/main">
              <a:ext uri="{FF2B5EF4-FFF2-40B4-BE49-F238E27FC236}">
                <a16:creationId xmlns:a16="http://schemas.microsoft.com/office/drawing/2014/main" id="{B6D31165-49FC-4DF8-A336-EC69231F003E}"/>
              </a:ext>
            </a:extLst>
          </p:cNvPr>
          <p:cNvSpPr>
            <a:spLocks xmlns:a="http://schemas.openxmlformats.org/drawingml/2006/main" noGrp="1"/>
          </p:cNvSpPr>
          <p:nvPr/>
        </p:nvSpPr>
        <p:spPr>
          <a:xfrm xmlns:a="http://schemas.openxmlformats.org/drawingml/2006/main">
            <a:off x="714375" y="2019300"/>
            <a:ext cx="485775" cy="485775"/>
          </a:xfrm>
          <a:prstGeom xmlns:a="http://schemas.openxmlformats.org/drawingml/2006/main" prst="roundRect">
            <a:avLst>
              <a:gd name="adj" fmla="val 49020"/>
            </a:avLst>
          </a:prstGeom>
          <a:solidFill xmlns:a="http://schemas.openxmlformats.org/drawingml/2006/main">
            <a:srgbClr val="008A91"/>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CAA7EC4-DE19-45B7-9C43-C0E89E802E77}"/>
              </a:ext>
            </a:extLst>
          </p:cNvPr>
          <p:cNvSpPr>
            <a:spLocks xmlns:a="http://schemas.openxmlformats.org/drawingml/2006/main" noGrp="1"/>
          </p:cNvSpPr>
          <p:nvPr/>
        </p:nvSpPr>
        <p:spPr>
          <a:xfrm xmlns:a="http://schemas.openxmlformats.org/drawingml/2006/main">
            <a:off x="742950" y="211455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00" b="1">
                <a:solidFill>
                  <a:srgbClr val="FFFFFF"/>
                </a:solidFill>
                <a:latin typeface="Nimbus Sans"/>
                <a:ea typeface="Nimbus Sans"/>
                <a:cs typeface="Nimbus Sans"/>
              </a:defRPr>
            </a:defPPr>
          </a:lstStyle>
          <a:p xmlns:a="http://schemas.openxmlformats.org/drawingml/2006/main">
            <a:pPr algn="ctr">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1</a:t>
            </a:r>
          </a:p>
        </p:txBody>
      </p:sp>
      <p:sp>
        <p:nvSpPr>
          <p:cNvPr id="8" name="text">
            <a:extLst xmlns:a="http://schemas.openxmlformats.org/drawingml/2006/main">
              <a:ext uri="{FF2B5EF4-FFF2-40B4-BE49-F238E27FC236}">
                <a16:creationId xmlns:a16="http://schemas.microsoft.com/office/drawing/2014/main" id="{89B4D543-0F07-4A41-AEBB-AE817240AF7E}"/>
              </a:ext>
            </a:extLst>
          </p:cNvPr>
          <p:cNvSpPr>
            <a:spLocks xmlns:a="http://schemas.openxmlformats.org/drawingml/2006/main" noGrp="1"/>
          </p:cNvSpPr>
          <p:nvPr/>
        </p:nvSpPr>
        <p:spPr>
          <a:xfrm xmlns:a="http://schemas.openxmlformats.org/drawingml/2006/main">
            <a:off x="1466850" y="20288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2D49"/>
                </a:solidFill>
                <a:latin typeface="Nimbus Sans"/>
                <a:ea typeface="Nimbus Sans"/>
                <a:cs typeface="Nimbus Sans"/>
              </a:defRPr>
            </a:defPPr>
          </a:lstStyle>
          <a:p xmlns:a="http://schemas.openxmlformats.org/drawingml/2006/main">
            <a:pPr algn="l">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Licensed-user inventory</a:t>
            </a:r>
          </a:p>
        </p:txBody>
      </p:sp>
      <p:sp>
        <p:nvSpPr>
          <p:cNvPr id="9" name="text">
            <a:extLst xmlns:a="http://schemas.openxmlformats.org/drawingml/2006/main">
              <a:ext uri="{FF2B5EF4-FFF2-40B4-BE49-F238E27FC236}">
                <a16:creationId xmlns:a16="http://schemas.microsoft.com/office/drawing/2014/main" id="{6845C0B1-E6D3-42F5-ACD9-65F6050961CB}"/>
              </a:ext>
            </a:extLst>
          </p:cNvPr>
          <p:cNvSpPr>
            <a:spLocks xmlns:a="http://schemas.openxmlformats.org/drawingml/2006/main" noGrp="1"/>
          </p:cNvSpPr>
          <p:nvPr/>
        </p:nvSpPr>
        <p:spPr>
          <a:xfrm xmlns:a="http://schemas.openxmlformats.org/drawingml/2006/main">
            <a:off x="5705475" y="2038350"/>
            <a:ext cx="866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112D49"/>
                </a:solidFill>
                <a:latin typeface="Nimbus Sans"/>
                <a:ea typeface="Nimbus Sans"/>
                <a:cs typeface="Nimbus Sans"/>
              </a:defRPr>
            </a:defPPr>
          </a:lstStyle>
          <a:p xmlns:a="http://schemas.openxmlformats.org/drawingml/2006/main">
            <a:pPr algn="l">
              <a:defRPr sz="1950" b="0">
                <a:solidFill>
                  <a:srgbClr val="112D49"/>
                </a:solidFill>
                <a:latin typeface="Nimbus Sans"/>
                <a:ea typeface="Nimbus Sans"/>
                <a:cs typeface="Nimbus Sans"/>
              </a:defRPr>
            </a:pPr>
            <a:r>
              <a:rPr sz="1950" b="0">
                <a:solidFill>
                  <a:srgbClr val="112D49"/>
                </a:solidFill>
                <a:latin typeface="Nimbus Sans"/>
                <a:ea typeface="Nimbus Sans"/>
                <a:cs typeface="Nimbus Sans"/>
              </a:rPr>
              <a:t>Deploy the Cloud Run collector and daily schedule</a:t>
            </a:r>
          </a:p>
        </p:txBody>
      </p:sp>
      <p:sp>
        <p:nvSpPr>
          <p:cNvPr id="10" name="text">
            <a:extLst xmlns:a="http://schemas.openxmlformats.org/drawingml/2006/main">
              <a:ext uri="{FF2B5EF4-FFF2-40B4-BE49-F238E27FC236}">
                <a16:creationId xmlns:a16="http://schemas.microsoft.com/office/drawing/2014/main" id="{42CFE10F-6E7C-4AB5-9D15-B8E7AE7816BE}"/>
              </a:ext>
            </a:extLst>
          </p:cNvPr>
          <p:cNvSpPr>
            <a:spLocks xmlns:a="http://schemas.openxmlformats.org/drawingml/2006/main" noGrp="1"/>
          </p:cNvSpPr>
          <p:nvPr/>
        </p:nvSpPr>
        <p:spPr>
          <a:xfrm xmlns:a="http://schemas.openxmlformats.org/drawingml/2006/main">
            <a:off x="5705475" y="2428875"/>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API pagination, count reconciliation and COMPLETE-only publication</a:t>
            </a:r>
          </a:p>
        </p:txBody>
      </p:sp>
      <p:sp>
        <p:nvSpPr>
          <p:cNvPr id="11" name="">
            <a:extLst xmlns:a="http://schemas.openxmlformats.org/drawingml/2006/main">
              <a:ext uri="{FF2B5EF4-FFF2-40B4-BE49-F238E27FC236}">
                <a16:creationId xmlns:a16="http://schemas.microsoft.com/office/drawing/2014/main" id="{295ADF6E-6DA5-4311-AC97-F16535375EF5}"/>
              </a:ext>
            </a:extLst>
          </p:cNvPr>
          <p:cNvSpPr>
            <a:spLocks xmlns:a="http://schemas.openxmlformats.org/drawingml/2006/main" noGrp="1"/>
          </p:cNvSpPr>
          <p:nvPr/>
        </p:nvSpPr>
        <p:spPr>
          <a:xfrm xmlns:a="http://schemas.openxmlformats.org/drawingml/2006/main">
            <a:off x="1438275" y="2905125"/>
            <a:ext cx="13115925"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12" name="box">
            <a:extLst xmlns:a="http://schemas.openxmlformats.org/drawingml/2006/main">
              <a:ext uri="{FF2B5EF4-FFF2-40B4-BE49-F238E27FC236}">
                <a16:creationId xmlns:a16="http://schemas.microsoft.com/office/drawing/2014/main" id="{65722AAE-B484-4EBB-96C9-F1E1B512E1FB}"/>
              </a:ext>
            </a:extLst>
          </p:cNvPr>
          <p:cNvSpPr>
            <a:spLocks xmlns:a="http://schemas.openxmlformats.org/drawingml/2006/main" noGrp="1"/>
          </p:cNvSpPr>
          <p:nvPr/>
        </p:nvSpPr>
        <p:spPr>
          <a:xfrm xmlns:a="http://schemas.openxmlformats.org/drawingml/2006/main">
            <a:off x="714375" y="3067050"/>
            <a:ext cx="485775" cy="485775"/>
          </a:xfrm>
          <a:prstGeom xmlns:a="http://schemas.openxmlformats.org/drawingml/2006/main" prst="roundRect">
            <a:avLst>
              <a:gd name="adj" fmla="val 49020"/>
            </a:avLst>
          </a:prstGeom>
          <a:solidFill xmlns:a="http://schemas.openxmlformats.org/drawingml/2006/main">
            <a:srgbClr val="F3F7FB"/>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30BC62C2-402A-4279-A550-0409896C2C46}"/>
              </a:ext>
            </a:extLst>
          </p:cNvPr>
          <p:cNvSpPr>
            <a:spLocks xmlns:a="http://schemas.openxmlformats.org/drawingml/2006/main" noGrp="1"/>
          </p:cNvSpPr>
          <p:nvPr/>
        </p:nvSpPr>
        <p:spPr>
          <a:xfrm xmlns:a="http://schemas.openxmlformats.org/drawingml/2006/main">
            <a:off x="742950" y="316230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00" b="1">
                <a:solidFill>
                  <a:srgbClr val="3276D2"/>
                </a:solidFill>
                <a:latin typeface="Nimbus Sans"/>
                <a:ea typeface="Nimbus Sans"/>
                <a:cs typeface="Nimbus Sans"/>
              </a:defRPr>
            </a:defPPr>
          </a:lstStyle>
          <a:p xmlns:a="http://schemas.openxmlformats.org/drawingml/2006/main">
            <a:pPr algn="ctr">
              <a:defRPr sz="2100" b="1">
                <a:solidFill>
                  <a:srgbClr val="3276D2"/>
                </a:solidFill>
                <a:latin typeface="Nimbus Sans"/>
                <a:ea typeface="Nimbus Sans"/>
                <a:cs typeface="Nimbus Sans"/>
              </a:defRPr>
            </a:pPr>
            <a:r>
              <a:rPr sz="2100" b="1">
                <a:solidFill>
                  <a:srgbClr val="3276D2"/>
                </a:solidFill>
                <a:latin typeface="Nimbus Sans"/>
                <a:ea typeface="Nimbus Sans"/>
                <a:cs typeface="Nimbus Sans"/>
              </a:rPr>
              <a:t>2</a:t>
            </a:r>
          </a:p>
        </p:txBody>
      </p:sp>
      <p:sp>
        <p:nvSpPr>
          <p:cNvPr id="14" name="text">
            <a:extLst xmlns:a="http://schemas.openxmlformats.org/drawingml/2006/main">
              <a:ext uri="{FF2B5EF4-FFF2-40B4-BE49-F238E27FC236}">
                <a16:creationId xmlns:a16="http://schemas.microsoft.com/office/drawing/2014/main" id="{6BF006AC-91B8-42D6-82D5-45DEECAE789A}"/>
              </a:ext>
            </a:extLst>
          </p:cNvPr>
          <p:cNvSpPr>
            <a:spLocks xmlns:a="http://schemas.openxmlformats.org/drawingml/2006/main" noGrp="1"/>
          </p:cNvSpPr>
          <p:nvPr/>
        </p:nvSpPr>
        <p:spPr>
          <a:xfrm xmlns:a="http://schemas.openxmlformats.org/drawingml/2006/main">
            <a:off x="1466850" y="30765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2D49"/>
                </a:solidFill>
                <a:latin typeface="Nimbus Sans"/>
                <a:ea typeface="Nimbus Sans"/>
                <a:cs typeface="Nimbus Sans"/>
              </a:defRPr>
            </a:defPPr>
          </a:lstStyle>
          <a:p xmlns:a="http://schemas.openxmlformats.org/drawingml/2006/main">
            <a:pPr algn="l">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Activity summaries</a:t>
            </a:r>
          </a:p>
        </p:txBody>
      </p:sp>
      <p:sp>
        <p:nvSpPr>
          <p:cNvPr id="15" name="text">
            <a:extLst xmlns:a="http://schemas.openxmlformats.org/drawingml/2006/main">
              <a:ext uri="{FF2B5EF4-FFF2-40B4-BE49-F238E27FC236}">
                <a16:creationId xmlns:a16="http://schemas.microsoft.com/office/drawing/2014/main" id="{97FE0007-F1E7-48DA-9E2B-BE9936D6839A}"/>
              </a:ext>
            </a:extLst>
          </p:cNvPr>
          <p:cNvSpPr>
            <a:spLocks xmlns:a="http://schemas.openxmlformats.org/drawingml/2006/main" noGrp="1"/>
          </p:cNvSpPr>
          <p:nvPr/>
        </p:nvSpPr>
        <p:spPr>
          <a:xfrm xmlns:a="http://schemas.openxmlformats.org/drawingml/2006/main">
            <a:off x="5705475" y="3086100"/>
            <a:ext cx="866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112D49"/>
                </a:solidFill>
                <a:latin typeface="Nimbus Sans"/>
                <a:ea typeface="Nimbus Sans"/>
                <a:cs typeface="Nimbus Sans"/>
              </a:defRPr>
            </a:defPPr>
          </a:lstStyle>
          <a:p xmlns:a="http://schemas.openxmlformats.org/drawingml/2006/main">
            <a:pPr algn="l">
              <a:defRPr sz="1950" b="0">
                <a:solidFill>
                  <a:srgbClr val="112D49"/>
                </a:solidFill>
                <a:latin typeface="Nimbus Sans"/>
                <a:ea typeface="Nimbus Sans"/>
                <a:cs typeface="Nimbus Sans"/>
              </a:defRPr>
            </a:pPr>
            <a:r>
              <a:rPr sz="1950" b="0">
                <a:solidFill>
                  <a:srgbClr val="112D49"/>
                </a:solidFill>
                <a:latin typeface="Nimbus Sans"/>
                <a:ea typeface="Nimbus Sans"/>
                <a:cs typeface="Nimbus Sans"/>
              </a:rPr>
              <a:t>Aggregate the normalized audit data</a:t>
            </a:r>
          </a:p>
        </p:txBody>
      </p:sp>
      <p:sp>
        <p:nvSpPr>
          <p:cNvPr id="16" name="text">
            <a:extLst xmlns:a="http://schemas.openxmlformats.org/drawingml/2006/main">
              <a:ext uri="{FF2B5EF4-FFF2-40B4-BE49-F238E27FC236}">
                <a16:creationId xmlns:a16="http://schemas.microsoft.com/office/drawing/2014/main" id="{F1E0A291-4FB0-44BA-A74A-D40704D6FD7B}"/>
              </a:ext>
            </a:extLst>
          </p:cNvPr>
          <p:cNvSpPr>
            <a:spLocks xmlns:a="http://schemas.openxmlformats.org/drawingml/2006/main" noGrp="1"/>
          </p:cNvSpPr>
          <p:nvPr/>
        </p:nvSpPr>
        <p:spPr>
          <a:xfrm xmlns:a="http://schemas.openxmlformats.org/drawingml/2006/main">
            <a:off x="5705475" y="3476625"/>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Latest signals, duplicate handling and late-data tests</a:t>
            </a:r>
          </a:p>
        </p:txBody>
      </p:sp>
      <p:sp>
        <p:nvSpPr>
          <p:cNvPr id="17" name="">
            <a:extLst xmlns:a="http://schemas.openxmlformats.org/drawingml/2006/main">
              <a:ext uri="{FF2B5EF4-FFF2-40B4-BE49-F238E27FC236}">
                <a16:creationId xmlns:a16="http://schemas.microsoft.com/office/drawing/2014/main" id="{F70CF642-065D-4966-A70E-EC7488ADE767}"/>
              </a:ext>
            </a:extLst>
          </p:cNvPr>
          <p:cNvSpPr>
            <a:spLocks xmlns:a="http://schemas.openxmlformats.org/drawingml/2006/main" noGrp="1"/>
          </p:cNvSpPr>
          <p:nvPr/>
        </p:nvSpPr>
        <p:spPr>
          <a:xfrm xmlns:a="http://schemas.openxmlformats.org/drawingml/2006/main">
            <a:off x="1438275" y="3952875"/>
            <a:ext cx="13115925"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18" name="box">
            <a:extLst xmlns:a="http://schemas.openxmlformats.org/drawingml/2006/main">
              <a:ext uri="{FF2B5EF4-FFF2-40B4-BE49-F238E27FC236}">
                <a16:creationId xmlns:a16="http://schemas.microsoft.com/office/drawing/2014/main" id="{0F463D64-4636-4748-BEC3-D69DD616D2B8}"/>
              </a:ext>
            </a:extLst>
          </p:cNvPr>
          <p:cNvSpPr>
            <a:spLocks xmlns:a="http://schemas.openxmlformats.org/drawingml/2006/main" noGrp="1"/>
          </p:cNvSpPr>
          <p:nvPr/>
        </p:nvSpPr>
        <p:spPr>
          <a:xfrm xmlns:a="http://schemas.openxmlformats.org/drawingml/2006/main">
            <a:off x="714375" y="4114800"/>
            <a:ext cx="485775" cy="485775"/>
          </a:xfrm>
          <a:prstGeom xmlns:a="http://schemas.openxmlformats.org/drawingml/2006/main" prst="roundRect">
            <a:avLst>
              <a:gd name="adj" fmla="val 49020"/>
            </a:avLst>
          </a:prstGeom>
          <a:solidFill xmlns:a="http://schemas.openxmlformats.org/drawingml/2006/main">
            <a:srgbClr val="F3F7FB"/>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C11F5C36-5DFE-4C14-A6FA-83F9E1ADD88F}"/>
              </a:ext>
            </a:extLst>
          </p:cNvPr>
          <p:cNvSpPr>
            <a:spLocks xmlns:a="http://schemas.openxmlformats.org/drawingml/2006/main" noGrp="1"/>
          </p:cNvSpPr>
          <p:nvPr/>
        </p:nvSpPr>
        <p:spPr>
          <a:xfrm xmlns:a="http://schemas.openxmlformats.org/drawingml/2006/main">
            <a:off x="742950" y="421005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00" b="1">
                <a:solidFill>
                  <a:srgbClr val="3276D2"/>
                </a:solidFill>
                <a:latin typeface="Nimbus Sans"/>
                <a:ea typeface="Nimbus Sans"/>
                <a:cs typeface="Nimbus Sans"/>
              </a:defRPr>
            </a:defPPr>
          </a:lstStyle>
          <a:p xmlns:a="http://schemas.openxmlformats.org/drawingml/2006/main">
            <a:pPr algn="ctr">
              <a:defRPr sz="2100" b="1">
                <a:solidFill>
                  <a:srgbClr val="3276D2"/>
                </a:solidFill>
                <a:latin typeface="Nimbus Sans"/>
                <a:ea typeface="Nimbus Sans"/>
                <a:cs typeface="Nimbus Sans"/>
              </a:defRPr>
            </a:pPr>
            <a:r>
              <a:rPr sz="2100" b="1">
                <a:solidFill>
                  <a:srgbClr val="3276D2"/>
                </a:solidFill>
                <a:latin typeface="Nimbus Sans"/>
                <a:ea typeface="Nimbus Sans"/>
                <a:cs typeface="Nimbus Sans"/>
              </a:rPr>
              <a:t>3</a:t>
            </a:r>
          </a:p>
        </p:txBody>
      </p:sp>
      <p:sp>
        <p:nvSpPr>
          <p:cNvPr id="20" name="text">
            <a:extLst xmlns:a="http://schemas.openxmlformats.org/drawingml/2006/main">
              <a:ext uri="{FF2B5EF4-FFF2-40B4-BE49-F238E27FC236}">
                <a16:creationId xmlns:a16="http://schemas.microsoft.com/office/drawing/2014/main" id="{B8BE67DE-925A-41D8-8330-71E819CF6CCC}"/>
              </a:ext>
            </a:extLst>
          </p:cNvPr>
          <p:cNvSpPr>
            <a:spLocks xmlns:a="http://schemas.openxmlformats.org/drawingml/2006/main" noGrp="1"/>
          </p:cNvSpPr>
          <p:nvPr/>
        </p:nvSpPr>
        <p:spPr>
          <a:xfrm xmlns:a="http://schemas.openxmlformats.org/drawingml/2006/main">
            <a:off x="1466850" y="41243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2D49"/>
                </a:solidFill>
                <a:latin typeface="Nimbus Sans"/>
                <a:ea typeface="Nimbus Sans"/>
                <a:cs typeface="Nimbus Sans"/>
              </a:defRPr>
            </a:defPPr>
          </a:lstStyle>
          <a:p xmlns:a="http://schemas.openxmlformats.org/drawingml/2006/main">
            <a:pPr algn="l">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Ownership and eligibility</a:t>
            </a:r>
          </a:p>
        </p:txBody>
      </p:sp>
      <p:sp>
        <p:nvSpPr>
          <p:cNvPr id="21" name="text">
            <a:extLst xmlns:a="http://schemas.openxmlformats.org/drawingml/2006/main">
              <a:ext uri="{FF2B5EF4-FFF2-40B4-BE49-F238E27FC236}">
                <a16:creationId xmlns:a16="http://schemas.microsoft.com/office/drawing/2014/main" id="{388E7AD5-97B0-4442-8E8A-37C5CCF6E8B6}"/>
              </a:ext>
            </a:extLst>
          </p:cNvPr>
          <p:cNvSpPr>
            <a:spLocks xmlns:a="http://schemas.openxmlformats.org/drawingml/2006/main" noGrp="1"/>
          </p:cNvSpPr>
          <p:nvPr/>
        </p:nvSpPr>
        <p:spPr>
          <a:xfrm xmlns:a="http://schemas.openxmlformats.org/drawingml/2006/main">
            <a:off x="5705475" y="4133850"/>
            <a:ext cx="866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112D49"/>
                </a:solidFill>
                <a:latin typeface="Nimbus Sans"/>
                <a:ea typeface="Nimbus Sans"/>
                <a:cs typeface="Nimbus Sans"/>
              </a:defRPr>
            </a:defPPr>
          </a:lstStyle>
          <a:p xmlns:a="http://schemas.openxmlformats.org/drawingml/2006/main">
            <a:pPr algn="l">
              <a:defRPr sz="1950" b="0">
                <a:solidFill>
                  <a:srgbClr val="112D49"/>
                </a:solidFill>
                <a:latin typeface="Nimbus Sans"/>
                <a:ea typeface="Nimbus Sans"/>
                <a:cs typeface="Nimbus Sans"/>
              </a:defRPr>
            </a:pPr>
            <a:r>
              <a:rPr sz="1950" b="0">
                <a:solidFill>
                  <a:srgbClr val="112D49"/>
                </a:solidFill>
                <a:latin typeface="Nimbus Sans"/>
                <a:ea typeface="Nimbus Sans"/>
                <a:cs typeface="Nimbus Sans"/>
              </a:rPr>
              <a:t>Integrate staff and LDAP / SCIM snapshots</a:t>
            </a:r>
          </a:p>
        </p:txBody>
      </p:sp>
      <p:sp>
        <p:nvSpPr>
          <p:cNvPr id="22" name="text">
            <a:extLst xmlns:a="http://schemas.openxmlformats.org/drawingml/2006/main">
              <a:ext uri="{FF2B5EF4-FFF2-40B4-BE49-F238E27FC236}">
                <a16:creationId xmlns:a16="http://schemas.microsoft.com/office/drawing/2014/main" id="{796D6286-7E10-4289-846A-32DB367C90E5}"/>
              </a:ext>
            </a:extLst>
          </p:cNvPr>
          <p:cNvSpPr>
            <a:spLocks xmlns:a="http://schemas.openxmlformats.org/drawingml/2006/main" noGrp="1"/>
          </p:cNvSpPr>
          <p:nvPr/>
        </p:nvSpPr>
        <p:spPr>
          <a:xfrm xmlns:a="http://schemas.openxmlformats.org/drawingml/2006/main">
            <a:off x="5705475" y="4524375"/>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Identity mapping, exceptions and check-error handling</a:t>
            </a:r>
          </a:p>
        </p:txBody>
      </p:sp>
      <p:sp>
        <p:nvSpPr>
          <p:cNvPr id="23" name="">
            <a:extLst xmlns:a="http://schemas.openxmlformats.org/drawingml/2006/main">
              <a:ext uri="{FF2B5EF4-FFF2-40B4-BE49-F238E27FC236}">
                <a16:creationId xmlns:a16="http://schemas.microsoft.com/office/drawing/2014/main" id="{B1D4842C-E2F4-468F-97DB-B4108056DFDE}"/>
              </a:ext>
            </a:extLst>
          </p:cNvPr>
          <p:cNvSpPr>
            <a:spLocks xmlns:a="http://schemas.openxmlformats.org/drawingml/2006/main" noGrp="1"/>
          </p:cNvSpPr>
          <p:nvPr/>
        </p:nvSpPr>
        <p:spPr>
          <a:xfrm xmlns:a="http://schemas.openxmlformats.org/drawingml/2006/main">
            <a:off x="1438275" y="5000625"/>
            <a:ext cx="13115925"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24" name="box">
            <a:extLst xmlns:a="http://schemas.openxmlformats.org/drawingml/2006/main">
              <a:ext uri="{FF2B5EF4-FFF2-40B4-BE49-F238E27FC236}">
                <a16:creationId xmlns:a16="http://schemas.microsoft.com/office/drawing/2014/main" id="{46C04196-7FA4-415D-84AE-B9BFB3B80CBE}"/>
              </a:ext>
            </a:extLst>
          </p:cNvPr>
          <p:cNvSpPr>
            <a:spLocks xmlns:a="http://schemas.openxmlformats.org/drawingml/2006/main" noGrp="1"/>
          </p:cNvSpPr>
          <p:nvPr/>
        </p:nvSpPr>
        <p:spPr>
          <a:xfrm xmlns:a="http://schemas.openxmlformats.org/drawingml/2006/main">
            <a:off x="714375" y="5162550"/>
            <a:ext cx="485775" cy="485775"/>
          </a:xfrm>
          <a:prstGeom xmlns:a="http://schemas.openxmlformats.org/drawingml/2006/main" prst="roundRect">
            <a:avLst>
              <a:gd name="adj" fmla="val 49020"/>
            </a:avLst>
          </a:prstGeom>
          <a:solidFill xmlns:a="http://schemas.openxmlformats.org/drawingml/2006/main">
            <a:srgbClr val="F3F7FB"/>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16531B13-7BD1-4A6D-B304-BC2C138795C1}"/>
              </a:ext>
            </a:extLst>
          </p:cNvPr>
          <p:cNvSpPr>
            <a:spLocks xmlns:a="http://schemas.openxmlformats.org/drawingml/2006/main" noGrp="1"/>
          </p:cNvSpPr>
          <p:nvPr/>
        </p:nvSpPr>
        <p:spPr>
          <a:xfrm xmlns:a="http://schemas.openxmlformats.org/drawingml/2006/main">
            <a:off x="742950" y="525780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00" b="1">
                <a:solidFill>
                  <a:srgbClr val="3276D2"/>
                </a:solidFill>
                <a:latin typeface="Nimbus Sans"/>
                <a:ea typeface="Nimbus Sans"/>
                <a:cs typeface="Nimbus Sans"/>
              </a:defRPr>
            </a:defPPr>
          </a:lstStyle>
          <a:p xmlns:a="http://schemas.openxmlformats.org/drawingml/2006/main">
            <a:pPr algn="ctr">
              <a:defRPr sz="2100" b="1">
                <a:solidFill>
                  <a:srgbClr val="3276D2"/>
                </a:solidFill>
                <a:latin typeface="Nimbus Sans"/>
                <a:ea typeface="Nimbus Sans"/>
                <a:cs typeface="Nimbus Sans"/>
              </a:defRPr>
            </a:pPr>
            <a:r>
              <a:rPr sz="2100" b="1">
                <a:solidFill>
                  <a:srgbClr val="3276D2"/>
                </a:solidFill>
                <a:latin typeface="Nimbus Sans"/>
                <a:ea typeface="Nimbus Sans"/>
                <a:cs typeface="Nimbus Sans"/>
              </a:rPr>
              <a:t>4</a:t>
            </a:r>
          </a:p>
        </p:txBody>
      </p:sp>
      <p:sp>
        <p:nvSpPr>
          <p:cNvPr id="26" name="text">
            <a:extLst xmlns:a="http://schemas.openxmlformats.org/drawingml/2006/main">
              <a:ext uri="{FF2B5EF4-FFF2-40B4-BE49-F238E27FC236}">
                <a16:creationId xmlns:a16="http://schemas.microsoft.com/office/drawing/2014/main" id="{F902ECCA-7353-43F4-BCA8-889731B7AF92}"/>
              </a:ext>
            </a:extLst>
          </p:cNvPr>
          <p:cNvSpPr>
            <a:spLocks xmlns:a="http://schemas.openxmlformats.org/drawingml/2006/main" noGrp="1"/>
          </p:cNvSpPr>
          <p:nvPr/>
        </p:nvSpPr>
        <p:spPr>
          <a:xfrm xmlns:a="http://schemas.openxmlformats.org/drawingml/2006/main">
            <a:off x="1466850" y="51720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2D49"/>
                </a:solidFill>
                <a:latin typeface="Nimbus Sans"/>
                <a:ea typeface="Nimbus Sans"/>
                <a:cs typeface="Nimbus Sans"/>
              </a:defRPr>
            </a:defPPr>
          </a:lstStyle>
          <a:p xmlns:a="http://schemas.openxmlformats.org/drawingml/2006/main">
            <a:pPr algn="l">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Dormancy model and comparison</a:t>
            </a:r>
          </a:p>
        </p:txBody>
      </p:sp>
      <p:sp>
        <p:nvSpPr>
          <p:cNvPr id="27" name="text">
            <a:extLst xmlns:a="http://schemas.openxmlformats.org/drawingml/2006/main">
              <a:ext uri="{FF2B5EF4-FFF2-40B4-BE49-F238E27FC236}">
                <a16:creationId xmlns:a16="http://schemas.microsoft.com/office/drawing/2014/main" id="{6AFA2E41-527F-4411-AC3A-1BCA18521C55}"/>
              </a:ext>
            </a:extLst>
          </p:cNvPr>
          <p:cNvSpPr>
            <a:spLocks xmlns:a="http://schemas.openxmlformats.org/drawingml/2006/main" noGrp="1"/>
          </p:cNvSpPr>
          <p:nvPr/>
        </p:nvSpPr>
        <p:spPr>
          <a:xfrm xmlns:a="http://schemas.openxmlformats.org/drawingml/2006/main">
            <a:off x="5705475" y="5181600"/>
            <a:ext cx="866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112D49"/>
                </a:solidFill>
                <a:latin typeface="Nimbus Sans"/>
                <a:ea typeface="Nimbus Sans"/>
                <a:cs typeface="Nimbus Sans"/>
              </a:defRPr>
            </a:defPPr>
          </a:lstStyle>
          <a:p xmlns:a="http://schemas.openxmlformats.org/drawingml/2006/main">
            <a:pPr algn="l">
              <a:defRPr sz="1950" b="0">
                <a:solidFill>
                  <a:srgbClr val="112D49"/>
                </a:solidFill>
                <a:latin typeface="Nimbus Sans"/>
                <a:ea typeface="Nimbus Sans"/>
                <a:cs typeface="Nimbus Sans"/>
              </a:defRPr>
            </a:pPr>
            <a:r>
              <a:rPr sz="1950" b="0">
                <a:solidFill>
                  <a:srgbClr val="112D49"/>
                </a:solidFill>
                <a:latin typeface="Nimbus Sans"/>
                <a:ea typeface="Nimbus Sans"/>
                <a:cs typeface="Nimbus Sans"/>
              </a:rPr>
              <a:t>Apply the agreed windows and compare with the old script</a:t>
            </a:r>
          </a:p>
        </p:txBody>
      </p:sp>
      <p:sp>
        <p:nvSpPr>
          <p:cNvPr id="28" name="text">
            <a:extLst xmlns:a="http://schemas.openxmlformats.org/drawingml/2006/main">
              <a:ext uri="{FF2B5EF4-FFF2-40B4-BE49-F238E27FC236}">
                <a16:creationId xmlns:a16="http://schemas.microsoft.com/office/drawing/2014/main" id="{A3870EF0-EA2D-4232-82DA-36D421F1A86C}"/>
              </a:ext>
            </a:extLst>
          </p:cNvPr>
          <p:cNvSpPr>
            <a:spLocks xmlns:a="http://schemas.openxmlformats.org/drawingml/2006/main" noGrp="1"/>
          </p:cNvSpPr>
          <p:nvPr/>
        </p:nvSpPr>
        <p:spPr>
          <a:xfrm xmlns:a="http://schemas.openxmlformats.org/drawingml/2006/main">
            <a:off x="5705475" y="5572125"/>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Resolve active-in-legacy / dormant-in-BigQuery mismatches</a:t>
            </a:r>
          </a:p>
        </p:txBody>
      </p:sp>
      <p:sp>
        <p:nvSpPr>
          <p:cNvPr id="29" name="">
            <a:extLst xmlns:a="http://schemas.openxmlformats.org/drawingml/2006/main">
              <a:ext uri="{FF2B5EF4-FFF2-40B4-BE49-F238E27FC236}">
                <a16:creationId xmlns:a16="http://schemas.microsoft.com/office/drawing/2014/main" id="{FE580855-745D-4BFA-92C3-F3B43058ED6F}"/>
              </a:ext>
            </a:extLst>
          </p:cNvPr>
          <p:cNvSpPr>
            <a:spLocks xmlns:a="http://schemas.openxmlformats.org/drawingml/2006/main" noGrp="1"/>
          </p:cNvSpPr>
          <p:nvPr/>
        </p:nvSpPr>
        <p:spPr>
          <a:xfrm xmlns:a="http://schemas.openxmlformats.org/drawingml/2006/main">
            <a:off x="1438275" y="6048375"/>
            <a:ext cx="13115925"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30" name="box">
            <a:extLst xmlns:a="http://schemas.openxmlformats.org/drawingml/2006/main">
              <a:ext uri="{FF2B5EF4-FFF2-40B4-BE49-F238E27FC236}">
                <a16:creationId xmlns:a16="http://schemas.microsoft.com/office/drawing/2014/main" id="{BF948C5F-6CDE-4AE1-831F-2E2715C508A7}"/>
              </a:ext>
            </a:extLst>
          </p:cNvPr>
          <p:cNvSpPr>
            <a:spLocks xmlns:a="http://schemas.openxmlformats.org/drawingml/2006/main" noGrp="1"/>
          </p:cNvSpPr>
          <p:nvPr/>
        </p:nvSpPr>
        <p:spPr>
          <a:xfrm xmlns:a="http://schemas.openxmlformats.org/drawingml/2006/main">
            <a:off x="714375" y="6210300"/>
            <a:ext cx="485775" cy="485775"/>
          </a:xfrm>
          <a:prstGeom xmlns:a="http://schemas.openxmlformats.org/drawingml/2006/main" prst="roundRect">
            <a:avLst>
              <a:gd name="adj" fmla="val 49020"/>
            </a:avLst>
          </a:prstGeom>
          <a:solidFill xmlns:a="http://schemas.openxmlformats.org/drawingml/2006/main">
            <a:srgbClr val="F3F7FB"/>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9C63CD6D-5B87-4A14-814F-0C78897B6E84}"/>
              </a:ext>
            </a:extLst>
          </p:cNvPr>
          <p:cNvSpPr>
            <a:spLocks xmlns:a="http://schemas.openxmlformats.org/drawingml/2006/main" noGrp="1"/>
          </p:cNvSpPr>
          <p:nvPr/>
        </p:nvSpPr>
        <p:spPr>
          <a:xfrm xmlns:a="http://schemas.openxmlformats.org/drawingml/2006/main">
            <a:off x="742950" y="630555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100" b="1">
                <a:solidFill>
                  <a:srgbClr val="3276D2"/>
                </a:solidFill>
                <a:latin typeface="Nimbus Sans"/>
                <a:ea typeface="Nimbus Sans"/>
                <a:cs typeface="Nimbus Sans"/>
              </a:defRPr>
            </a:defPPr>
          </a:lstStyle>
          <a:p xmlns:a="http://schemas.openxmlformats.org/drawingml/2006/main">
            <a:pPr algn="ctr">
              <a:defRPr sz="2100" b="1">
                <a:solidFill>
                  <a:srgbClr val="3276D2"/>
                </a:solidFill>
                <a:latin typeface="Nimbus Sans"/>
                <a:ea typeface="Nimbus Sans"/>
                <a:cs typeface="Nimbus Sans"/>
              </a:defRPr>
            </a:pPr>
            <a:r>
              <a:rPr sz="2100" b="1">
                <a:solidFill>
                  <a:srgbClr val="3276D2"/>
                </a:solidFill>
                <a:latin typeface="Nimbus Sans"/>
                <a:ea typeface="Nimbus Sans"/>
                <a:cs typeface="Nimbus Sans"/>
              </a:rPr>
              <a:t>5</a:t>
            </a:r>
          </a:p>
        </p:txBody>
      </p:sp>
      <p:sp>
        <p:nvSpPr>
          <p:cNvPr id="32" name="text">
            <a:extLst xmlns:a="http://schemas.openxmlformats.org/drawingml/2006/main">
              <a:ext uri="{FF2B5EF4-FFF2-40B4-BE49-F238E27FC236}">
                <a16:creationId xmlns:a16="http://schemas.microsoft.com/office/drawing/2014/main" id="{71EA9D87-7137-456C-A7F8-AC4FC3A82146}"/>
              </a:ext>
            </a:extLst>
          </p:cNvPr>
          <p:cNvSpPr>
            <a:spLocks xmlns:a="http://schemas.openxmlformats.org/drawingml/2006/main" noGrp="1"/>
          </p:cNvSpPr>
          <p:nvPr/>
        </p:nvSpPr>
        <p:spPr>
          <a:xfrm xmlns:a="http://schemas.openxmlformats.org/drawingml/2006/main">
            <a:off x="1466850" y="62198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2D49"/>
                </a:solidFill>
                <a:latin typeface="Nimbus Sans"/>
                <a:ea typeface="Nimbus Sans"/>
                <a:cs typeface="Nimbus Sans"/>
              </a:defRPr>
            </a:defPPr>
          </a:lstStyle>
          <a:p xmlns:a="http://schemas.openxmlformats.org/drawingml/2006/main">
            <a:pPr algn="l">
              <a:defRPr sz="2175" b="1">
                <a:solidFill>
                  <a:srgbClr val="112D49"/>
                </a:solidFill>
                <a:latin typeface="Nimbus Sans"/>
                <a:ea typeface="Nimbus Sans"/>
                <a:cs typeface="Nimbus Sans"/>
              </a:defRPr>
            </a:pPr>
            <a:r>
              <a:rPr sz="2175" b="1">
                <a:solidFill>
                  <a:srgbClr val="112D49"/>
                </a:solidFill>
                <a:latin typeface="Nimbus Sans"/>
                <a:ea typeface="Nimbus Sans"/>
                <a:cs typeface="Nimbus Sans"/>
              </a:rPr>
              <a:t>Grafana pilot and controlled review</a:t>
            </a:r>
          </a:p>
        </p:txBody>
      </p:sp>
      <p:sp>
        <p:nvSpPr>
          <p:cNvPr id="33" name="text">
            <a:extLst xmlns:a="http://schemas.openxmlformats.org/drawingml/2006/main">
              <a:ext uri="{FF2B5EF4-FFF2-40B4-BE49-F238E27FC236}">
                <a16:creationId xmlns:a16="http://schemas.microsoft.com/office/drawing/2014/main" id="{A77BE09F-A301-4A10-A0F1-B127584DFA67}"/>
              </a:ext>
            </a:extLst>
          </p:cNvPr>
          <p:cNvSpPr>
            <a:spLocks xmlns:a="http://schemas.openxmlformats.org/drawingml/2006/main" noGrp="1"/>
          </p:cNvSpPr>
          <p:nvPr/>
        </p:nvSpPr>
        <p:spPr>
          <a:xfrm xmlns:a="http://schemas.openxmlformats.org/drawingml/2006/main">
            <a:off x="5705475" y="6229350"/>
            <a:ext cx="866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112D49"/>
                </a:solidFill>
                <a:latin typeface="Nimbus Sans"/>
                <a:ea typeface="Nimbus Sans"/>
                <a:cs typeface="Nimbus Sans"/>
              </a:defRPr>
            </a:defPPr>
          </a:lstStyle>
          <a:p xmlns:a="http://schemas.openxmlformats.org/drawingml/2006/main">
            <a:pPr algn="l">
              <a:defRPr sz="1950" b="0">
                <a:solidFill>
                  <a:srgbClr val="112D49"/>
                </a:solidFill>
                <a:latin typeface="Nimbus Sans"/>
                <a:ea typeface="Nimbus Sans"/>
                <a:cs typeface="Nimbus Sans"/>
              </a:defRPr>
            </a:pPr>
            <a:r>
              <a:rPr sz="1950" b="0">
                <a:solidFill>
                  <a:srgbClr val="112D49"/>
                </a:solidFill>
                <a:latin typeface="Nimbus Sans"/>
                <a:ea typeface="Nimbus Sans"/>
                <a:cs typeface="Nimbus Sans"/>
              </a:rPr>
              <a:t>Publish the dashboard and run a limited review cycle</a:t>
            </a:r>
          </a:p>
        </p:txBody>
      </p:sp>
      <p:sp>
        <p:nvSpPr>
          <p:cNvPr id="34" name="text">
            <a:extLst xmlns:a="http://schemas.openxmlformats.org/drawingml/2006/main">
              <a:ext uri="{FF2B5EF4-FFF2-40B4-BE49-F238E27FC236}">
                <a16:creationId xmlns:a16="http://schemas.microsoft.com/office/drawing/2014/main" id="{4E4B039C-3665-4B80-BA6C-226EA5805CB2}"/>
              </a:ext>
            </a:extLst>
          </p:cNvPr>
          <p:cNvSpPr>
            <a:spLocks xmlns:a="http://schemas.openxmlformats.org/drawingml/2006/main" noGrp="1"/>
          </p:cNvSpPr>
          <p:nvPr/>
        </p:nvSpPr>
        <p:spPr>
          <a:xfrm xmlns:a="http://schemas.openxmlformats.org/drawingml/2006/main">
            <a:off x="5705475" y="6619875"/>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B6F83"/>
                </a:solidFill>
                <a:latin typeface="Nimbus Sans"/>
                <a:ea typeface="Nimbus Sans"/>
                <a:cs typeface="Nimbus Sans"/>
              </a:defRPr>
            </a:defPPr>
          </a:lstStyle>
          <a:p xmlns:a="http://schemas.openxmlformats.org/drawingml/2006/main">
            <a:pPr algn="l">
              <a:defRPr sz="1725" b="0">
                <a:solidFill>
                  <a:srgbClr val="5B6F83"/>
                </a:solidFill>
                <a:latin typeface="Nimbus Sans"/>
                <a:ea typeface="Nimbus Sans"/>
                <a:cs typeface="Nimbus Sans"/>
              </a:defRPr>
            </a:pPr>
            <a:r>
              <a:rPr sz="1725" b="0">
                <a:solidFill>
                  <a:srgbClr val="5B6F83"/>
                </a:solidFill>
                <a:latin typeface="Nimbus Sans"/>
                <a:ea typeface="Nimbus Sans"/>
                <a:cs typeface="Nimbus Sans"/>
              </a:rPr>
              <a:t>Validate evidence and approvals before any access action</a:t>
            </a:r>
          </a:p>
        </p:txBody>
      </p:sp>
      <p:sp>
        <p:nvSpPr>
          <p:cNvPr id="35" name="box">
            <a:extLst xmlns:a="http://schemas.openxmlformats.org/drawingml/2006/main">
              <a:ext uri="{FF2B5EF4-FFF2-40B4-BE49-F238E27FC236}">
                <a16:creationId xmlns:a16="http://schemas.microsoft.com/office/drawing/2014/main" id="{D3705C46-EA7E-4B42-85B4-23499048691E}"/>
              </a:ext>
            </a:extLst>
          </p:cNvPr>
          <p:cNvSpPr>
            <a:spLocks xmlns:a="http://schemas.openxmlformats.org/drawingml/2006/main" noGrp="1"/>
          </p:cNvSpPr>
          <p:nvPr/>
        </p:nvSpPr>
        <p:spPr>
          <a:xfrm xmlns:a="http://schemas.openxmlformats.org/drawingml/2006/main">
            <a:off x="685800" y="7400925"/>
            <a:ext cx="13868400" cy="495300"/>
          </a:xfrm>
          <a:prstGeom xmlns:a="http://schemas.openxmlformats.org/drawingml/2006/main" prst="rect">
            <a:avLst/>
          </a:prstGeom>
          <a:solidFill xmlns:a="http://schemas.openxmlformats.org/drawingml/2006/main">
            <a:srgbClr val="EAF7F6"/>
          </a:solidFill>
          <a:ln xmlns:a="http://schemas.openxmlformats.org/drawingml/2006/main" w="0">
            <a:noFill/>
            <a:prstDash val="solid"/>
          </a:ln>
        </p:spPr>
      </p:sp>
      <p:sp>
        <p:nvSpPr>
          <p:cNvPr id="36" name="box">
            <a:extLst xmlns:a="http://schemas.openxmlformats.org/drawingml/2006/main">
              <a:ext uri="{FF2B5EF4-FFF2-40B4-BE49-F238E27FC236}">
                <a16:creationId xmlns:a16="http://schemas.microsoft.com/office/drawing/2014/main" id="{F9099D4C-7E9E-451A-80C9-C8F11EB79AFF}"/>
              </a:ext>
            </a:extLst>
          </p:cNvPr>
          <p:cNvSpPr>
            <a:spLocks xmlns:a="http://schemas.openxmlformats.org/drawingml/2006/main" noGrp="1"/>
          </p:cNvSpPr>
          <p:nvPr/>
        </p:nvSpPr>
        <p:spPr>
          <a:xfrm xmlns:a="http://schemas.openxmlformats.org/drawingml/2006/main">
            <a:off x="685800" y="7400925"/>
            <a:ext cx="47625" cy="49530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37" name="text">
            <a:extLst xmlns:a="http://schemas.openxmlformats.org/drawingml/2006/main">
              <a:ext uri="{FF2B5EF4-FFF2-40B4-BE49-F238E27FC236}">
                <a16:creationId xmlns:a16="http://schemas.microsoft.com/office/drawing/2014/main" id="{6DC04C6B-8182-4BB9-AB51-E914229E482B}"/>
              </a:ext>
            </a:extLst>
          </p:cNvPr>
          <p:cNvSpPr>
            <a:spLocks xmlns:a="http://schemas.openxmlformats.org/drawingml/2006/main" noGrp="1"/>
          </p:cNvSpPr>
          <p:nvPr/>
        </p:nvSpPr>
        <p:spPr>
          <a:xfrm xmlns:a="http://schemas.openxmlformats.org/drawingml/2006/main">
            <a:off x="895350" y="7562850"/>
            <a:ext cx="134588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12D49"/>
                </a:solidFill>
                <a:latin typeface="Nimbus Sans"/>
                <a:ea typeface="Nimbus Sans"/>
                <a:cs typeface="Nimbus Sans"/>
              </a:defRPr>
            </a:defPPr>
          </a:lstStyle>
          <a:p xmlns:a="http://schemas.openxmlformats.org/drawingml/2006/main">
            <a:pPr algn="l">
              <a:defRPr sz="1725" b="0">
                <a:solidFill>
                  <a:srgbClr val="112D49"/>
                </a:solidFill>
                <a:latin typeface="Nimbus Sans"/>
                <a:ea typeface="Nimbus Sans"/>
                <a:cs typeface="Nimbus Sans"/>
              </a:defRPr>
            </a:pPr>
            <a:r>
              <a:rPr sz="1725" b="0">
                <a:solidFill>
                  <a:srgbClr val="112D49"/>
                </a:solidFill>
                <a:latin typeface="Nimbus Sans"/>
                <a:ea typeface="Nimbus Sans"/>
                <a:cs typeface="Nimbus Sans"/>
              </a:rPr>
              <a:t>Foundation already available: audit data in BigQuery, license tables / view and a test Cloud Run deployment</a:t>
            </a:r>
          </a:p>
        </p:txBody>
      </p:sp>
    </p:spTree>
    <p:extLst>
      <p:ext uri="{BB962C8B-B14F-4D97-AF65-F5344CB8AC3E}">
        <p14:creationId xmlns:p14="http://schemas.microsoft.com/office/powerpoint/2010/main" val="16106054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B3C621E6-F620-45D3-8C07-E1240DFDB3DB}"/>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Planned Grafana dashboard</a:t>
            </a:r>
          </a:p>
        </p:txBody>
      </p:sp>
      <p:sp>
        <p:nvSpPr>
          <p:cNvPr id="2" name="slide-subtitle">
            <a:extLst xmlns:a="http://schemas.openxmlformats.org/drawingml/2006/main">
              <a:ext uri="{FF2B5EF4-FFF2-40B4-BE49-F238E27FC236}">
                <a16:creationId xmlns:a16="http://schemas.microsoft.com/office/drawing/2014/main" id="{7B374999-85DB-41E8-ADAE-DEDE9C471793}"/>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Illustrative layout and sample data only. Counts do not represent the enterprise</a:t>
            </a:r>
          </a:p>
        </p:txBody>
      </p:sp>
      <p:sp>
        <p:nvSpPr>
          <p:cNvPr id="3" name="">
            <a:extLst xmlns:a="http://schemas.openxmlformats.org/drawingml/2006/main">
              <a:ext uri="{FF2B5EF4-FFF2-40B4-BE49-F238E27FC236}">
                <a16:creationId xmlns:a16="http://schemas.microsoft.com/office/drawing/2014/main" id="{19FC4BC2-BACB-49D0-967B-737383C50E60}"/>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281F1D9E-AD46-438D-A5DD-D45757D75C6A}"/>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BA8473D1-BCC7-4E92-90CA-554B0B32ABF7}"/>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11</a:t>
            </a:r>
          </a:p>
        </p:txBody>
      </p:sp>
      <p:sp>
        <p:nvSpPr>
          <p:cNvPr id="6" name="box">
            <a:extLst xmlns:a="http://schemas.openxmlformats.org/drawingml/2006/main">
              <a:ext uri="{FF2B5EF4-FFF2-40B4-BE49-F238E27FC236}">
                <a16:creationId xmlns:a16="http://schemas.microsoft.com/office/drawing/2014/main" id="{08C544C2-AA69-457C-9B71-488A5AFDA7D6}"/>
              </a:ext>
            </a:extLst>
          </p:cNvPr>
          <p:cNvSpPr>
            <a:spLocks xmlns:a="http://schemas.openxmlformats.org/drawingml/2006/main" noGrp="1"/>
          </p:cNvSpPr>
          <p:nvPr/>
        </p:nvSpPr>
        <p:spPr>
          <a:xfrm xmlns:a="http://schemas.openxmlformats.org/drawingml/2006/main">
            <a:off x="685800" y="1866900"/>
            <a:ext cx="13868400" cy="5715000"/>
          </a:xfrm>
          <a:prstGeom xmlns:a="http://schemas.openxmlformats.org/drawingml/2006/main" prst="roundRect">
            <a:avLst>
              <a:gd name="adj" fmla="val 1333"/>
            </a:avLst>
          </a:prstGeom>
          <a:solidFill xmlns:a="http://schemas.openxmlformats.org/drawingml/2006/main">
            <a:srgbClr val="111B29"/>
          </a:solidFill>
          <a:ln xmlns:a="http://schemas.openxmlformats.org/drawingml/2006/main" w="0">
            <a:noFill/>
            <a:prstDash val="solid"/>
          </a:ln>
        </p:spPr>
      </p:sp>
      <p:sp>
        <p:nvSpPr>
          <p:cNvPr id="7" name="box">
            <a:extLst xmlns:a="http://schemas.openxmlformats.org/drawingml/2006/main">
              <a:ext uri="{FF2B5EF4-FFF2-40B4-BE49-F238E27FC236}">
                <a16:creationId xmlns:a16="http://schemas.microsoft.com/office/drawing/2014/main" id="{02B6093A-1091-4482-91A2-3109BBDCE7A0}"/>
              </a:ext>
            </a:extLst>
          </p:cNvPr>
          <p:cNvSpPr>
            <a:spLocks xmlns:a="http://schemas.openxmlformats.org/drawingml/2006/main" noGrp="1"/>
          </p:cNvSpPr>
          <p:nvPr/>
        </p:nvSpPr>
        <p:spPr>
          <a:xfrm xmlns:a="http://schemas.openxmlformats.org/drawingml/2006/main">
            <a:off x="847725" y="1990725"/>
            <a:ext cx="409575" cy="409575"/>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7665AD5B-550E-4EDD-9BAF-BEE98395CE84}"/>
              </a:ext>
            </a:extLst>
          </p:cNvPr>
          <p:cNvPicPr>
            <a:picLocks xmlns:a="http://schemas.openxmlformats.org/drawingml/2006/main" noChangeAspect="1"/>
          </p:cNvPicPr>
          <p:nvPr/>
        </p:nvPicPr>
        <p:blipFill>
          <a:blip xmlns:r="http://schemas.openxmlformats.org/officeDocument/2006/relationships" xmlns:a="http://schemas.openxmlformats.org/drawingml/2006/main" r:embed="R89b7a421d8004b05">
            <a:extLst>
              <a:ext uri="{96DAC541-7B7A-43D3-8B79-37D633B846F1}">
                <asvg:svgBlip xmlns:asvg="http://schemas.microsoft.com/office/drawing/2016/SVG/main" r:embed="R8a53207f59424253"/>
              </a:ext>
            </a:extLst>
          </a:blip>
          <a:stretch xmlns:a="http://schemas.openxmlformats.org/drawingml/2006/main"/>
        </p:blipFill>
        <p:spPr>
          <a:xfrm xmlns:a="http://schemas.openxmlformats.org/drawingml/2006/main">
            <a:off x="895350" y="2038350"/>
            <a:ext cx="314325" cy="314325"/>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379A0E8-21AB-4E42-B821-4E6357A9D08E}"/>
              </a:ext>
            </a:extLst>
          </p:cNvPr>
          <p:cNvSpPr>
            <a:spLocks xmlns:a="http://schemas.openxmlformats.org/drawingml/2006/main" noGrp="1"/>
          </p:cNvSpPr>
          <p:nvPr/>
        </p:nvSpPr>
        <p:spPr>
          <a:xfrm xmlns:a="http://schemas.openxmlformats.org/drawingml/2006/main">
            <a:off x="1371600" y="207645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FFFFF"/>
                </a:solidFill>
                <a:latin typeface="Nimbus Sans"/>
                <a:ea typeface="Nimbus Sans"/>
                <a:cs typeface="Nimbus Sans"/>
              </a:defRPr>
            </a:defPPr>
          </a:lstStyle>
          <a:p xmlns:a="http://schemas.openxmlformats.org/drawingml/2006/main">
            <a:pPr algn="l">
              <a:defRPr sz="2175" b="1">
                <a:solidFill>
                  <a:srgbClr val="FFFFFF"/>
                </a:solidFill>
                <a:latin typeface="Nimbus Sans"/>
                <a:ea typeface="Nimbus Sans"/>
                <a:cs typeface="Nimbus Sans"/>
              </a:defRPr>
            </a:pPr>
            <a:r>
              <a:rPr sz="2175" b="1">
                <a:solidFill>
                  <a:srgbClr val="FFFFFF"/>
                </a:solidFill>
                <a:latin typeface="Nimbus Sans"/>
                <a:ea typeface="Nimbus Sans"/>
                <a:cs typeface="Nimbus Sans"/>
              </a:rPr>
              <a:t>GitHub License Utilization &amp; Dormancy</a:t>
            </a:r>
          </a:p>
        </p:txBody>
      </p:sp>
      <p:sp>
        <p:nvSpPr>
          <p:cNvPr id="10" name="text">
            <a:extLst xmlns:a="http://schemas.openxmlformats.org/drawingml/2006/main">
              <a:ext uri="{FF2B5EF4-FFF2-40B4-BE49-F238E27FC236}">
                <a16:creationId xmlns:a16="http://schemas.microsoft.com/office/drawing/2014/main" id="{ECD2E7D6-50B8-4C38-BDAA-7F1BEF607C46}"/>
              </a:ext>
            </a:extLst>
          </p:cNvPr>
          <p:cNvSpPr>
            <a:spLocks xmlns:a="http://schemas.openxmlformats.org/drawingml/2006/main" noGrp="1"/>
          </p:cNvSpPr>
          <p:nvPr/>
        </p:nvSpPr>
        <p:spPr>
          <a:xfrm xmlns:a="http://schemas.openxmlformats.org/drawingml/2006/main">
            <a:off x="952500" y="2609850"/>
            <a:ext cx="1295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C0CCDC"/>
                </a:solidFill>
                <a:latin typeface="Nimbus Sans"/>
                <a:ea typeface="Nimbus Sans"/>
                <a:cs typeface="Nimbus Sans"/>
              </a:defRPr>
            </a:defPPr>
          </a:lstStyle>
          <a:p xmlns:a="http://schemas.openxmlformats.org/drawingml/2006/main">
            <a:pPr algn="l">
              <a:defRPr sz="1650" b="0">
                <a:solidFill>
                  <a:srgbClr val="C0CCDC"/>
                </a:solidFill>
                <a:latin typeface="Nimbus Sans"/>
                <a:ea typeface="Nimbus Sans"/>
                <a:cs typeface="Nimbus Sans"/>
              </a:defRPr>
            </a:pPr>
            <a:r>
              <a:rPr sz="1650" b="0">
                <a:solidFill>
                  <a:srgbClr val="C0CCDC"/>
                </a:solidFill>
                <a:latin typeface="Nimbus Sans"/>
                <a:ea typeface="Nimbus Sans"/>
                <a:cs typeface="Nimbus Sans"/>
              </a:rPr>
              <a:t>Window: 90 days     Policy: Activity     UBR: All     Account: All</a:t>
            </a:r>
          </a:p>
        </p:txBody>
      </p:sp>
      <p:sp>
        <p:nvSpPr>
          <p:cNvPr id="11" name="">
            <a:extLst xmlns:a="http://schemas.openxmlformats.org/drawingml/2006/main">
              <a:ext uri="{FF2B5EF4-FFF2-40B4-BE49-F238E27FC236}">
                <a16:creationId xmlns:a16="http://schemas.microsoft.com/office/drawing/2014/main" id="{7BBF9C72-05EF-4D6B-B875-69D579A6B645}"/>
              </a:ext>
            </a:extLst>
          </p:cNvPr>
          <p:cNvSpPr>
            <a:spLocks xmlns:a="http://schemas.openxmlformats.org/drawingml/2006/main" noGrp="1"/>
          </p:cNvSpPr>
          <p:nvPr/>
        </p:nvSpPr>
        <p:spPr>
          <a:xfrm xmlns:a="http://schemas.openxmlformats.org/drawingml/2006/main">
            <a:off x="942975" y="3048000"/>
            <a:ext cx="13354050" cy="0"/>
          </a:xfrm>
          <a:prstGeom xmlns:a="http://schemas.openxmlformats.org/drawingml/2006/main" prst="line">
            <a:avLst/>
          </a:prstGeom>
          <a:noFill xmlns:a="http://schemas.openxmlformats.org/drawingml/2006/main"/>
          <a:ln xmlns:a="http://schemas.openxmlformats.org/drawingml/2006/main" w="13335">
            <a:solidFill>
              <a:srgbClr val="314153"/>
            </a:solidFill>
            <a:prstDash val="solid"/>
          </a:ln>
        </p:spPr>
      </p:sp>
      <p:sp>
        <p:nvSpPr>
          <p:cNvPr id="12" name="text">
            <a:extLst xmlns:a="http://schemas.openxmlformats.org/drawingml/2006/main">
              <a:ext uri="{FF2B5EF4-FFF2-40B4-BE49-F238E27FC236}">
                <a16:creationId xmlns:a16="http://schemas.microsoft.com/office/drawing/2014/main" id="{447B07FB-9D2B-4B97-9B75-BF137D86BB30}"/>
              </a:ext>
            </a:extLst>
          </p:cNvPr>
          <p:cNvSpPr>
            <a:spLocks xmlns:a="http://schemas.openxmlformats.org/drawingml/2006/main" noGrp="1"/>
          </p:cNvSpPr>
          <p:nvPr/>
        </p:nvSpPr>
        <p:spPr>
          <a:xfrm xmlns:a="http://schemas.openxmlformats.org/drawingml/2006/main">
            <a:off x="952500" y="3295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75" b="1">
                <a:solidFill>
                  <a:srgbClr val="8EB5F2"/>
                </a:solidFill>
                <a:latin typeface="Nimbus Sans"/>
                <a:ea typeface="Nimbus Sans"/>
                <a:cs typeface="Nimbus Sans"/>
              </a:defRPr>
            </a:defPPr>
          </a:lstStyle>
          <a:p xmlns:a="http://schemas.openxmlformats.org/drawingml/2006/main">
            <a:pPr algn="l">
              <a:defRPr sz="3975" b="1">
                <a:solidFill>
                  <a:srgbClr val="8EB5F2"/>
                </a:solidFill>
                <a:latin typeface="Nimbus Sans"/>
                <a:ea typeface="Nimbus Sans"/>
                <a:cs typeface="Nimbus Sans"/>
              </a:defRPr>
            </a:pPr>
            <a:r>
              <a:rPr sz="3975" b="1">
                <a:solidFill>
                  <a:srgbClr val="8EB5F2"/>
                </a:solidFill>
                <a:latin typeface="Nimbus Sans"/>
                <a:ea typeface="Nimbus Sans"/>
                <a:cs typeface="Nimbus Sans"/>
              </a:rPr>
              <a:t>10,000</a:t>
            </a:r>
          </a:p>
        </p:txBody>
      </p:sp>
      <p:sp>
        <p:nvSpPr>
          <p:cNvPr id="13" name="text">
            <a:extLst xmlns:a="http://schemas.openxmlformats.org/drawingml/2006/main">
              <a:ext uri="{FF2B5EF4-FFF2-40B4-BE49-F238E27FC236}">
                <a16:creationId xmlns:a16="http://schemas.microsoft.com/office/drawing/2014/main" id="{D2519D28-681C-4C1A-BB1B-26F56AEE9CD6}"/>
              </a:ext>
            </a:extLst>
          </p:cNvPr>
          <p:cNvSpPr>
            <a:spLocks xmlns:a="http://schemas.openxmlformats.org/drawingml/2006/main" noGrp="1"/>
          </p:cNvSpPr>
          <p:nvPr/>
        </p:nvSpPr>
        <p:spPr>
          <a:xfrm xmlns:a="http://schemas.openxmlformats.org/drawingml/2006/main">
            <a:off x="952500" y="3943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D4DCE8"/>
                </a:solidFill>
                <a:latin typeface="Nimbus Sans"/>
                <a:ea typeface="Nimbus Sans"/>
                <a:cs typeface="Nimbus Sans"/>
              </a:defRPr>
            </a:defPPr>
          </a:lstStyle>
          <a:p xmlns:a="http://schemas.openxmlformats.org/drawingml/2006/main">
            <a:pPr algn="l">
              <a:defRPr sz="1725" b="0">
                <a:solidFill>
                  <a:srgbClr val="D4DCE8"/>
                </a:solidFill>
                <a:latin typeface="Nimbus Sans"/>
                <a:ea typeface="Nimbus Sans"/>
                <a:cs typeface="Nimbus Sans"/>
              </a:defRPr>
            </a:pPr>
            <a:r>
              <a:rPr sz="1725" b="0">
                <a:solidFill>
                  <a:srgbClr val="D4DCE8"/>
                </a:solidFill>
                <a:latin typeface="Nimbus Sans"/>
                <a:ea typeface="Nimbus Sans"/>
                <a:cs typeface="Nimbus Sans"/>
              </a:rPr>
              <a:t>Licensed users</a:t>
            </a:r>
          </a:p>
        </p:txBody>
      </p:sp>
      <p:sp>
        <p:nvSpPr>
          <p:cNvPr id="14" name="text">
            <a:extLst xmlns:a="http://schemas.openxmlformats.org/drawingml/2006/main">
              <a:ext uri="{FF2B5EF4-FFF2-40B4-BE49-F238E27FC236}">
                <a16:creationId xmlns:a16="http://schemas.microsoft.com/office/drawing/2014/main" id="{4CBFBE6A-389E-4A3B-BDB3-20D293DCE7E6}"/>
              </a:ext>
            </a:extLst>
          </p:cNvPr>
          <p:cNvSpPr>
            <a:spLocks xmlns:a="http://schemas.openxmlformats.org/drawingml/2006/main" noGrp="1"/>
          </p:cNvSpPr>
          <p:nvPr/>
        </p:nvSpPr>
        <p:spPr>
          <a:xfrm xmlns:a="http://schemas.openxmlformats.org/drawingml/2006/main">
            <a:off x="4305300" y="3295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75" b="1">
                <a:solidFill>
                  <a:srgbClr val="5CD0AC"/>
                </a:solidFill>
                <a:latin typeface="Nimbus Sans"/>
                <a:ea typeface="Nimbus Sans"/>
                <a:cs typeface="Nimbus Sans"/>
              </a:defRPr>
            </a:defPPr>
          </a:lstStyle>
          <a:p xmlns:a="http://schemas.openxmlformats.org/drawingml/2006/main">
            <a:pPr algn="l">
              <a:defRPr sz="3975" b="1">
                <a:solidFill>
                  <a:srgbClr val="5CD0AC"/>
                </a:solidFill>
                <a:latin typeface="Nimbus Sans"/>
                <a:ea typeface="Nimbus Sans"/>
                <a:cs typeface="Nimbus Sans"/>
              </a:defRPr>
            </a:pPr>
            <a:r>
              <a:rPr sz="3975" b="1">
                <a:solidFill>
                  <a:srgbClr val="5CD0AC"/>
                </a:solidFill>
                <a:latin typeface="Nimbus Sans"/>
                <a:ea typeface="Nimbus Sans"/>
                <a:cs typeface="Nimbus Sans"/>
              </a:rPr>
              <a:t>7,200</a:t>
            </a:r>
          </a:p>
        </p:txBody>
      </p:sp>
      <p:sp>
        <p:nvSpPr>
          <p:cNvPr id="15" name="text">
            <a:extLst xmlns:a="http://schemas.openxmlformats.org/drawingml/2006/main">
              <a:ext uri="{FF2B5EF4-FFF2-40B4-BE49-F238E27FC236}">
                <a16:creationId xmlns:a16="http://schemas.microsoft.com/office/drawing/2014/main" id="{A8703F54-DDD9-4386-8553-7B003B8509D0}"/>
              </a:ext>
            </a:extLst>
          </p:cNvPr>
          <p:cNvSpPr>
            <a:spLocks xmlns:a="http://schemas.openxmlformats.org/drawingml/2006/main" noGrp="1"/>
          </p:cNvSpPr>
          <p:nvPr/>
        </p:nvSpPr>
        <p:spPr>
          <a:xfrm xmlns:a="http://schemas.openxmlformats.org/drawingml/2006/main">
            <a:off x="4305300" y="3943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D4DCE8"/>
                </a:solidFill>
                <a:latin typeface="Nimbus Sans"/>
                <a:ea typeface="Nimbus Sans"/>
                <a:cs typeface="Nimbus Sans"/>
              </a:defRPr>
            </a:defPPr>
          </a:lstStyle>
          <a:p xmlns:a="http://schemas.openxmlformats.org/drawingml/2006/main">
            <a:pPr algn="l">
              <a:defRPr sz="1725" b="0">
                <a:solidFill>
                  <a:srgbClr val="D4DCE8"/>
                </a:solidFill>
                <a:latin typeface="Nimbus Sans"/>
                <a:ea typeface="Nimbus Sans"/>
                <a:cs typeface="Nimbus Sans"/>
              </a:defRPr>
            </a:pPr>
            <a:r>
              <a:rPr sz="1725" b="0">
                <a:solidFill>
                  <a:srgbClr val="D4DCE8"/>
                </a:solidFill>
                <a:latin typeface="Nimbus Sans"/>
                <a:ea typeface="Nimbus Sans"/>
                <a:cs typeface="Nimbus Sans"/>
              </a:rPr>
              <a:t>Active within 30 days</a:t>
            </a:r>
          </a:p>
        </p:txBody>
      </p:sp>
      <p:sp>
        <p:nvSpPr>
          <p:cNvPr id="16" name="text">
            <a:extLst xmlns:a="http://schemas.openxmlformats.org/drawingml/2006/main">
              <a:ext uri="{FF2B5EF4-FFF2-40B4-BE49-F238E27FC236}">
                <a16:creationId xmlns:a16="http://schemas.microsoft.com/office/drawing/2014/main" id="{9CF260AF-7199-4011-A267-74198FFF4BCA}"/>
              </a:ext>
            </a:extLst>
          </p:cNvPr>
          <p:cNvSpPr>
            <a:spLocks xmlns:a="http://schemas.openxmlformats.org/drawingml/2006/main" noGrp="1"/>
          </p:cNvSpPr>
          <p:nvPr/>
        </p:nvSpPr>
        <p:spPr>
          <a:xfrm xmlns:a="http://schemas.openxmlformats.org/drawingml/2006/main">
            <a:off x="7658100" y="3295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75" b="1">
                <a:solidFill>
                  <a:srgbClr val="F3B16B"/>
                </a:solidFill>
                <a:latin typeface="Nimbus Sans"/>
                <a:ea typeface="Nimbus Sans"/>
                <a:cs typeface="Nimbus Sans"/>
              </a:defRPr>
            </a:defPPr>
          </a:lstStyle>
          <a:p xmlns:a="http://schemas.openxmlformats.org/drawingml/2006/main">
            <a:pPr algn="l">
              <a:defRPr sz="3975" b="1">
                <a:solidFill>
                  <a:srgbClr val="F3B16B"/>
                </a:solidFill>
                <a:latin typeface="Nimbus Sans"/>
                <a:ea typeface="Nimbus Sans"/>
                <a:cs typeface="Nimbus Sans"/>
              </a:defRPr>
            </a:pPr>
            <a:r>
              <a:rPr sz="3975" b="1">
                <a:solidFill>
                  <a:srgbClr val="F3B16B"/>
                </a:solidFill>
                <a:latin typeface="Nimbus Sans"/>
                <a:ea typeface="Nimbus Sans"/>
                <a:cs typeface="Nimbus Sans"/>
              </a:rPr>
              <a:t>500</a:t>
            </a:r>
          </a:p>
        </p:txBody>
      </p:sp>
      <p:sp>
        <p:nvSpPr>
          <p:cNvPr id="17" name="text">
            <a:extLst xmlns:a="http://schemas.openxmlformats.org/drawingml/2006/main">
              <a:ext uri="{FF2B5EF4-FFF2-40B4-BE49-F238E27FC236}">
                <a16:creationId xmlns:a16="http://schemas.microsoft.com/office/drawing/2014/main" id="{269404AF-A931-484A-AAAB-512EEA4B3446}"/>
              </a:ext>
            </a:extLst>
          </p:cNvPr>
          <p:cNvSpPr>
            <a:spLocks xmlns:a="http://schemas.openxmlformats.org/drawingml/2006/main" noGrp="1"/>
          </p:cNvSpPr>
          <p:nvPr/>
        </p:nvSpPr>
        <p:spPr>
          <a:xfrm xmlns:a="http://schemas.openxmlformats.org/drawingml/2006/main">
            <a:off x="7658100" y="3943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D4DCE8"/>
                </a:solidFill>
                <a:latin typeface="Nimbus Sans"/>
                <a:ea typeface="Nimbus Sans"/>
                <a:cs typeface="Nimbus Sans"/>
              </a:defRPr>
            </a:defPPr>
          </a:lstStyle>
          <a:p xmlns:a="http://schemas.openxmlformats.org/drawingml/2006/main">
            <a:pPr algn="l">
              <a:defRPr sz="1725" b="0">
                <a:solidFill>
                  <a:srgbClr val="D4DCE8"/>
                </a:solidFill>
                <a:latin typeface="Nimbus Sans"/>
                <a:ea typeface="Nimbus Sans"/>
                <a:cs typeface="Nimbus Sans"/>
              </a:defRPr>
            </a:pPr>
            <a:r>
              <a:rPr sz="1725" b="0">
                <a:solidFill>
                  <a:srgbClr val="D4DCE8"/>
                </a:solidFill>
                <a:latin typeface="Nimbus Sans"/>
                <a:ea typeface="Nimbus Sans"/>
                <a:cs typeface="Nimbus Sans"/>
              </a:rPr>
              <a:t>90+ days inactive</a:t>
            </a:r>
          </a:p>
        </p:txBody>
      </p:sp>
      <p:sp>
        <p:nvSpPr>
          <p:cNvPr id="18" name="text">
            <a:extLst xmlns:a="http://schemas.openxmlformats.org/drawingml/2006/main">
              <a:ext uri="{FF2B5EF4-FFF2-40B4-BE49-F238E27FC236}">
                <a16:creationId xmlns:a16="http://schemas.microsoft.com/office/drawing/2014/main" id="{A6E4E49D-2C97-4ADA-9975-031517B7C464}"/>
              </a:ext>
            </a:extLst>
          </p:cNvPr>
          <p:cNvSpPr>
            <a:spLocks xmlns:a="http://schemas.openxmlformats.org/drawingml/2006/main" noGrp="1"/>
          </p:cNvSpPr>
          <p:nvPr/>
        </p:nvSpPr>
        <p:spPr>
          <a:xfrm xmlns:a="http://schemas.openxmlformats.org/drawingml/2006/main">
            <a:off x="11010900" y="3295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975" b="1">
                <a:solidFill>
                  <a:srgbClr val="5CD0AC"/>
                </a:solidFill>
                <a:latin typeface="Nimbus Sans"/>
                <a:ea typeface="Nimbus Sans"/>
                <a:cs typeface="Nimbus Sans"/>
              </a:defRPr>
            </a:defPPr>
          </a:lstStyle>
          <a:p xmlns:a="http://schemas.openxmlformats.org/drawingml/2006/main">
            <a:pPr algn="l">
              <a:defRPr sz="3975" b="1">
                <a:solidFill>
                  <a:srgbClr val="5CD0AC"/>
                </a:solidFill>
                <a:latin typeface="Nimbus Sans"/>
                <a:ea typeface="Nimbus Sans"/>
                <a:cs typeface="Nimbus Sans"/>
              </a:defRPr>
            </a:pPr>
            <a:r>
              <a:rPr sz="3975" b="1">
                <a:solidFill>
                  <a:srgbClr val="5CD0AC"/>
                </a:solidFill>
                <a:latin typeface="Nimbus Sans"/>
                <a:ea typeface="Nimbus Sans"/>
                <a:cs typeface="Nimbus Sans"/>
              </a:rPr>
              <a:t>320</a:t>
            </a:r>
          </a:p>
        </p:txBody>
      </p:sp>
      <p:sp>
        <p:nvSpPr>
          <p:cNvPr id="19" name="text">
            <a:extLst xmlns:a="http://schemas.openxmlformats.org/drawingml/2006/main">
              <a:ext uri="{FF2B5EF4-FFF2-40B4-BE49-F238E27FC236}">
                <a16:creationId xmlns:a16="http://schemas.microsoft.com/office/drawing/2014/main" id="{26F8478F-B923-41DE-A508-03E1A2710FFF}"/>
              </a:ext>
            </a:extLst>
          </p:cNvPr>
          <p:cNvSpPr>
            <a:spLocks xmlns:a="http://schemas.openxmlformats.org/drawingml/2006/main" noGrp="1"/>
          </p:cNvSpPr>
          <p:nvPr/>
        </p:nvSpPr>
        <p:spPr>
          <a:xfrm xmlns:a="http://schemas.openxmlformats.org/drawingml/2006/main">
            <a:off x="11010900" y="3943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D4DCE8"/>
                </a:solidFill>
                <a:latin typeface="Nimbus Sans"/>
                <a:ea typeface="Nimbus Sans"/>
                <a:cs typeface="Nimbus Sans"/>
              </a:defRPr>
            </a:defPPr>
          </a:lstStyle>
          <a:p xmlns:a="http://schemas.openxmlformats.org/drawingml/2006/main">
            <a:pPr algn="l">
              <a:defRPr sz="1725" b="0">
                <a:solidFill>
                  <a:srgbClr val="D4DCE8"/>
                </a:solidFill>
                <a:latin typeface="Nimbus Sans"/>
                <a:ea typeface="Nimbus Sans"/>
                <a:cs typeface="Nimbus Sans"/>
              </a:defRPr>
            </a:pPr>
            <a:r>
              <a:rPr sz="1725" b="0">
                <a:solidFill>
                  <a:srgbClr val="D4DCE8"/>
                </a:solidFill>
                <a:latin typeface="Nimbus Sans"/>
                <a:ea typeface="Nimbus Sans"/>
                <a:cs typeface="Nimbus Sans"/>
              </a:rPr>
              <a:t>Eligible for review</a:t>
            </a:r>
          </a:p>
        </p:txBody>
      </p:sp>
      <p:sp>
        <p:nvSpPr>
          <p:cNvPr id="20" name="box">
            <a:extLst xmlns:a="http://schemas.openxmlformats.org/drawingml/2006/main">
              <a:ext uri="{FF2B5EF4-FFF2-40B4-BE49-F238E27FC236}">
                <a16:creationId xmlns:a16="http://schemas.microsoft.com/office/drawing/2014/main" id="{35B5F068-FE19-4938-BFD9-2279AF683DD3}"/>
              </a:ext>
            </a:extLst>
          </p:cNvPr>
          <p:cNvSpPr>
            <a:spLocks xmlns:a="http://schemas.openxmlformats.org/drawingml/2006/main" noGrp="1"/>
          </p:cNvSpPr>
          <p:nvPr/>
        </p:nvSpPr>
        <p:spPr>
          <a:xfrm xmlns:a="http://schemas.openxmlformats.org/drawingml/2006/main">
            <a:off x="933450" y="4572000"/>
            <a:ext cx="7839075" cy="2647950"/>
          </a:xfrm>
          <a:prstGeom xmlns:a="http://schemas.openxmlformats.org/drawingml/2006/main" prst="roundRect">
            <a:avLst>
              <a:gd name="adj" fmla="val 1439"/>
            </a:avLst>
          </a:prstGeom>
          <a:solidFill xmlns:a="http://schemas.openxmlformats.org/drawingml/2006/main">
            <a:srgbClr val="FFFFFF"/>
          </a:solidFill>
          <a:ln xmlns:a="http://schemas.openxmlformats.org/drawingml/2006/main" w="0">
            <a:noFill/>
            <a:prstDash val="solid"/>
          </a:ln>
        </p:spPr>
      </p:sp>
      <p:sp>
        <p:nvSpPr>
          <p:cNvPr id="21" name="box">
            <a:extLst xmlns:a="http://schemas.openxmlformats.org/drawingml/2006/main">
              <a:ext uri="{FF2B5EF4-FFF2-40B4-BE49-F238E27FC236}">
                <a16:creationId xmlns:a16="http://schemas.microsoft.com/office/drawing/2014/main" id="{C3F8D836-8713-42AD-8425-B4CC672BFC49}"/>
              </a:ext>
            </a:extLst>
          </p:cNvPr>
          <p:cNvSpPr>
            <a:spLocks xmlns:a="http://schemas.openxmlformats.org/drawingml/2006/main" noGrp="1"/>
          </p:cNvSpPr>
          <p:nvPr/>
        </p:nvSpPr>
        <p:spPr>
          <a:xfrm xmlns:a="http://schemas.openxmlformats.org/drawingml/2006/main">
            <a:off x="8991600" y="4572000"/>
            <a:ext cx="5314950" cy="2647950"/>
          </a:xfrm>
          <a:prstGeom xmlns:a="http://schemas.openxmlformats.org/drawingml/2006/main" prst="roundRect">
            <a:avLst>
              <a:gd name="adj" fmla="val 1439"/>
            </a:avLst>
          </a:prstGeom>
          <a:solidFill xmlns:a="http://schemas.openxmlformats.org/drawingml/2006/main">
            <a:srgbClr val="FFFFFF"/>
          </a:solidFill>
          <a:ln xmlns:a="http://schemas.openxmlformats.org/drawingml/2006/main" w="0">
            <a:noFill/>
            <a:prstDash val="solid"/>
          </a:ln>
        </p:spPr>
      </p:sp>
      <p:graphicFrame>
        <p:nvGraphicFramePr>
          <p:cNvPr id="22" name="Chart">
            <a:extLst xmlns:a="http://schemas.openxmlformats.org/drawingml/2006/main">
              <a:ext uri="{FF2B5EF4-FFF2-40B4-BE49-F238E27FC236}">
                <a16:creationId xmlns:a16="http://schemas.microsoft.com/office/drawing/2014/main" id="{3D0E4987-4CCC-4E27-9A58-5EA0993B9C44}"/>
              </a:ext>
            </a:extLst>
          </p:cNvPr>
          <p:cNvGraphicFramePr/>
          <p:nvPr/>
        </p:nvGraphicFramePr>
        <p:xfrm>
          <a:off xmlns:a="http://schemas.openxmlformats.org/drawingml/2006/main" x="1038225" y="4648200"/>
          <a:ext xmlns:a="http://schemas.openxmlformats.org/drawingml/2006/main" cx="7620000" cy="2457450"/>
        </p:xfrm>
        <a:graphic xmlns:a="http://schemas.openxmlformats.org/drawingml/2006/main">
          <a:graphicData uri="http://schemas.openxmlformats.org/drawingml/2006/chart">
            <c:chart xmlns:r="http://schemas.openxmlformats.org/officeDocument/2006/relationships" xmlns:c="http://schemas.openxmlformats.org/drawingml/2006/chart" r:id="Rc42bc129e3b842d0"/>
          </a:graphicData>
        </a:graphic>
      </p:graphicFrame>
      <p:graphicFrame>
        <p:nvGraphicFramePr>
          <p:cNvPr id="23" name="Chart">
            <a:extLst xmlns:a="http://schemas.openxmlformats.org/drawingml/2006/main">
              <a:ext uri="{FF2B5EF4-FFF2-40B4-BE49-F238E27FC236}">
                <a16:creationId xmlns:a16="http://schemas.microsoft.com/office/drawing/2014/main" id="{D2757A6D-CC5E-4098-A5AA-84B98ECB3CF9}"/>
              </a:ext>
            </a:extLst>
          </p:cNvPr>
          <p:cNvGraphicFramePr/>
          <p:nvPr/>
        </p:nvGraphicFramePr>
        <p:xfrm>
          <a:off xmlns:a="http://schemas.openxmlformats.org/drawingml/2006/main" x="9105900" y="4648200"/>
          <a:ext xmlns:a="http://schemas.openxmlformats.org/drawingml/2006/main" cx="5086350" cy="2457450"/>
        </p:xfrm>
        <a:graphic xmlns:a="http://schemas.openxmlformats.org/drawingml/2006/main">
          <a:graphicData uri="http://schemas.openxmlformats.org/drawingml/2006/chart">
            <c:chart xmlns:r="http://schemas.openxmlformats.org/officeDocument/2006/relationships" xmlns:c="http://schemas.openxmlformats.org/drawingml/2006/chart" r:id="R526d35c2aa054704"/>
          </a:graphicData>
        </a:graphic>
      </p:graphicFrame>
      <p:sp>
        <p:nvSpPr>
          <p:cNvPr id="24" name="text">
            <a:extLst xmlns:a="http://schemas.openxmlformats.org/drawingml/2006/main">
              <a:ext uri="{FF2B5EF4-FFF2-40B4-BE49-F238E27FC236}">
                <a16:creationId xmlns:a16="http://schemas.microsoft.com/office/drawing/2014/main" id="{004D5A50-AC09-4A79-8EDC-5F0B7D6741F6}"/>
              </a:ext>
            </a:extLst>
          </p:cNvPr>
          <p:cNvSpPr>
            <a:spLocks xmlns:a="http://schemas.openxmlformats.org/drawingml/2006/main" noGrp="1"/>
          </p:cNvSpPr>
          <p:nvPr/>
        </p:nvSpPr>
        <p:spPr>
          <a:xfrm xmlns:a="http://schemas.openxmlformats.org/drawingml/2006/main">
            <a:off x="971550" y="7315200"/>
            <a:ext cx="1341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C9D7E7"/>
                </a:solidFill>
                <a:latin typeface="Nimbus Sans"/>
                <a:ea typeface="Nimbus Sans"/>
                <a:cs typeface="Nimbus Sans"/>
              </a:defRPr>
            </a:defPPr>
          </a:lstStyle>
          <a:p xmlns:a="http://schemas.openxmlformats.org/drawingml/2006/main">
            <a:pPr algn="l">
              <a:defRPr sz="1575" b="0">
                <a:solidFill>
                  <a:srgbClr val="C9D7E7"/>
                </a:solidFill>
                <a:latin typeface="Nimbus Sans"/>
                <a:ea typeface="Nimbus Sans"/>
                <a:cs typeface="Nimbus Sans"/>
              </a:defRPr>
            </a:pPr>
            <a:r>
              <a:rPr sz="1575" b="0">
                <a:solidFill>
                  <a:srgbClr val="C9D7E7"/>
                </a:solidFill>
                <a:latin typeface="Nimbus Sans"/>
                <a:ea typeface="Nimbus Sans"/>
                <a:cs typeface="Nimbus Sans"/>
              </a:rPr>
              <a:t>Freshness strip: license snapshot age, audit coverage, activity summary age and directory check age</a:t>
            </a:r>
          </a:p>
        </p:txBody>
      </p:sp>
    </p:spTree>
    <p:extLst>
      <p:ext uri="{BB962C8B-B14F-4D97-AF65-F5344CB8AC3E}">
        <p14:creationId xmlns:p14="http://schemas.microsoft.com/office/powerpoint/2010/main" val="16727241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E2809CDA-12E7-4657-9AAA-8D334FBD6B5C}"/>
              </a:ext>
            </a:extLst>
          </p:cNvPr>
          <p:cNvCxnSpPr>
            <a:stCxn xmlns:a="http://schemas.openxmlformats.org/drawingml/2006/main" id="17" idx="3"/>
            <a:endCxn xmlns:a="http://schemas.openxmlformats.org/drawingml/2006/main" id="20" idx="1"/>
          </p:cNvCxnSpPr>
          <p:nvPr/>
        </p:nvCxnSpPr>
        <p:spPr>
          <a:xfrm xmlns:a="http://schemas.openxmlformats.org/drawingml/2006/main">
            <a:off x="11677650" y="6938963"/>
            <a:ext cx="2952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851337E5-3FB7-4ADB-A3A6-74CB14201043}"/>
              </a:ext>
            </a:extLst>
          </p:cNvPr>
          <p:cNvCxnSpPr>
            <a:stCxn xmlns:a="http://schemas.openxmlformats.org/drawingml/2006/main" id="14" idx="3"/>
            <a:endCxn xmlns:a="http://schemas.openxmlformats.org/drawingml/2006/main" id="17" idx="1"/>
          </p:cNvCxnSpPr>
          <p:nvPr/>
        </p:nvCxnSpPr>
        <p:spPr>
          <a:xfrm xmlns:a="http://schemas.openxmlformats.org/drawingml/2006/main">
            <a:off x="8858250" y="6938963"/>
            <a:ext cx="2952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FF20F499-70E1-49B5-910C-A1467FC5C4CC}"/>
              </a:ext>
            </a:extLst>
          </p:cNvPr>
          <p:cNvCxnSpPr>
            <a:stCxn xmlns:a="http://schemas.openxmlformats.org/drawingml/2006/main" id="11" idx="3"/>
            <a:endCxn xmlns:a="http://schemas.openxmlformats.org/drawingml/2006/main" id="14" idx="1"/>
          </p:cNvCxnSpPr>
          <p:nvPr/>
        </p:nvCxnSpPr>
        <p:spPr>
          <a:xfrm xmlns:a="http://schemas.openxmlformats.org/drawingml/2006/main">
            <a:off x="6038850" y="6938963"/>
            <a:ext cx="2952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491FA6AC-28FB-41F6-9C90-2D92F2085413}"/>
              </a:ext>
            </a:extLst>
          </p:cNvPr>
          <p:cNvCxnSpPr>
            <a:stCxn xmlns:a="http://schemas.openxmlformats.org/drawingml/2006/main" id="8" idx="3"/>
            <a:endCxn xmlns:a="http://schemas.openxmlformats.org/drawingml/2006/main" id="11" idx="1"/>
          </p:cNvCxnSpPr>
          <p:nvPr/>
        </p:nvCxnSpPr>
        <p:spPr>
          <a:xfrm xmlns:a="http://schemas.openxmlformats.org/drawingml/2006/main">
            <a:off x="3219450" y="6938963"/>
            <a:ext cx="295275" cy="0"/>
          </a:xfrm>
          <a:prstGeom xmlns:a="http://schemas.openxmlformats.org/drawingml/2006/main" prst="straightConnector1">
            <a:avLst/>
          </a:prstGeom>
          <a:ln xmlns:a="http://schemas.openxmlformats.org/drawingml/2006/main" w="22860">
            <a:solidFill>
              <a:srgbClr val="5B6F83"/>
            </a:solidFill>
            <a:prstDash val="solid"/>
            <a:tailEnd type="triangle" w="med" len="med"/>
          </a:ln>
        </p:spPr>
      </p:cxnSp>
      <p:sp>
        <p:nvSpPr>
          <p:cNvPr id="27" name="slide-title">
            <a:extLst xmlns:a="http://schemas.openxmlformats.org/drawingml/2006/main">
              <a:ext uri="{FF2B5EF4-FFF2-40B4-BE49-F238E27FC236}">
                <a16:creationId xmlns:a16="http://schemas.microsoft.com/office/drawing/2014/main" id="{976CF3D6-0E9C-426E-B227-5DF99E8D0565}"/>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Planned candidate drilldown and review</a:t>
            </a:r>
          </a:p>
        </p:txBody>
      </p:sp>
      <p:sp>
        <p:nvSpPr>
          <p:cNvPr id="2" name="slide-subtitle">
            <a:extLst xmlns:a="http://schemas.openxmlformats.org/drawingml/2006/main">
              <a:ext uri="{FF2B5EF4-FFF2-40B4-BE49-F238E27FC236}">
                <a16:creationId xmlns:a16="http://schemas.microsoft.com/office/drawing/2014/main" id="{F154E678-B11A-4ADD-98D8-E35931C338DB}"/>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Illustrative identities and values only. Every row explains why the user needs review</a:t>
            </a:r>
          </a:p>
        </p:txBody>
      </p:sp>
      <p:sp>
        <p:nvSpPr>
          <p:cNvPr id="3" name="">
            <a:extLst xmlns:a="http://schemas.openxmlformats.org/drawingml/2006/main">
              <a:ext uri="{FF2B5EF4-FFF2-40B4-BE49-F238E27FC236}">
                <a16:creationId xmlns:a16="http://schemas.microsoft.com/office/drawing/2014/main" id="{C4B877F4-9081-4BB7-8113-F80F1876B4D2}"/>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65347BD3-DE4B-4D7C-AC72-E54C4BB2427D}"/>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7913D70C-DAEC-48A0-89E3-DEEDE4329E21}"/>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12</a:t>
            </a:r>
          </a:p>
        </p:txBody>
      </p:sp>
      <p:graphicFrame>
        <p:nvGraphicFramePr>
          <p:cNvPr id="6" name="">
            <a:extLst xmlns:a="http://schemas.openxmlformats.org/drawingml/2006/main">
              <a:ext uri="{FF2B5EF4-FFF2-40B4-BE49-F238E27FC236}">
                <a16:creationId xmlns:a16="http://schemas.microsoft.com/office/drawing/2014/main" id="{9CAF2180-6A40-4C77-9AC5-1069FBCA1D52}"/>
              </a:ext>
            </a:extLst>
          </p:cNvPr>
          <p:cNvGraphicFramePr/>
          <p:nvPr/>
        </p:nvGraphicFramePr>
        <p:xfrm>
          <a:off xmlns:a="http://schemas.openxmlformats.org/drawingml/2006/main" x="685800" y="2009775"/>
          <a:ext xmlns:a="http://schemas.openxmlformats.org/drawingml/2006/main" cx="13868400" cy="3086100"/>
        </p:xfrm>
        <a:graphic xmlns:a="http://schemas.openxmlformats.org/drawingml/2006/main">
          <a:graphicData uri="http://schemas.openxmlformats.org/drawingml/2006/table">
            <a:tbl>
              <a:tblPr/>
              <a:tblGrid>
                <a:gridCol w="2571750"/>
                <a:gridCol w="1714500"/>
                <a:gridCol w="2286000"/>
                <a:gridCol w="1428750"/>
                <a:gridCol w="2571750"/>
                <a:gridCol w="3295650"/>
              </a:tblGrid>
              <a:tr h="571500">
                <a:tc>
                  <a:txBody>
                    <a:bodyPr lIns="133350" tIns="123825" rIns="95250" bIns="95250"/>
                    <a:lstStyle/>
                    <a:p>
                      <a:r>
                        <a:rPr sz="1725" b="1">
                          <a:solidFill>
                            <a:srgbClr val="FFFFFF"/>
                          </a:solidFill>
                          <a:latin typeface="Nimbus Sans"/>
                          <a:ea typeface="Nimbus Sans"/>
                          <a:cs typeface="Nimbus Sans"/>
                        </a:rPr>
                        <a:t>User</a:t>
                      </a:r>
                    </a:p>
                  </a:txBody>
                  <a:tcPr marL="91440" marR="91440" marT="45720" marB="45720" anchor="ctr">
                    <a:lnL w="9525">
                      <a:solidFill>
                        <a:srgbClr val="CCD8E3"/>
                      </a:solidFill>
                      <a:prstDash val="solid"/>
                    </a:lnL>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725" b="1">
                          <a:solidFill>
                            <a:srgbClr val="FFFFFF"/>
                          </a:solidFill>
                          <a:latin typeface="Nimbus Sans"/>
                          <a:ea typeface="Nimbus Sans"/>
                          <a:cs typeface="Nimbus Sans"/>
                        </a:rPr>
                        <a:t>Basis</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725" b="1">
                          <a:solidFill>
                            <a:srgbClr val="FFFFFF"/>
                          </a:solidFill>
                          <a:latin typeface="Nimbus Sans"/>
                          <a:ea typeface="Nimbus Sans"/>
                          <a:cs typeface="Nimbus Sans"/>
                        </a:rPr>
                        <a:t>Last signal</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725" b="1">
                          <a:solidFill>
                            <a:srgbClr val="FFFFFF"/>
                          </a:solidFill>
                          <a:latin typeface="Nimbus Sans"/>
                          <a:ea typeface="Nimbus Sans"/>
                          <a:cs typeface="Nimbus Sans"/>
                        </a:rPr>
                        <a:t>Inactive</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725" b="1">
                          <a:solidFill>
                            <a:srgbClr val="FFFFFF"/>
                          </a:solidFill>
                          <a:latin typeface="Nimbus Sans"/>
                          <a:ea typeface="Nimbus Sans"/>
                          <a:cs typeface="Nimbus Sans"/>
                        </a:rPr>
                        <a:t>Eligibility</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c>
                  <a:txBody>
                    <a:bodyPr lIns="133350" tIns="123825" rIns="95250" bIns="95250"/>
                    <a:lstStyle/>
                    <a:p>
                      <a:r>
                        <a:rPr sz="1725" b="1">
                          <a:solidFill>
                            <a:srgbClr val="FFFFFF"/>
                          </a:solidFill>
                          <a:latin typeface="Nimbus Sans"/>
                          <a:ea typeface="Nimbus Sans"/>
                          <a:cs typeface="Nimbus Sans"/>
                        </a:rPr>
                        <a:t>Review status</a:t>
                      </a:r>
                    </a:p>
                  </a:txBody>
                  <a:tcPr marL="91440" marR="91440" marT="45720" marB="45720" anchor="ctr">
                    <a:lnR w="9525">
                      <a:solidFill>
                        <a:srgbClr val="CCD8E3"/>
                      </a:solidFill>
                      <a:prstDash val="solid"/>
                    </a:lnR>
                    <a:lnT w="9525">
                      <a:solidFill>
                        <a:srgbClr val="CCD8E3"/>
                      </a:solidFill>
                      <a:prstDash val="solid"/>
                    </a:lnT>
                    <a:lnB w="9525">
                      <a:solidFill>
                        <a:srgbClr val="CCD8E3"/>
                      </a:solidFill>
                      <a:prstDash val="solid"/>
                    </a:lnB>
                    <a:solidFill>
                      <a:srgbClr val="073763"/>
                    </a:solidFill>
                  </a:tcPr>
                </a:tc>
              </a:tr>
              <a:tr h="628650">
                <a:tc>
                  <a:txBody>
                    <a:bodyPr lIns="133350" tIns="123825" rIns="95250" bIns="95250"/>
                    <a:lstStyle/>
                    <a:p>
                      <a:r>
                        <a:rPr sz="1725" b="0">
                          <a:solidFill>
                            <a:srgbClr val="112D49"/>
                          </a:solidFill>
                          <a:latin typeface="Nimbus Sans"/>
                          <a:ea typeface="Nimbus Sans"/>
                          <a:cs typeface="Nimbus Sans"/>
                        </a:rPr>
                        <a:t>sample-user-01</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Activity</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2026-06-15</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123d</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Eligible</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Pending manager</a:t>
                      </a:r>
                    </a:p>
                  </a:txBody>
                  <a:tcPr marL="91440" marR="91440" marT="45720" marB="45720" anchor="ctr">
                    <a:lnR w="9525">
                      <a:solidFill>
                        <a:srgbClr val="CCD8E3"/>
                      </a:solidFill>
                      <a:prstDash val="solid"/>
                    </a:lnR>
                    <a:lnB w="9525">
                      <a:solidFill>
                        <a:srgbClr val="CCD8E3"/>
                      </a:solidFill>
                      <a:prstDash val="solid"/>
                    </a:lnB>
                    <a:solidFill>
                      <a:srgbClr val="FFFFFF"/>
                    </a:solidFill>
                  </a:tcPr>
                </a:tc>
              </a:tr>
              <a:tr h="628650">
                <a:tc>
                  <a:txBody>
                    <a:bodyPr lIns="133350" tIns="123825" rIns="95250" bIns="95250"/>
                    <a:lstStyle/>
                    <a:p>
                      <a:r>
                        <a:rPr sz="1725" b="0">
                          <a:solidFill>
                            <a:srgbClr val="112D49"/>
                          </a:solidFill>
                          <a:latin typeface="Nimbus Sans"/>
                          <a:ea typeface="Nimbus Sans"/>
                          <a:cs typeface="Nimbus Sans"/>
                        </a:rPr>
                        <a:t>sample-user-02</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SSO</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2026-06-20</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118d</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Eligible</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Notify user</a:t>
                      </a:r>
                    </a:p>
                  </a:txBody>
                  <a:tcPr marL="91440" marR="91440" marT="45720" marB="45720" anchor="ctr">
                    <a:lnR w="9525">
                      <a:solidFill>
                        <a:srgbClr val="CCD8E3"/>
                      </a:solidFill>
                      <a:prstDash val="solid"/>
                    </a:lnR>
                    <a:lnB w="9525">
                      <a:solidFill>
                        <a:srgbClr val="CCD8E3"/>
                      </a:solidFill>
                      <a:prstDash val="solid"/>
                    </a:lnB>
                    <a:solidFill>
                      <a:srgbClr val="F3F7FB"/>
                    </a:solidFill>
                  </a:tcPr>
                </a:tc>
              </a:tr>
              <a:tr h="628650">
                <a:tc>
                  <a:txBody>
                    <a:bodyPr lIns="133350" tIns="123825" rIns="95250" bIns="95250"/>
                    <a:lstStyle/>
                    <a:p>
                      <a:r>
                        <a:rPr sz="1725" b="0">
                          <a:solidFill>
                            <a:srgbClr val="112D49"/>
                          </a:solidFill>
                          <a:latin typeface="Nimbus Sans"/>
                          <a:ea typeface="Nimbus Sans"/>
                          <a:cs typeface="Nimbus Sans"/>
                        </a:rPr>
                        <a:t>sample-user-03</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Activity</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No signal</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Unknown</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Evidence review</a:t>
                      </a:r>
                    </a:p>
                  </a:txBody>
                  <a:tcPr marL="91440" marR="91440" marT="45720" marB="45720" anchor="ctr">
                    <a:lnR w="9525">
                      <a:solidFill>
                        <a:srgbClr val="CCD8E3"/>
                      </a:solidFill>
                      <a:prstDash val="solid"/>
                    </a:lnR>
                    <a:lnB w="9525">
                      <a:solidFill>
                        <a:srgbClr val="CCD8E3"/>
                      </a:solidFill>
                      <a:prstDash val="solid"/>
                    </a:lnB>
                    <a:solidFill>
                      <a:srgbClr val="FFFFFF"/>
                    </a:solidFill>
                  </a:tcPr>
                </a:tc>
                <a:tc>
                  <a:txBody>
                    <a:bodyPr lIns="133350" tIns="123825" rIns="95250" bIns="95250"/>
                    <a:lstStyle/>
                    <a:p>
                      <a:r>
                        <a:rPr sz="1725" b="0">
                          <a:solidFill>
                            <a:srgbClr val="112D49"/>
                          </a:solidFill>
                          <a:latin typeface="Nimbus Sans"/>
                          <a:ea typeface="Nimbus Sans"/>
                          <a:cs typeface="Nimbus Sans"/>
                        </a:rPr>
                        <a:t>Mapping check</a:t>
                      </a:r>
                    </a:p>
                  </a:txBody>
                  <a:tcPr marL="91440" marR="91440" marT="45720" marB="45720" anchor="ctr">
                    <a:lnR w="9525">
                      <a:solidFill>
                        <a:srgbClr val="CCD8E3"/>
                      </a:solidFill>
                      <a:prstDash val="solid"/>
                    </a:lnR>
                    <a:lnB w="9525">
                      <a:solidFill>
                        <a:srgbClr val="CCD8E3"/>
                      </a:solidFill>
                      <a:prstDash val="solid"/>
                    </a:lnB>
                    <a:solidFill>
                      <a:srgbClr val="FFFFFF"/>
                    </a:solidFill>
                  </a:tcPr>
                </a:tc>
              </a:tr>
              <a:tr h="628650">
                <a:tc>
                  <a:txBody>
                    <a:bodyPr lIns="133350" tIns="123825" rIns="95250" bIns="95250"/>
                    <a:lstStyle/>
                    <a:p>
                      <a:r>
                        <a:rPr sz="1725" b="0">
                          <a:solidFill>
                            <a:srgbClr val="112D49"/>
                          </a:solidFill>
                          <a:latin typeface="Nimbus Sans"/>
                          <a:ea typeface="Nimbus Sans"/>
                          <a:cs typeface="Nimbus Sans"/>
                        </a:rPr>
                        <a:t>sample-svc-01</a:t>
                      </a:r>
                    </a:p>
                  </a:txBody>
                  <a:tcPr marL="91440" marR="91440" marT="45720" marB="45720" anchor="ctr">
                    <a:lnL w="9525">
                      <a:solidFill>
                        <a:srgbClr val="CCD8E3"/>
                      </a:solidFill>
                      <a:prstDash val="solid"/>
                    </a:lnL>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Activity</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2026-05-10</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159d</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Service exemption</a:t>
                      </a:r>
                    </a:p>
                  </a:txBody>
                  <a:tcPr marL="91440" marR="91440" marT="45720" marB="45720" anchor="ctr">
                    <a:lnR w="9525">
                      <a:solidFill>
                        <a:srgbClr val="CCD8E3"/>
                      </a:solidFill>
                      <a:prstDash val="solid"/>
                    </a:lnR>
                    <a:lnB w="9525">
                      <a:solidFill>
                        <a:srgbClr val="CCD8E3"/>
                      </a:solidFill>
                      <a:prstDash val="solid"/>
                    </a:lnB>
                    <a:solidFill>
                      <a:srgbClr val="F3F7FB"/>
                    </a:solidFill>
                  </a:tcPr>
                </a:tc>
                <a:tc>
                  <a:txBody>
                    <a:bodyPr lIns="133350" tIns="123825" rIns="95250" bIns="95250"/>
                    <a:lstStyle/>
                    <a:p>
                      <a:r>
                        <a:rPr sz="1725" b="0">
                          <a:solidFill>
                            <a:srgbClr val="112D49"/>
                          </a:solidFill>
                          <a:latin typeface="Nimbus Sans"/>
                          <a:ea typeface="Nimbus Sans"/>
                          <a:cs typeface="Nimbus Sans"/>
                        </a:rPr>
                        <a:t>Excluded</a:t>
                      </a:r>
                    </a:p>
                  </a:txBody>
                  <a:tcPr marL="91440" marR="91440" marT="45720" marB="45720" anchor="ctr">
                    <a:lnR w="9525">
                      <a:solidFill>
                        <a:srgbClr val="CCD8E3"/>
                      </a:solidFill>
                      <a:prstDash val="solid"/>
                    </a:lnR>
                    <a:lnB w="9525">
                      <a:solidFill>
                        <a:srgbClr val="CCD8E3"/>
                      </a:solidFill>
                      <a:prstDash val="solid"/>
                    </a:lnB>
                    <a:solidFill>
                      <a:srgbClr val="F3F7FB"/>
                    </a:solidFill>
                  </a:tcPr>
                </a:tc>
              </a:tr>
            </a:tbl>
          </a:graphicData>
        </a:graphic>
      </p:graphicFrame>
      <p:sp>
        <p:nvSpPr>
          <p:cNvPr id="7" name="text">
            <a:extLst xmlns:a="http://schemas.openxmlformats.org/drawingml/2006/main">
              <a:ext uri="{FF2B5EF4-FFF2-40B4-BE49-F238E27FC236}">
                <a16:creationId xmlns:a16="http://schemas.microsoft.com/office/drawing/2014/main" id="{9B651678-5D5C-4E82-A321-10664CB8383D}"/>
              </a:ext>
            </a:extLst>
          </p:cNvPr>
          <p:cNvSpPr>
            <a:spLocks xmlns:a="http://schemas.openxmlformats.org/drawingml/2006/main" noGrp="1"/>
          </p:cNvSpPr>
          <p:nvPr/>
        </p:nvSpPr>
        <p:spPr>
          <a:xfrm xmlns:a="http://schemas.openxmlformats.org/drawingml/2006/main">
            <a:off x="733425" y="5314950"/>
            <a:ext cx="1375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5B6F83"/>
                </a:solidFill>
                <a:latin typeface="Nimbus Sans"/>
                <a:ea typeface="Nimbus Sans"/>
                <a:cs typeface="Nimbus Sans"/>
              </a:defRPr>
            </a:defPPr>
          </a:lstStyle>
          <a:p xmlns:a="http://schemas.openxmlformats.org/drawingml/2006/main">
            <a:pPr algn="l">
              <a:defRPr sz="1875" b="0">
                <a:solidFill>
                  <a:srgbClr val="5B6F83"/>
                </a:solidFill>
                <a:latin typeface="Nimbus Sans"/>
                <a:ea typeface="Nimbus Sans"/>
                <a:cs typeface="Nimbus Sans"/>
              </a:defRPr>
            </a:pPr>
            <a:r>
              <a:rPr sz="1875" b="0">
                <a:solidFill>
                  <a:srgbClr val="5B6F83"/>
                </a:solidFill>
                <a:latin typeface="Nimbus Sans"/>
                <a:ea typeface="Nimbus Sans"/>
                <a:cs typeface="Nimbus Sans"/>
              </a:rPr>
              <a:t>Row details: UBR / manager, Git and SSO timestamps, source freshness, group checks, exception and evidence links</a:t>
            </a:r>
          </a:p>
        </p:txBody>
      </p:sp>
      <p:sp>
        <p:nvSpPr>
          <p:cNvPr id="8" name="Candidate">
            <a:extLst xmlns:a="http://schemas.openxmlformats.org/drawingml/2006/main">
              <a:ext uri="{FF2B5EF4-FFF2-40B4-BE49-F238E27FC236}">
                <a16:creationId xmlns:a16="http://schemas.microsoft.com/office/drawing/2014/main" id="{BF730DC8-D77F-477C-8A14-F08522CF9711}"/>
              </a:ext>
            </a:extLst>
          </p:cNvPr>
          <p:cNvSpPr>
            <a:spLocks xmlns:a="http://schemas.openxmlformats.org/drawingml/2006/main" noGrp="1"/>
          </p:cNvSpPr>
          <p:nvPr/>
        </p:nvSpPr>
        <p:spPr>
          <a:xfrm xmlns:a="http://schemas.openxmlformats.org/drawingml/2006/main">
            <a:off x="695325" y="6410325"/>
            <a:ext cx="2524125" cy="1057275"/>
          </a:xfrm>
          <a:prstGeom xmlns:a="http://schemas.openxmlformats.org/drawingml/2006/main" prst="roundRect">
            <a:avLst>
              <a:gd name="adj" fmla="val 8108"/>
            </a:avLst>
          </a:prstGeom>
          <a:solidFill xmlns:a="http://schemas.openxmlformats.org/drawingml/2006/main">
            <a:srgbClr val="EDF7F1"/>
          </a:solidFill>
          <a:ln xmlns:a="http://schemas.openxmlformats.org/drawingml/2006/main" w="13335">
            <a:solidFill>
              <a:srgbClr val="228455"/>
            </a:solidFill>
            <a:prstDash val="solid"/>
          </a:ln>
        </p:spPr>
      </p:sp>
      <p:pic>
        <p:nvPicPr>
          <p:cNvPr id="9" name="">
            <a:extLst xmlns:a="http://schemas.openxmlformats.org/drawingml/2006/main">
              <a:ext uri="{FF2B5EF4-FFF2-40B4-BE49-F238E27FC236}">
                <a16:creationId xmlns:a16="http://schemas.microsoft.com/office/drawing/2014/main" id="{A6DC486A-CA76-46E7-8F7F-811397C4A196}"/>
              </a:ext>
            </a:extLst>
          </p:cNvPr>
          <p:cNvPicPr>
            <a:picLocks xmlns:a="http://schemas.openxmlformats.org/drawingml/2006/main" noChangeAspect="1"/>
          </p:cNvPicPr>
          <p:nvPr/>
        </p:nvPicPr>
        <p:blipFill>
          <a:blip xmlns:r="http://schemas.openxmlformats.org/officeDocument/2006/relationships" xmlns:a="http://schemas.openxmlformats.org/drawingml/2006/main" r:embed="Re49ae52a299d4cb6">
            <a:extLst>
              <a:ext uri="{96DAC541-7B7A-43D3-8B79-37D633B846F1}">
                <asvg:svgBlip xmlns:asvg="http://schemas.microsoft.com/office/drawing/2016/SVG/main" r:embed="R98a8a28bfc7343c1"/>
              </a:ext>
            </a:extLst>
          </a:blip>
          <a:stretch xmlns:a="http://schemas.openxmlformats.org/drawingml/2006/main"/>
        </p:blipFill>
        <p:spPr>
          <a:xfrm xmlns:a="http://schemas.openxmlformats.org/drawingml/2006/main">
            <a:off x="885825" y="6591300"/>
            <a:ext cx="457200" cy="45720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EC1AEAFF-BDA0-445B-B745-37758A8AB5B7}"/>
              </a:ext>
            </a:extLst>
          </p:cNvPr>
          <p:cNvSpPr>
            <a:spLocks xmlns:a="http://schemas.openxmlformats.org/drawingml/2006/main" noGrp="1"/>
          </p:cNvSpPr>
          <p:nvPr/>
        </p:nvSpPr>
        <p:spPr>
          <a:xfrm xmlns:a="http://schemas.openxmlformats.org/drawingml/2006/main">
            <a:off x="1504950" y="6591300"/>
            <a:ext cx="1571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Candidate</a:t>
            </a:r>
          </a:p>
        </p:txBody>
      </p:sp>
      <p:sp>
        <p:nvSpPr>
          <p:cNvPr id="11" name="Manager review">
            <a:extLst xmlns:a="http://schemas.openxmlformats.org/drawingml/2006/main">
              <a:ext uri="{FF2B5EF4-FFF2-40B4-BE49-F238E27FC236}">
                <a16:creationId xmlns:a16="http://schemas.microsoft.com/office/drawing/2014/main" id="{DC17D545-A31B-4396-A6FC-1D2B2477051C}"/>
              </a:ext>
            </a:extLst>
          </p:cNvPr>
          <p:cNvSpPr>
            <a:spLocks xmlns:a="http://schemas.openxmlformats.org/drawingml/2006/main" noGrp="1"/>
          </p:cNvSpPr>
          <p:nvPr/>
        </p:nvSpPr>
        <p:spPr>
          <a:xfrm xmlns:a="http://schemas.openxmlformats.org/drawingml/2006/main">
            <a:off x="3514725" y="6410325"/>
            <a:ext cx="2524125" cy="1057275"/>
          </a:xfrm>
          <a:prstGeom xmlns:a="http://schemas.openxmlformats.org/drawingml/2006/main" prst="roundRect">
            <a:avLst>
              <a:gd name="adj" fmla="val 8108"/>
            </a:avLst>
          </a:prstGeom>
          <a:solidFill xmlns:a="http://schemas.openxmlformats.org/drawingml/2006/main">
            <a:srgbClr val="EDF7F1"/>
          </a:solidFill>
          <a:ln xmlns:a="http://schemas.openxmlformats.org/drawingml/2006/main" w="13335">
            <a:solidFill>
              <a:srgbClr val="228455"/>
            </a:solidFill>
            <a:prstDash val="solid"/>
          </a:ln>
        </p:spPr>
      </p:sp>
      <p:pic>
        <p:nvPicPr>
          <p:cNvPr id="12" name="">
            <a:extLst xmlns:a="http://schemas.openxmlformats.org/drawingml/2006/main">
              <a:ext uri="{FF2B5EF4-FFF2-40B4-BE49-F238E27FC236}">
                <a16:creationId xmlns:a16="http://schemas.microsoft.com/office/drawing/2014/main" id="{9F6AFAC6-EE37-48E8-91B8-2A894228CB1D}"/>
              </a:ext>
            </a:extLst>
          </p:cNvPr>
          <p:cNvPicPr>
            <a:picLocks xmlns:a="http://schemas.openxmlformats.org/drawingml/2006/main" noChangeAspect="1"/>
          </p:cNvPicPr>
          <p:nvPr/>
        </p:nvPicPr>
        <p:blipFill>
          <a:blip xmlns:r="http://schemas.openxmlformats.org/officeDocument/2006/relationships" xmlns:a="http://schemas.openxmlformats.org/drawingml/2006/main" r:embed="Rcea51dc5d21347a3">
            <a:extLst>
              <a:ext uri="{96DAC541-7B7A-43D3-8B79-37D633B846F1}">
                <asvg:svgBlip xmlns:asvg="http://schemas.microsoft.com/office/drawing/2016/SVG/main" r:embed="Rebb7af0f9efa412e"/>
              </a:ext>
            </a:extLst>
          </a:blip>
          <a:stretch xmlns:a="http://schemas.openxmlformats.org/drawingml/2006/main"/>
        </p:blipFill>
        <p:spPr>
          <a:xfrm xmlns:a="http://schemas.openxmlformats.org/drawingml/2006/main">
            <a:off x="3705225" y="6591300"/>
            <a:ext cx="457200" cy="4572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E1FA8890-DBA7-4A2B-B8F2-62B90E003D4A}"/>
              </a:ext>
            </a:extLst>
          </p:cNvPr>
          <p:cNvSpPr>
            <a:spLocks xmlns:a="http://schemas.openxmlformats.org/drawingml/2006/main" noGrp="1"/>
          </p:cNvSpPr>
          <p:nvPr/>
        </p:nvSpPr>
        <p:spPr>
          <a:xfrm xmlns:a="http://schemas.openxmlformats.org/drawingml/2006/main">
            <a:off x="4324350" y="6591300"/>
            <a:ext cx="1571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Manager review</a:t>
            </a:r>
          </a:p>
        </p:txBody>
      </p:sp>
      <p:sp>
        <p:nvSpPr>
          <p:cNvPr id="14" name="Notify + grace">
            <a:extLst xmlns:a="http://schemas.openxmlformats.org/drawingml/2006/main">
              <a:ext uri="{FF2B5EF4-FFF2-40B4-BE49-F238E27FC236}">
                <a16:creationId xmlns:a16="http://schemas.microsoft.com/office/drawing/2014/main" id="{AD37A6E6-9B54-47E9-9204-8CE15005C549}"/>
              </a:ext>
            </a:extLst>
          </p:cNvPr>
          <p:cNvSpPr>
            <a:spLocks xmlns:a="http://schemas.openxmlformats.org/drawingml/2006/main" noGrp="1"/>
          </p:cNvSpPr>
          <p:nvPr/>
        </p:nvSpPr>
        <p:spPr>
          <a:xfrm xmlns:a="http://schemas.openxmlformats.org/drawingml/2006/main">
            <a:off x="6334125" y="6410325"/>
            <a:ext cx="2524125" cy="1057275"/>
          </a:xfrm>
          <a:prstGeom xmlns:a="http://schemas.openxmlformats.org/drawingml/2006/main" prst="roundRect">
            <a:avLst>
              <a:gd name="adj" fmla="val 8108"/>
            </a:avLst>
          </a:prstGeom>
          <a:solidFill xmlns:a="http://schemas.openxmlformats.org/drawingml/2006/main">
            <a:srgbClr val="EDF7F1"/>
          </a:solidFill>
          <a:ln xmlns:a="http://schemas.openxmlformats.org/drawingml/2006/main" w="13335">
            <a:solidFill>
              <a:srgbClr val="228455"/>
            </a:solidFill>
            <a:prstDash val="solid"/>
          </a:ln>
        </p:spPr>
      </p:sp>
      <p:pic>
        <p:nvPicPr>
          <p:cNvPr id="15" name="">
            <a:extLst xmlns:a="http://schemas.openxmlformats.org/drawingml/2006/main">
              <a:ext uri="{FF2B5EF4-FFF2-40B4-BE49-F238E27FC236}">
                <a16:creationId xmlns:a16="http://schemas.microsoft.com/office/drawing/2014/main" id="{F7A9F795-CC0A-41FB-8899-CC15C0BE60A1}"/>
              </a:ext>
            </a:extLst>
          </p:cNvPr>
          <p:cNvPicPr>
            <a:picLocks xmlns:a="http://schemas.openxmlformats.org/drawingml/2006/main" noChangeAspect="1"/>
          </p:cNvPicPr>
          <p:nvPr/>
        </p:nvPicPr>
        <p:blipFill>
          <a:blip xmlns:r="http://schemas.openxmlformats.org/officeDocument/2006/relationships" xmlns:a="http://schemas.openxmlformats.org/drawingml/2006/main" r:embed="R4e1309dfc3f24112">
            <a:extLst>
              <a:ext uri="{96DAC541-7B7A-43D3-8B79-37D633B846F1}">
                <asvg:svgBlip xmlns:asvg="http://schemas.microsoft.com/office/drawing/2016/SVG/main" r:embed="Rf9512ee8121f4991"/>
              </a:ext>
            </a:extLst>
          </a:blip>
          <a:stretch xmlns:a="http://schemas.openxmlformats.org/drawingml/2006/main"/>
        </p:blipFill>
        <p:spPr>
          <a:xfrm xmlns:a="http://schemas.openxmlformats.org/drawingml/2006/main">
            <a:off x="6524625" y="6591300"/>
            <a:ext cx="457200" cy="457200"/>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23B6ED39-4F07-4EA7-8157-4E55458CE6CA}"/>
              </a:ext>
            </a:extLst>
          </p:cNvPr>
          <p:cNvSpPr>
            <a:spLocks xmlns:a="http://schemas.openxmlformats.org/drawingml/2006/main" noGrp="1"/>
          </p:cNvSpPr>
          <p:nvPr/>
        </p:nvSpPr>
        <p:spPr>
          <a:xfrm xmlns:a="http://schemas.openxmlformats.org/drawingml/2006/main">
            <a:off x="7143750" y="6591300"/>
            <a:ext cx="1571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Notify + grace</a:t>
            </a:r>
          </a:p>
        </p:txBody>
      </p:sp>
      <p:sp>
        <p:nvSpPr>
          <p:cNvPr id="17" name="Approved action">
            <a:extLst xmlns:a="http://schemas.openxmlformats.org/drawingml/2006/main">
              <a:ext uri="{FF2B5EF4-FFF2-40B4-BE49-F238E27FC236}">
                <a16:creationId xmlns:a16="http://schemas.microsoft.com/office/drawing/2014/main" id="{34D1CBD9-A2FC-4B52-8935-C7DAFB8FAAAE}"/>
              </a:ext>
            </a:extLst>
          </p:cNvPr>
          <p:cNvSpPr>
            <a:spLocks xmlns:a="http://schemas.openxmlformats.org/drawingml/2006/main" noGrp="1"/>
          </p:cNvSpPr>
          <p:nvPr/>
        </p:nvSpPr>
        <p:spPr>
          <a:xfrm xmlns:a="http://schemas.openxmlformats.org/drawingml/2006/main">
            <a:off x="9153525" y="6410325"/>
            <a:ext cx="2524125" cy="1057275"/>
          </a:xfrm>
          <a:prstGeom xmlns:a="http://schemas.openxmlformats.org/drawingml/2006/main" prst="roundRect">
            <a:avLst>
              <a:gd name="adj" fmla="val 8108"/>
            </a:avLst>
          </a:prstGeom>
          <a:solidFill xmlns:a="http://schemas.openxmlformats.org/drawingml/2006/main">
            <a:srgbClr val="EDF7F1"/>
          </a:solidFill>
          <a:ln xmlns:a="http://schemas.openxmlformats.org/drawingml/2006/main" w="13335">
            <a:solidFill>
              <a:srgbClr val="228455"/>
            </a:solidFill>
            <a:prstDash val="solid"/>
          </a:ln>
        </p:spPr>
      </p:sp>
      <p:pic>
        <p:nvPicPr>
          <p:cNvPr id="18" name="">
            <a:extLst xmlns:a="http://schemas.openxmlformats.org/drawingml/2006/main">
              <a:ext uri="{FF2B5EF4-FFF2-40B4-BE49-F238E27FC236}">
                <a16:creationId xmlns:a16="http://schemas.microsoft.com/office/drawing/2014/main" id="{27C94480-9EB8-4DEE-83E2-BA96A661507D}"/>
              </a:ext>
            </a:extLst>
          </p:cNvPr>
          <p:cNvPicPr>
            <a:picLocks xmlns:a="http://schemas.openxmlformats.org/drawingml/2006/main" noChangeAspect="1"/>
          </p:cNvPicPr>
          <p:nvPr/>
        </p:nvPicPr>
        <p:blipFill>
          <a:blip xmlns:r="http://schemas.openxmlformats.org/officeDocument/2006/relationships" xmlns:a="http://schemas.openxmlformats.org/drawingml/2006/main" r:embed="Raa7de0ed6fef4cbe">
            <a:extLst>
              <a:ext uri="{96DAC541-7B7A-43D3-8B79-37D633B846F1}">
                <asvg:svgBlip xmlns:asvg="http://schemas.microsoft.com/office/drawing/2016/SVG/main" r:embed="R140e6b11d75944cb"/>
              </a:ext>
            </a:extLst>
          </a:blip>
          <a:stretch xmlns:a="http://schemas.openxmlformats.org/drawingml/2006/main"/>
        </p:blipFill>
        <p:spPr>
          <a:xfrm xmlns:a="http://schemas.openxmlformats.org/drawingml/2006/main">
            <a:off x="9344025" y="6591300"/>
            <a:ext cx="457200" cy="45720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4AB9A257-E3BB-40AB-9A77-0FEADAC10399}"/>
              </a:ext>
            </a:extLst>
          </p:cNvPr>
          <p:cNvSpPr>
            <a:spLocks xmlns:a="http://schemas.openxmlformats.org/drawingml/2006/main" noGrp="1"/>
          </p:cNvSpPr>
          <p:nvPr/>
        </p:nvSpPr>
        <p:spPr>
          <a:xfrm xmlns:a="http://schemas.openxmlformats.org/drawingml/2006/main">
            <a:off x="9963150" y="6591300"/>
            <a:ext cx="1571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Approved action</a:t>
            </a:r>
          </a:p>
        </p:txBody>
      </p:sp>
      <p:sp>
        <p:nvSpPr>
          <p:cNvPr id="20" name="Verify outcome">
            <a:extLst xmlns:a="http://schemas.openxmlformats.org/drawingml/2006/main">
              <a:ext uri="{FF2B5EF4-FFF2-40B4-BE49-F238E27FC236}">
                <a16:creationId xmlns:a16="http://schemas.microsoft.com/office/drawing/2014/main" id="{3FD01F52-285B-4470-8910-3F0911675890}"/>
              </a:ext>
            </a:extLst>
          </p:cNvPr>
          <p:cNvSpPr>
            <a:spLocks xmlns:a="http://schemas.openxmlformats.org/drawingml/2006/main" noGrp="1"/>
          </p:cNvSpPr>
          <p:nvPr/>
        </p:nvSpPr>
        <p:spPr>
          <a:xfrm xmlns:a="http://schemas.openxmlformats.org/drawingml/2006/main">
            <a:off x="11972925" y="6410325"/>
            <a:ext cx="2524125" cy="1057275"/>
          </a:xfrm>
          <a:prstGeom xmlns:a="http://schemas.openxmlformats.org/drawingml/2006/main" prst="roundRect">
            <a:avLst>
              <a:gd name="adj" fmla="val 8108"/>
            </a:avLst>
          </a:prstGeom>
          <a:solidFill xmlns:a="http://schemas.openxmlformats.org/drawingml/2006/main">
            <a:srgbClr val="EDF7F1"/>
          </a:solidFill>
          <a:ln xmlns:a="http://schemas.openxmlformats.org/drawingml/2006/main" w="13335">
            <a:solidFill>
              <a:srgbClr val="228455"/>
            </a:solidFill>
            <a:prstDash val="solid"/>
          </a:ln>
        </p:spPr>
      </p:sp>
      <p:pic>
        <p:nvPicPr>
          <p:cNvPr id="21" name="">
            <a:extLst xmlns:a="http://schemas.openxmlformats.org/drawingml/2006/main">
              <a:ext uri="{FF2B5EF4-FFF2-40B4-BE49-F238E27FC236}">
                <a16:creationId xmlns:a16="http://schemas.microsoft.com/office/drawing/2014/main" id="{5FD606C9-5504-4F27-BBD0-B0DBD7BCEE02}"/>
              </a:ext>
            </a:extLst>
          </p:cNvPr>
          <p:cNvPicPr>
            <a:picLocks xmlns:a="http://schemas.openxmlformats.org/drawingml/2006/main" noChangeAspect="1"/>
          </p:cNvPicPr>
          <p:nvPr/>
        </p:nvPicPr>
        <p:blipFill>
          <a:blip xmlns:r="http://schemas.openxmlformats.org/officeDocument/2006/relationships" xmlns:a="http://schemas.openxmlformats.org/drawingml/2006/main" r:embed="Rbe2795a9cda84c96">
            <a:extLst>
              <a:ext uri="{96DAC541-7B7A-43D3-8B79-37D633B846F1}">
                <asvg:svgBlip xmlns:asvg="http://schemas.microsoft.com/office/drawing/2016/SVG/main" r:embed="R33bd5b901c6c47b9"/>
              </a:ext>
            </a:extLst>
          </a:blip>
          <a:stretch xmlns:a="http://schemas.openxmlformats.org/drawingml/2006/main"/>
        </p:blipFill>
        <p:spPr>
          <a:xfrm xmlns:a="http://schemas.openxmlformats.org/drawingml/2006/main">
            <a:off x="12163425" y="6591300"/>
            <a:ext cx="457200" cy="457200"/>
          </a:xfrm>
          <a:prstGeom xmlns:a="http://schemas.openxmlformats.org/drawingml/2006/main" prst="rect">
            <a:avLst/>
          </a:prstGeom>
        </p:spPr>
      </p:pic>
      <p:sp>
        <p:nvSpPr>
          <p:cNvPr id="22" name="text">
            <a:extLst xmlns:a="http://schemas.openxmlformats.org/drawingml/2006/main">
              <a:ext uri="{FF2B5EF4-FFF2-40B4-BE49-F238E27FC236}">
                <a16:creationId xmlns:a16="http://schemas.microsoft.com/office/drawing/2014/main" id="{B1155110-6F7E-4BEB-9E47-9826219139AC}"/>
              </a:ext>
            </a:extLst>
          </p:cNvPr>
          <p:cNvSpPr>
            <a:spLocks xmlns:a="http://schemas.openxmlformats.org/drawingml/2006/main" noGrp="1"/>
          </p:cNvSpPr>
          <p:nvPr/>
        </p:nvSpPr>
        <p:spPr>
          <a:xfrm xmlns:a="http://schemas.openxmlformats.org/drawingml/2006/main">
            <a:off x="12782550" y="6591300"/>
            <a:ext cx="1571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12D49"/>
                </a:solidFill>
                <a:latin typeface="Nimbus Sans"/>
                <a:ea typeface="Nimbus Sans"/>
                <a:cs typeface="Nimbus Sans"/>
              </a:defRPr>
            </a:defPPr>
          </a:lstStyle>
          <a:p xmlns:a="http://schemas.openxmlformats.org/drawingml/2006/main">
            <a:pPr algn="l">
              <a:defRPr sz="1875" b="1">
                <a:solidFill>
                  <a:srgbClr val="112D49"/>
                </a:solidFill>
                <a:latin typeface="Nimbus Sans"/>
                <a:ea typeface="Nimbus Sans"/>
                <a:cs typeface="Nimbus Sans"/>
              </a:defRPr>
            </a:pPr>
            <a:r>
              <a:rPr sz="1875" b="1">
                <a:solidFill>
                  <a:srgbClr val="112D49"/>
                </a:solidFill>
                <a:latin typeface="Nimbus Sans"/>
                <a:ea typeface="Nimbus Sans"/>
                <a:cs typeface="Nimbus Sans"/>
              </a:rPr>
              <a:t>Verify outcome</a:t>
            </a:r>
          </a:p>
        </p:txBody>
      </p:sp>
    </p:spTree>
    <p:extLst>
      <p:ext uri="{BB962C8B-B14F-4D97-AF65-F5344CB8AC3E}">
        <p14:creationId xmlns:p14="http://schemas.microsoft.com/office/powerpoint/2010/main" val="16311896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13A2F11F-F5F2-4B78-BD6A-132712F8CA1A}"/>
              </a:ext>
            </a:extLst>
          </p:cNvPr>
          <p:cNvSpPr>
            <a:spLocks xmlns:a="http://schemas.openxmlformats.org/drawingml/2006/main" noGrp="1"/>
          </p:cNvSpPr>
          <p:nvPr/>
        </p:nvSpPr>
        <p:spPr>
          <a:xfrm xmlns:a="http://schemas.openxmlformats.org/drawingml/2006/main">
            <a:off x="666750" y="447675"/>
            <a:ext cx="13716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73763"/>
                </a:solidFill>
                <a:latin typeface="Nimbus Sans"/>
                <a:ea typeface="Nimbus Sans"/>
                <a:cs typeface="Nimbus Sans"/>
              </a:defRPr>
            </a:defPPr>
          </a:lstStyle>
          <a:p xmlns:a="http://schemas.openxmlformats.org/drawingml/2006/main">
            <a:pPr algn="l">
              <a:defRPr sz="3600" b="1">
                <a:solidFill>
                  <a:srgbClr val="073763"/>
                </a:solidFill>
                <a:latin typeface="Nimbus Sans"/>
                <a:ea typeface="Nimbus Sans"/>
                <a:cs typeface="Nimbus Sans"/>
              </a:defRPr>
            </a:pPr>
            <a:r>
              <a:rPr sz="3600" b="1">
                <a:solidFill>
                  <a:srgbClr val="073763"/>
                </a:solidFill>
                <a:latin typeface="Nimbus Sans"/>
                <a:ea typeface="Nimbus Sans"/>
                <a:cs typeface="Nimbus Sans"/>
              </a:rPr>
              <a:t>Next milestone and manager decisions</a:t>
            </a:r>
          </a:p>
        </p:txBody>
      </p:sp>
      <p:sp>
        <p:nvSpPr>
          <p:cNvPr id="2" name="slide-subtitle">
            <a:extLst xmlns:a="http://schemas.openxmlformats.org/drawingml/2006/main">
              <a:ext uri="{FF2B5EF4-FFF2-40B4-BE49-F238E27FC236}">
                <a16:creationId xmlns:a16="http://schemas.microsoft.com/office/drawing/2014/main" id="{DA43CC04-1E30-4129-ADE1-98D84C837920}"/>
              </a:ext>
            </a:extLst>
          </p:cNvPr>
          <p:cNvSpPr>
            <a:spLocks xmlns:a="http://schemas.openxmlformats.org/drawingml/2006/main" noGrp="1"/>
          </p:cNvSpPr>
          <p:nvPr/>
        </p:nvSpPr>
        <p:spPr>
          <a:xfrm xmlns:a="http://schemas.openxmlformats.org/drawingml/2006/main">
            <a:off x="685800" y="1162050"/>
            <a:ext cx="1381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0">
                <a:solidFill>
                  <a:srgbClr val="5B6F83"/>
                </a:solidFill>
                <a:latin typeface="Nimbus Sans"/>
                <a:ea typeface="Nimbus Sans"/>
                <a:cs typeface="Nimbus Sans"/>
              </a:defRPr>
            </a:defPPr>
          </a:lstStyle>
          <a:p xmlns:a="http://schemas.openxmlformats.org/drawingml/2006/main">
            <a:pPr algn="l">
              <a:defRPr sz="1950" b="0">
                <a:solidFill>
                  <a:srgbClr val="5B6F83"/>
                </a:solidFill>
                <a:latin typeface="Nimbus Sans"/>
                <a:ea typeface="Nimbus Sans"/>
                <a:cs typeface="Nimbus Sans"/>
              </a:defRPr>
            </a:pPr>
            <a:r>
              <a:rPr sz="1950" b="0">
                <a:solidFill>
                  <a:srgbClr val="5B6F83"/>
                </a:solidFill>
                <a:latin typeface="Nimbus Sans"/>
                <a:ea typeface="Nimbus Sans"/>
                <a:cs typeface="Nimbus Sans"/>
              </a:rPr>
              <a:t>The immediate deliverable is a validated daily licensed-user inventory in BigQuery</a:t>
            </a:r>
          </a:p>
        </p:txBody>
      </p:sp>
      <p:sp>
        <p:nvSpPr>
          <p:cNvPr id="3" name="">
            <a:extLst xmlns:a="http://schemas.openxmlformats.org/drawingml/2006/main">
              <a:ext uri="{FF2B5EF4-FFF2-40B4-BE49-F238E27FC236}">
                <a16:creationId xmlns:a16="http://schemas.microsoft.com/office/drawing/2014/main" id="{1BBF9455-672B-47F2-BEDD-95892E1B413E}"/>
              </a:ext>
            </a:extLst>
          </p:cNvPr>
          <p:cNvSpPr>
            <a:spLocks xmlns:a="http://schemas.openxmlformats.org/drawingml/2006/main" noGrp="1"/>
          </p:cNvSpPr>
          <p:nvPr/>
        </p:nvSpPr>
        <p:spPr>
          <a:xfrm xmlns:a="http://schemas.openxmlformats.org/drawingml/2006/main">
            <a:off x="685800" y="8039100"/>
            <a:ext cx="13868400"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4" name="text">
            <a:extLst xmlns:a="http://schemas.openxmlformats.org/drawingml/2006/main">
              <a:ext uri="{FF2B5EF4-FFF2-40B4-BE49-F238E27FC236}">
                <a16:creationId xmlns:a16="http://schemas.microsoft.com/office/drawing/2014/main" id="{A19B15C2-F909-472D-B451-C06813F27554}"/>
              </a:ext>
            </a:extLst>
          </p:cNvPr>
          <p:cNvSpPr>
            <a:spLocks xmlns:a="http://schemas.openxmlformats.org/drawingml/2006/main" noGrp="1"/>
          </p:cNvSpPr>
          <p:nvPr/>
        </p:nvSpPr>
        <p:spPr>
          <a:xfrm xmlns:a="http://schemas.openxmlformats.org/drawingml/2006/main">
            <a:off x="685800" y="8201025"/>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B6F83"/>
                </a:solidFill>
                <a:latin typeface="Nimbus Sans"/>
                <a:ea typeface="Nimbus Sans"/>
                <a:cs typeface="Nimbus Sans"/>
              </a:defRPr>
            </a:defPPr>
          </a:lstStyle>
          <a:p xmlns:a="http://schemas.openxmlformats.org/drawingml/2006/main">
            <a:pPr algn="l">
              <a:defRPr sz="1350" b="0">
                <a:solidFill>
                  <a:srgbClr val="5B6F83"/>
                </a:solidFill>
                <a:latin typeface="Nimbus Sans"/>
                <a:ea typeface="Nimbus Sans"/>
                <a:cs typeface="Nimbus Sans"/>
              </a:defRPr>
            </a:pPr>
            <a:r>
              <a:rPr sz="1350" b="0">
                <a:solidFill>
                  <a:srgbClr val="5B6F83"/>
                </a:solidFill>
                <a:latin typeface="Nimbus Sans"/>
                <a:ea typeface="Nimbus Sans"/>
                <a:cs typeface="Nimbus Sans"/>
              </a:rPr>
              <a:t>GitHub License Utilization &amp; Dormancy</a:t>
            </a:r>
          </a:p>
        </p:txBody>
      </p:sp>
      <p:sp>
        <p:nvSpPr>
          <p:cNvPr id="5" name="text">
            <a:extLst xmlns:a="http://schemas.openxmlformats.org/drawingml/2006/main">
              <a:ext uri="{FF2B5EF4-FFF2-40B4-BE49-F238E27FC236}">
                <a16:creationId xmlns:a16="http://schemas.microsoft.com/office/drawing/2014/main" id="{490CACC1-151B-4E0E-962D-436B642FD070}"/>
              </a:ext>
            </a:extLst>
          </p:cNvPr>
          <p:cNvSpPr>
            <a:spLocks xmlns:a="http://schemas.openxmlformats.org/drawingml/2006/main" noGrp="1"/>
          </p:cNvSpPr>
          <p:nvPr/>
        </p:nvSpPr>
        <p:spPr>
          <a:xfrm xmlns:a="http://schemas.openxmlformats.org/drawingml/2006/main">
            <a:off x="13963650" y="8172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B6F83"/>
                </a:solidFill>
                <a:latin typeface="Nimbus Sans"/>
                <a:ea typeface="Nimbus Sans"/>
                <a:cs typeface="Nimbus Sans"/>
              </a:defRPr>
            </a:defPPr>
          </a:lstStyle>
          <a:p xmlns:a="http://schemas.openxmlformats.org/drawingml/2006/main">
            <a:pPr algn="r">
              <a:defRPr sz="1500" b="0">
                <a:solidFill>
                  <a:srgbClr val="5B6F83"/>
                </a:solidFill>
                <a:latin typeface="Nimbus Sans"/>
                <a:ea typeface="Nimbus Sans"/>
                <a:cs typeface="Nimbus Sans"/>
              </a:defRPr>
            </a:pPr>
            <a:r>
              <a:rPr sz="1500" b="0">
                <a:solidFill>
                  <a:srgbClr val="5B6F83"/>
                </a:solidFill>
                <a:latin typeface="Nimbus Sans"/>
                <a:ea typeface="Nimbus Sans"/>
                <a:cs typeface="Nimbus Sans"/>
              </a:rPr>
              <a:t>13</a:t>
            </a:r>
          </a:p>
        </p:txBody>
      </p:sp>
      <p:pic>
        <p:nvPicPr>
          <p:cNvPr id="6" name="">
            <a:extLst xmlns:a="http://schemas.openxmlformats.org/drawingml/2006/main">
              <a:ext uri="{FF2B5EF4-FFF2-40B4-BE49-F238E27FC236}">
                <a16:creationId xmlns:a16="http://schemas.microsoft.com/office/drawing/2014/main" id="{167A41BE-A713-4751-BC9E-9582A362C3E7}"/>
              </a:ext>
            </a:extLst>
          </p:cNvPr>
          <p:cNvPicPr>
            <a:picLocks xmlns:a="http://schemas.openxmlformats.org/drawingml/2006/main" noChangeAspect="1"/>
          </p:cNvPicPr>
          <p:nvPr/>
        </p:nvPicPr>
        <p:blipFill>
          <a:blip xmlns:r="http://schemas.openxmlformats.org/officeDocument/2006/relationships" xmlns:a="http://schemas.openxmlformats.org/drawingml/2006/main" r:embed="R17be04f92b5141d3">
            <a:extLst>
              <a:ext uri="{96DAC541-7B7A-43D3-8B79-37D633B846F1}">
                <asvg:svgBlip xmlns:asvg="http://schemas.microsoft.com/office/drawing/2016/SVG/main" r:embed="R7c60a266c5734e1a"/>
              </a:ext>
            </a:extLst>
          </a:blip>
          <a:stretch xmlns:a="http://schemas.openxmlformats.org/drawingml/2006/main"/>
        </p:blipFill>
        <p:spPr>
          <a:xfrm xmlns:a="http://schemas.openxmlformats.org/drawingml/2006/main">
            <a:off x="800100" y="2105025"/>
            <a:ext cx="685800" cy="68580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DC913290-037B-4E03-9304-FC8F5A7EDEF6}"/>
              </a:ext>
            </a:extLst>
          </p:cNvPr>
          <p:cNvSpPr>
            <a:spLocks xmlns:a="http://schemas.openxmlformats.org/drawingml/2006/main" noGrp="1"/>
          </p:cNvSpPr>
          <p:nvPr/>
        </p:nvSpPr>
        <p:spPr>
          <a:xfrm xmlns:a="http://schemas.openxmlformats.org/drawingml/2006/main">
            <a:off x="1828800" y="2047875"/>
            <a:ext cx="12001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625" b="1">
                <a:solidFill>
                  <a:srgbClr val="073763"/>
                </a:solidFill>
                <a:latin typeface="Nimbus Sans"/>
                <a:ea typeface="Nimbus Sans"/>
                <a:cs typeface="Nimbus Sans"/>
              </a:defRPr>
            </a:defPPr>
          </a:lstStyle>
          <a:p xmlns:a="http://schemas.openxmlformats.org/drawingml/2006/main">
            <a:pPr algn="l">
              <a:defRPr sz="2625" b="1">
                <a:solidFill>
                  <a:srgbClr val="073763"/>
                </a:solidFill>
                <a:latin typeface="Nimbus Sans"/>
                <a:ea typeface="Nimbus Sans"/>
                <a:cs typeface="Nimbus Sans"/>
              </a:defRPr>
            </a:pPr>
            <a:r>
              <a:rPr sz="2625" b="1">
                <a:solidFill>
                  <a:srgbClr val="073763"/>
                </a:solidFill>
                <a:latin typeface="Nimbus Sans"/>
                <a:ea typeface="Nimbus Sans"/>
                <a:cs typeface="Nimbus Sans"/>
              </a:rPr>
              <a:t>First milestone</a:t>
            </a:r>
          </a:p>
        </p:txBody>
      </p:sp>
      <p:sp>
        <p:nvSpPr>
          <p:cNvPr id="8" name="text">
            <a:extLst xmlns:a="http://schemas.openxmlformats.org/drawingml/2006/main">
              <a:ext uri="{FF2B5EF4-FFF2-40B4-BE49-F238E27FC236}">
                <a16:creationId xmlns:a16="http://schemas.microsoft.com/office/drawing/2014/main" id="{73F6243E-BC07-4765-980D-A27FFD96BDFC}"/>
              </a:ext>
            </a:extLst>
          </p:cNvPr>
          <p:cNvSpPr>
            <a:spLocks xmlns:a="http://schemas.openxmlformats.org/drawingml/2006/main" noGrp="1"/>
          </p:cNvSpPr>
          <p:nvPr/>
        </p:nvSpPr>
        <p:spPr>
          <a:xfrm xmlns:a="http://schemas.openxmlformats.org/drawingml/2006/main">
            <a:off x="1828800" y="2676525"/>
            <a:ext cx="120396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0">
                <a:solidFill>
                  <a:srgbClr val="112D49"/>
                </a:solidFill>
                <a:latin typeface="Nimbus Sans"/>
                <a:ea typeface="Nimbus Sans"/>
                <a:cs typeface="Nimbus Sans"/>
              </a:defRPr>
            </a:defPPr>
          </a:lstStyle>
          <a:p xmlns:a="http://schemas.openxmlformats.org/drawingml/2006/main">
            <a:pPr algn="l">
              <a:defRPr sz="2250" b="0">
                <a:solidFill>
                  <a:srgbClr val="112D49"/>
                </a:solidFill>
                <a:latin typeface="Nimbus Sans"/>
                <a:ea typeface="Nimbus Sans"/>
                <a:cs typeface="Nimbus Sans"/>
              </a:defRPr>
            </a:pPr>
            <a:r>
              <a:rPr sz="2250" b="0">
                <a:solidFill>
                  <a:srgbClr val="112D49"/>
                </a:solidFill>
                <a:latin typeface="Nimbus Sans"/>
                <a:ea typeface="Nimbus Sans"/>
                <a:cs typeface="Nimbus Sans"/>
              </a:rPr>
              <a:t>A complete API snapshot reaches the current-user view. Failed or suspicious runs leave the last accepted snapshot unchanged.</a:t>
            </a:r>
          </a:p>
        </p:txBody>
      </p:sp>
      <p:sp>
        <p:nvSpPr>
          <p:cNvPr id="9" name="">
            <a:extLst xmlns:a="http://schemas.openxmlformats.org/drawingml/2006/main">
              <a:ext uri="{FF2B5EF4-FFF2-40B4-BE49-F238E27FC236}">
                <a16:creationId xmlns:a16="http://schemas.microsoft.com/office/drawing/2014/main" id="{A6A4B190-BA37-452F-A1E4-ED195F2D5F0F}"/>
              </a:ext>
            </a:extLst>
          </p:cNvPr>
          <p:cNvSpPr>
            <a:spLocks xmlns:a="http://schemas.openxmlformats.org/drawingml/2006/main" noGrp="1"/>
          </p:cNvSpPr>
          <p:nvPr/>
        </p:nvSpPr>
        <p:spPr>
          <a:xfrm xmlns:a="http://schemas.openxmlformats.org/drawingml/2006/main">
            <a:off x="733425" y="3971925"/>
            <a:ext cx="13801725" cy="0"/>
          </a:xfrm>
          <a:prstGeom xmlns:a="http://schemas.openxmlformats.org/drawingml/2006/main" prst="line">
            <a:avLst/>
          </a:prstGeom>
          <a:noFill xmlns:a="http://schemas.openxmlformats.org/drawingml/2006/main"/>
          <a:ln xmlns:a="http://schemas.openxmlformats.org/drawingml/2006/main" w="13335">
            <a:solidFill>
              <a:srgbClr val="CCD8E3"/>
            </a:solidFill>
            <a:prstDash val="solid"/>
          </a:ln>
        </p:spPr>
      </p:sp>
      <p:sp>
        <p:nvSpPr>
          <p:cNvPr id="10" name="text">
            <a:extLst xmlns:a="http://schemas.openxmlformats.org/drawingml/2006/main">
              <a:ext uri="{FF2B5EF4-FFF2-40B4-BE49-F238E27FC236}">
                <a16:creationId xmlns:a16="http://schemas.microsoft.com/office/drawing/2014/main" id="{F28DE2CD-1DAF-42DD-A4EC-7D538798CBF9}"/>
              </a:ext>
            </a:extLst>
          </p:cNvPr>
          <p:cNvSpPr>
            <a:spLocks xmlns:a="http://schemas.openxmlformats.org/drawingml/2006/main" noGrp="1"/>
          </p:cNvSpPr>
          <p:nvPr/>
        </p:nvSpPr>
        <p:spPr>
          <a:xfrm xmlns:a="http://schemas.openxmlformats.org/drawingml/2006/main">
            <a:off x="762000" y="43910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73763"/>
                </a:solidFill>
                <a:latin typeface="Nimbus Sans"/>
                <a:ea typeface="Nimbus Sans"/>
                <a:cs typeface="Nimbus Sans"/>
              </a:defRPr>
            </a:defPPr>
          </a:lstStyle>
          <a:p xmlns:a="http://schemas.openxmlformats.org/drawingml/2006/main">
            <a:pPr algn="l">
              <a:defRPr sz="2550" b="1">
                <a:solidFill>
                  <a:srgbClr val="073763"/>
                </a:solidFill>
                <a:latin typeface="Nimbus Sans"/>
                <a:ea typeface="Nimbus Sans"/>
                <a:cs typeface="Nimbus Sans"/>
              </a:defRPr>
            </a:pPr>
            <a:r>
              <a:rPr sz="2550" b="1">
                <a:solidFill>
                  <a:srgbClr val="073763"/>
                </a:solidFill>
                <a:latin typeface="Nimbus Sans"/>
                <a:ea typeface="Nimbus Sans"/>
                <a:cs typeface="Nimbus Sans"/>
              </a:rPr>
              <a:t>Decisions needed</a:t>
            </a:r>
          </a:p>
        </p:txBody>
      </p:sp>
      <p:sp>
        <p:nvSpPr>
          <p:cNvPr id="11" name="text">
            <a:extLst xmlns:a="http://schemas.openxmlformats.org/drawingml/2006/main">
              <a:ext uri="{FF2B5EF4-FFF2-40B4-BE49-F238E27FC236}">
                <a16:creationId xmlns:a16="http://schemas.microsoft.com/office/drawing/2014/main" id="{3AC8D4F4-BB14-4E5C-8FCA-19BD8FD432B2}"/>
              </a:ext>
            </a:extLst>
          </p:cNvPr>
          <p:cNvSpPr>
            <a:spLocks xmlns:a="http://schemas.openxmlformats.org/drawingml/2006/main" noGrp="1"/>
          </p:cNvSpPr>
          <p:nvPr/>
        </p:nvSpPr>
        <p:spPr>
          <a:xfrm xmlns:a="http://schemas.openxmlformats.org/drawingml/2006/main">
            <a:off x="762000" y="5095875"/>
            <a:ext cx="3238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008A91"/>
                </a:solidFill>
                <a:latin typeface="Nimbus Sans"/>
                <a:ea typeface="Nimbus Sans"/>
                <a:cs typeface="Nimbus Sans"/>
              </a:defRPr>
            </a:defPPr>
          </a:lstStyle>
          <a:p xmlns:a="http://schemas.openxmlformats.org/drawingml/2006/main">
            <a:pPr algn="l">
              <a:defRPr sz="2100" b="1">
                <a:solidFill>
                  <a:srgbClr val="008A91"/>
                </a:solidFill>
                <a:latin typeface="Nimbus Sans"/>
                <a:ea typeface="Nimbus Sans"/>
                <a:cs typeface="Nimbus Sans"/>
              </a:defRPr>
            </a:pPr>
            <a:r>
              <a:rPr sz="2100" b="1">
                <a:solidFill>
                  <a:srgbClr val="008A91"/>
                </a:solidFill>
                <a:latin typeface="Nimbus Sans"/>
                <a:ea typeface="Nimbus Sans"/>
                <a:cs typeface="Nimbus Sans"/>
              </a:rPr>
              <a:t>Dormancy policy</a:t>
            </a:r>
          </a:p>
        </p:txBody>
      </p:sp>
      <p:sp>
        <p:nvSpPr>
          <p:cNvPr id="12" name="text">
            <a:extLst xmlns:a="http://schemas.openxmlformats.org/drawingml/2006/main">
              <a:ext uri="{FF2B5EF4-FFF2-40B4-BE49-F238E27FC236}">
                <a16:creationId xmlns:a16="http://schemas.microsoft.com/office/drawing/2014/main" id="{F8513789-47C7-4794-B05C-B832D728A0A3}"/>
              </a:ext>
            </a:extLst>
          </p:cNvPr>
          <p:cNvSpPr>
            <a:spLocks xmlns:a="http://schemas.openxmlformats.org/drawingml/2006/main" noGrp="1"/>
          </p:cNvSpPr>
          <p:nvPr/>
        </p:nvSpPr>
        <p:spPr>
          <a:xfrm xmlns:a="http://schemas.openxmlformats.org/drawingml/2006/main">
            <a:off x="4371975" y="5095875"/>
            <a:ext cx="1005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112D49"/>
                </a:solidFill>
                <a:latin typeface="Nimbus Sans"/>
                <a:ea typeface="Nimbus Sans"/>
                <a:cs typeface="Nimbus Sans"/>
              </a:defRPr>
            </a:defPPr>
          </a:lstStyle>
          <a:p xmlns:a="http://schemas.openxmlformats.org/drawingml/2006/main">
            <a:pPr algn="l">
              <a:defRPr sz="2025" b="0">
                <a:solidFill>
                  <a:srgbClr val="112D49"/>
                </a:solidFill>
                <a:latin typeface="Nimbus Sans"/>
                <a:ea typeface="Nimbus Sans"/>
                <a:cs typeface="Nimbus Sans"/>
              </a:defRPr>
            </a:pPr>
            <a:r>
              <a:rPr sz="2025" b="0">
                <a:solidFill>
                  <a:srgbClr val="112D49"/>
                </a:solidFill>
                <a:latin typeface="Nimbus Sans"/>
                <a:ea typeface="Nimbus Sans"/>
                <a:cs typeface="Nimbus Sans"/>
              </a:rPr>
              <a:t>Confirm the signal basis, action threshold and new-user grace period.</a:t>
            </a:r>
          </a:p>
        </p:txBody>
      </p:sp>
      <p:sp>
        <p:nvSpPr>
          <p:cNvPr id="13" name="text">
            <a:extLst xmlns:a="http://schemas.openxmlformats.org/drawingml/2006/main">
              <a:ext uri="{FF2B5EF4-FFF2-40B4-BE49-F238E27FC236}">
                <a16:creationId xmlns:a16="http://schemas.microsoft.com/office/drawing/2014/main" id="{8B3D0D33-1423-45C6-926E-3D551259F3E9}"/>
              </a:ext>
            </a:extLst>
          </p:cNvPr>
          <p:cNvSpPr>
            <a:spLocks xmlns:a="http://schemas.openxmlformats.org/drawingml/2006/main" noGrp="1"/>
          </p:cNvSpPr>
          <p:nvPr/>
        </p:nvSpPr>
        <p:spPr>
          <a:xfrm xmlns:a="http://schemas.openxmlformats.org/drawingml/2006/main">
            <a:off x="762000" y="5886450"/>
            <a:ext cx="3238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008A91"/>
                </a:solidFill>
                <a:latin typeface="Nimbus Sans"/>
                <a:ea typeface="Nimbus Sans"/>
                <a:cs typeface="Nimbus Sans"/>
              </a:defRPr>
            </a:defPPr>
          </a:lstStyle>
          <a:p xmlns:a="http://schemas.openxmlformats.org/drawingml/2006/main">
            <a:pPr algn="l">
              <a:defRPr sz="2100" b="1">
                <a:solidFill>
                  <a:srgbClr val="008A91"/>
                </a:solidFill>
                <a:latin typeface="Nimbus Sans"/>
                <a:ea typeface="Nimbus Sans"/>
                <a:cs typeface="Nimbus Sans"/>
              </a:defRPr>
            </a:pPr>
            <a:r>
              <a:rPr sz="2100" b="1">
                <a:solidFill>
                  <a:srgbClr val="008A91"/>
                </a:solidFill>
                <a:latin typeface="Nimbus Sans"/>
                <a:ea typeface="Nimbus Sans"/>
                <a:cs typeface="Nimbus Sans"/>
              </a:rPr>
              <a:t>Data ownership</a:t>
            </a:r>
          </a:p>
        </p:txBody>
      </p:sp>
      <p:sp>
        <p:nvSpPr>
          <p:cNvPr id="14" name="text">
            <a:extLst xmlns:a="http://schemas.openxmlformats.org/drawingml/2006/main">
              <a:ext uri="{FF2B5EF4-FFF2-40B4-BE49-F238E27FC236}">
                <a16:creationId xmlns:a16="http://schemas.microsoft.com/office/drawing/2014/main" id="{A8510CF2-1604-429B-92B7-0AD906D5851B}"/>
              </a:ext>
            </a:extLst>
          </p:cNvPr>
          <p:cNvSpPr>
            <a:spLocks xmlns:a="http://schemas.openxmlformats.org/drawingml/2006/main" noGrp="1"/>
          </p:cNvSpPr>
          <p:nvPr/>
        </p:nvSpPr>
        <p:spPr>
          <a:xfrm xmlns:a="http://schemas.openxmlformats.org/drawingml/2006/main">
            <a:off x="4371975" y="5886450"/>
            <a:ext cx="1005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112D49"/>
                </a:solidFill>
                <a:latin typeface="Nimbus Sans"/>
                <a:ea typeface="Nimbus Sans"/>
                <a:cs typeface="Nimbus Sans"/>
              </a:defRPr>
            </a:defPPr>
          </a:lstStyle>
          <a:p xmlns:a="http://schemas.openxmlformats.org/drawingml/2006/main">
            <a:pPr algn="l">
              <a:defRPr sz="2025" b="0">
                <a:solidFill>
                  <a:srgbClr val="112D49"/>
                </a:solidFill>
                <a:latin typeface="Nimbus Sans"/>
                <a:ea typeface="Nimbus Sans"/>
                <a:cs typeface="Nimbus Sans"/>
              </a:defRPr>
            </a:pPr>
            <a:r>
              <a:rPr sz="2025" b="0">
                <a:solidFill>
                  <a:srgbClr val="112D49"/>
                </a:solidFill>
                <a:latin typeface="Nimbus Sans"/>
                <a:ea typeface="Nimbus Sans"/>
                <a:cs typeface="Nimbus Sans"/>
              </a:rPr>
              <a:t>Confirm staff / UBR and LDAP / SCIM feed owners and approved access.</a:t>
            </a:r>
          </a:p>
        </p:txBody>
      </p:sp>
      <p:sp>
        <p:nvSpPr>
          <p:cNvPr id="15" name="text">
            <a:extLst xmlns:a="http://schemas.openxmlformats.org/drawingml/2006/main">
              <a:ext uri="{FF2B5EF4-FFF2-40B4-BE49-F238E27FC236}">
                <a16:creationId xmlns:a16="http://schemas.microsoft.com/office/drawing/2014/main" id="{28E47749-7F26-457B-8254-6E17848E2EC0}"/>
              </a:ext>
            </a:extLst>
          </p:cNvPr>
          <p:cNvSpPr>
            <a:spLocks xmlns:a="http://schemas.openxmlformats.org/drawingml/2006/main" noGrp="1"/>
          </p:cNvSpPr>
          <p:nvPr/>
        </p:nvSpPr>
        <p:spPr>
          <a:xfrm xmlns:a="http://schemas.openxmlformats.org/drawingml/2006/main">
            <a:off x="762000" y="6677025"/>
            <a:ext cx="3238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008A91"/>
                </a:solidFill>
                <a:latin typeface="Nimbus Sans"/>
                <a:ea typeface="Nimbus Sans"/>
                <a:cs typeface="Nimbus Sans"/>
              </a:defRPr>
            </a:defPPr>
          </a:lstStyle>
          <a:p xmlns:a="http://schemas.openxmlformats.org/drawingml/2006/main">
            <a:pPr algn="l">
              <a:defRPr sz="2100" b="1">
                <a:solidFill>
                  <a:srgbClr val="008A91"/>
                </a:solidFill>
                <a:latin typeface="Nimbus Sans"/>
                <a:ea typeface="Nimbus Sans"/>
                <a:cs typeface="Nimbus Sans"/>
              </a:defRPr>
            </a:pPr>
            <a:r>
              <a:rPr sz="2100" b="1">
                <a:solidFill>
                  <a:srgbClr val="008A91"/>
                </a:solidFill>
                <a:latin typeface="Nimbus Sans"/>
                <a:ea typeface="Nimbus Sans"/>
                <a:cs typeface="Nimbus Sans"/>
              </a:rPr>
              <a:t>Pilot review</a:t>
            </a:r>
          </a:p>
        </p:txBody>
      </p:sp>
      <p:sp>
        <p:nvSpPr>
          <p:cNvPr id="16" name="text">
            <a:extLst xmlns:a="http://schemas.openxmlformats.org/drawingml/2006/main">
              <a:ext uri="{FF2B5EF4-FFF2-40B4-BE49-F238E27FC236}">
                <a16:creationId xmlns:a16="http://schemas.microsoft.com/office/drawing/2014/main" id="{10E100A9-74DB-4ED4-B01C-43C43F05C6F8}"/>
              </a:ext>
            </a:extLst>
          </p:cNvPr>
          <p:cNvSpPr>
            <a:spLocks xmlns:a="http://schemas.openxmlformats.org/drawingml/2006/main" noGrp="1"/>
          </p:cNvSpPr>
          <p:nvPr/>
        </p:nvSpPr>
        <p:spPr>
          <a:xfrm xmlns:a="http://schemas.openxmlformats.org/drawingml/2006/main">
            <a:off x="4371975" y="6677025"/>
            <a:ext cx="1005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112D49"/>
                </a:solidFill>
                <a:latin typeface="Nimbus Sans"/>
                <a:ea typeface="Nimbus Sans"/>
                <a:cs typeface="Nimbus Sans"/>
              </a:defRPr>
            </a:defPPr>
          </a:lstStyle>
          <a:p xmlns:a="http://schemas.openxmlformats.org/drawingml/2006/main">
            <a:pPr algn="l">
              <a:defRPr sz="2025" b="0">
                <a:solidFill>
                  <a:srgbClr val="112D49"/>
                </a:solidFill>
                <a:latin typeface="Nimbus Sans"/>
                <a:ea typeface="Nimbus Sans"/>
                <a:cs typeface="Nimbus Sans"/>
              </a:defRPr>
            </a:pPr>
            <a:r>
              <a:rPr sz="2025" b="0">
                <a:solidFill>
                  <a:srgbClr val="112D49"/>
                </a:solidFill>
                <a:latin typeface="Nimbus Sans"/>
                <a:ea typeface="Nimbus Sans"/>
                <a:cs typeface="Nimbus Sans"/>
              </a:rPr>
              <a:t>Choose reviewers, a pilot scope and the notification / exception process.</a:t>
            </a:r>
          </a:p>
        </p:txBody>
      </p:sp>
      <p:sp>
        <p:nvSpPr>
          <p:cNvPr id="17" name="box">
            <a:extLst xmlns:a="http://schemas.openxmlformats.org/drawingml/2006/main">
              <a:ext uri="{FF2B5EF4-FFF2-40B4-BE49-F238E27FC236}">
                <a16:creationId xmlns:a16="http://schemas.microsoft.com/office/drawing/2014/main" id="{DC3651E9-F855-44BC-8A91-80EAD5C71D84}"/>
              </a:ext>
            </a:extLst>
          </p:cNvPr>
          <p:cNvSpPr>
            <a:spLocks xmlns:a="http://schemas.openxmlformats.org/drawingml/2006/main" noGrp="1"/>
          </p:cNvSpPr>
          <p:nvPr/>
        </p:nvSpPr>
        <p:spPr>
          <a:xfrm xmlns:a="http://schemas.openxmlformats.org/drawingml/2006/main">
            <a:off x="685800" y="7534275"/>
            <a:ext cx="13868400" cy="400050"/>
          </a:xfrm>
          <a:prstGeom xmlns:a="http://schemas.openxmlformats.org/drawingml/2006/main" prst="rect">
            <a:avLst/>
          </a:prstGeom>
          <a:solidFill xmlns:a="http://schemas.openxmlformats.org/drawingml/2006/main">
            <a:srgbClr val="EAF7F6"/>
          </a:solidFill>
          <a:ln xmlns:a="http://schemas.openxmlformats.org/drawingml/2006/main" w="0">
            <a:noFill/>
            <a:prstDash val="solid"/>
          </a:ln>
        </p:spPr>
      </p:sp>
      <p:sp>
        <p:nvSpPr>
          <p:cNvPr id="18" name="box">
            <a:extLst xmlns:a="http://schemas.openxmlformats.org/drawingml/2006/main">
              <a:ext uri="{FF2B5EF4-FFF2-40B4-BE49-F238E27FC236}">
                <a16:creationId xmlns:a16="http://schemas.microsoft.com/office/drawing/2014/main" id="{39B3BC66-D79D-41E7-9E9C-9EDEE8785583}"/>
              </a:ext>
            </a:extLst>
          </p:cNvPr>
          <p:cNvSpPr>
            <a:spLocks xmlns:a="http://schemas.openxmlformats.org/drawingml/2006/main" noGrp="1"/>
          </p:cNvSpPr>
          <p:nvPr/>
        </p:nvSpPr>
        <p:spPr>
          <a:xfrm xmlns:a="http://schemas.openxmlformats.org/drawingml/2006/main">
            <a:off x="685800" y="7534275"/>
            <a:ext cx="47625" cy="4000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B15A1F4F-BA45-4230-B345-0AB5808E286D}"/>
              </a:ext>
            </a:extLst>
          </p:cNvPr>
          <p:cNvSpPr>
            <a:spLocks xmlns:a="http://schemas.openxmlformats.org/drawingml/2006/main" noGrp="1"/>
          </p:cNvSpPr>
          <p:nvPr/>
        </p:nvSpPr>
        <p:spPr>
          <a:xfrm xmlns:a="http://schemas.openxmlformats.org/drawingml/2006/main">
            <a:off x="895350" y="7696200"/>
            <a:ext cx="1345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112D49"/>
                </a:solidFill>
                <a:latin typeface="Nimbus Sans"/>
                <a:ea typeface="Nimbus Sans"/>
                <a:cs typeface="Nimbus Sans"/>
              </a:defRPr>
            </a:defPPr>
          </a:lstStyle>
          <a:p xmlns:a="http://schemas.openxmlformats.org/drawingml/2006/main">
            <a:pPr algn="l">
              <a:defRPr sz="1650" b="0">
                <a:solidFill>
                  <a:srgbClr val="112D49"/>
                </a:solidFill>
                <a:latin typeface="Nimbus Sans"/>
                <a:ea typeface="Nimbus Sans"/>
                <a:cs typeface="Nimbus Sans"/>
              </a:defRPr>
            </a:pPr>
            <a:r>
              <a:rPr sz="1650" b="0">
                <a:solidFill>
                  <a:srgbClr val="112D49"/>
                </a:solidFill>
                <a:latin typeface="Nimbus Sans"/>
                <a:ea typeface="Nimbus Sans"/>
                <a:cs typeface="Nimbus Sans"/>
              </a:rPr>
              <a:t>Success means explainable candidates, reconciled data and an approved review process before any license action</a:t>
            </a:r>
          </a:p>
        </p:txBody>
      </p:sp>
    </p:spTree>
    <p:extLst>
      <p:ext uri="{BB962C8B-B14F-4D97-AF65-F5344CB8AC3E}">
        <p14:creationId xmlns:p14="http://schemas.microsoft.com/office/powerpoint/2010/main" val="1020315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2026-10-16T06:34:54.0820000Z</dcterms:created>
  <dcterms:modified xsi:type="dcterms:W3CDTF">2026-10-16T06:34:54.0820000Z</dcterms:modified>
</coreProperties>
</file>