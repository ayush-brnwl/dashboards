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dd559573ed43bf" /><Relationship Type="http://schemas.openxmlformats.org/officeDocument/2006/relationships/extended-properties" Target="/docProps/app.xml" Id="R4470f2b17a644ad4" /><Relationship Type="http://schemas.openxmlformats.org/officeDocument/2006/relationships/officeDocument" Target="/ppt/presentation.xml" Id="R831230c1e0f148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a338c1b58e4121"/>
  </p:sldMasterIdLst>
  <p:notesMasterIdLst>
    <p:notesMasterId xmlns:r="http://schemas.openxmlformats.org/officeDocument/2006/relationships" r:id="R64833f802f3d47bd"/>
  </p:notesMasterIdLst>
  <p:sldIdLst>
    <p:sldId xmlns:r="http://schemas.openxmlformats.org/officeDocument/2006/relationships" id="256" r:id="R630aac00a2f848ad"/>
    <p:sldId xmlns:r="http://schemas.openxmlformats.org/officeDocument/2006/relationships" id="257" r:id="R19aa8ebb21914a6a"/>
    <p:sldId xmlns:r="http://schemas.openxmlformats.org/officeDocument/2006/relationships" id="258" r:id="Re914813d501d4822"/>
    <p:sldId xmlns:r="http://schemas.openxmlformats.org/officeDocument/2006/relationships" id="259" r:id="R0079e651e8764215"/>
    <p:sldId xmlns:r="http://schemas.openxmlformats.org/officeDocument/2006/relationships" id="260" r:id="R6ef503cf7e714bf2"/>
    <p:sldId xmlns:r="http://schemas.openxmlformats.org/officeDocument/2006/relationships" id="261" r:id="R658e2c903bfb4c5e"/>
    <p:sldId xmlns:r="http://schemas.openxmlformats.org/officeDocument/2006/relationships" id="262" r:id="R62dcfd579bbd4740"/>
    <p:sldId xmlns:r="http://schemas.openxmlformats.org/officeDocument/2006/relationships" id="263" r:id="R814910dad9834b8c"/>
    <p:sldId xmlns:r="http://schemas.openxmlformats.org/officeDocument/2006/relationships" id="264" r:id="R786a43e00a3f4dec"/>
    <p:sldId xmlns:r="http://schemas.openxmlformats.org/officeDocument/2006/relationships" id="265" r:id="Rfddc3d009fe6408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8d26f490d749cb" /><Relationship Type="http://schemas.openxmlformats.org/officeDocument/2006/relationships/slideMaster" Target="/ppt/slideMasters/slideMaster1.xml" Id="Rc5a338c1b58e4121" /><Relationship Type="http://schemas.openxmlformats.org/officeDocument/2006/relationships/notesMaster" Target="/ppt/notesMasters/notesMaster1.xml" Id="R64833f802f3d47bd" /><Relationship Type="http://schemas.openxmlformats.org/officeDocument/2006/relationships/presProps" Target="/ppt/presProps.xml" Id="R46abe08956fb4217" /><Relationship Type="http://schemas.openxmlformats.org/officeDocument/2006/relationships/tableStyles" Target="/ppt/tableStyles.xml" Id="R12ab8cca947e4a50" /><Relationship Type="http://schemas.openxmlformats.org/officeDocument/2006/relationships/slide" Target="/ppt/slides/slide1.xml" Id="R630aac00a2f848ad" /><Relationship Type="http://schemas.openxmlformats.org/officeDocument/2006/relationships/slide" Target="/ppt/slides/slide2.xml" Id="R19aa8ebb21914a6a" /><Relationship Type="http://schemas.openxmlformats.org/officeDocument/2006/relationships/slide" Target="/ppt/slides/slide3.xml" Id="Re914813d501d4822" /><Relationship Type="http://schemas.openxmlformats.org/officeDocument/2006/relationships/slide" Target="/ppt/slides/slide4.xml" Id="R0079e651e8764215" /><Relationship Type="http://schemas.openxmlformats.org/officeDocument/2006/relationships/slide" Target="/ppt/slides/slide5.xml" Id="R6ef503cf7e714bf2" /><Relationship Type="http://schemas.openxmlformats.org/officeDocument/2006/relationships/slide" Target="/ppt/slides/slide6.xml" Id="R658e2c903bfb4c5e" /><Relationship Type="http://schemas.openxmlformats.org/officeDocument/2006/relationships/slide" Target="/ppt/slides/slide7.xml" Id="R62dcfd579bbd4740" /><Relationship Type="http://schemas.openxmlformats.org/officeDocument/2006/relationships/slide" Target="/ppt/slides/slide8.xml" Id="R814910dad9834b8c" /><Relationship Type="http://schemas.openxmlformats.org/officeDocument/2006/relationships/slide" Target="/ppt/slides/slide9.xml" Id="R786a43e00a3f4dec" /><Relationship Type="http://schemas.openxmlformats.org/officeDocument/2006/relationships/slide" Target="/ppt/slides/slide10.xml" Id="Rfddc3d009fe640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959bddffd747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fd6e2e186e434b" /><Relationship Type="http://schemas.openxmlformats.org/officeDocument/2006/relationships/notesMaster" Target="/ppt/notesMasters/notesMaster1.xml" Id="Ra5613e8481bc41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7366e7484348d9" /><Relationship Type="http://schemas.openxmlformats.org/officeDocument/2006/relationships/notesMaster" Target="/ppt/notesMasters/notesMaster1.xml" Id="Rf412f32cab0b49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1b43e61dc14e1b" /><Relationship Type="http://schemas.openxmlformats.org/officeDocument/2006/relationships/notesMaster" Target="/ppt/notesMasters/notesMaster1.xml" Id="R3fb2f774ca214c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86336cb83b4bd0" /><Relationship Type="http://schemas.openxmlformats.org/officeDocument/2006/relationships/notesMaster" Target="/ppt/notesMasters/notesMaster1.xml" Id="R4189349407464c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44d1ee96e24981" /><Relationship Type="http://schemas.openxmlformats.org/officeDocument/2006/relationships/notesMaster" Target="/ppt/notesMasters/notesMaster1.xml" Id="R879e49b99e8d44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0e41f8a2f543bc" /><Relationship Type="http://schemas.openxmlformats.org/officeDocument/2006/relationships/notesMaster" Target="/ppt/notesMasters/notesMaster1.xml" Id="Rbf619a8dcded463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c34c4d08614a7c" /><Relationship Type="http://schemas.openxmlformats.org/officeDocument/2006/relationships/notesMaster" Target="/ppt/notesMasters/notesMaster1.xml" Id="R1353111287fd4ae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9d846752a1c49d0" /><Relationship Type="http://schemas.openxmlformats.org/officeDocument/2006/relationships/notesMaster" Target="/ppt/notesMasters/notesMaster1.xml" Id="R1f649e7f12a8459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1b9239c0a094bdc" /><Relationship Type="http://schemas.openxmlformats.org/officeDocument/2006/relationships/notesMaster" Target="/ppt/notesMasters/notesMaster1.xml" Id="R21cde29d8f75437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6e1629004f44c22" /><Relationship Type="http://schemas.openxmlformats.org/officeDocument/2006/relationships/notesMaster" Target="/ppt/notesMasters/notesMaster1.xml" Id="R2a592c0282cb4c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about 60 seconds.</a:t>
            </a:r>
          </a:p>
          <a:p xmlns:a="http://schemas.openxmlformats.org/drawingml/2006/main">
            <a:r>
              <a:t>Open with the distinction between a complete audit trail and a reviewable governance signal.</a:t>
            </a:r>
          </a:p>
          <a:p xmlns:a="http://schemas.openxmlformats.org/drawingml/2006/main">
            <a:r>
              <a:t>Set the scope: the session covers the problem, the architecture, how priorities remain explainable, a short demo, and one future AI concept.</a:t>
            </a:r>
          </a:p>
          <a:p xmlns:a="http://schemas.openxmlformats.org/drawingml/2006/main">
            <a:r>
              <a:t>Do not start with BigQuery or Grafana. Start with the operational question: what deserves attention and why?</a:t>
            </a:r>
          </a:p>
          <a:p xmlns:a="http://schemas.openxmlformats.org/drawingml/2006/main">
            <a:r>
              <a:t>The cover visual is illustrative and does not show a production interface.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about 75 seconds.</a:t>
            </a:r>
          </a:p>
          <a:p xmlns:a="http://schemas.openxmlformats.org/drawingml/2006/main">
            <a:r>
              <a:t>Use the scale numbers to establish why manual inspection is not sustainable: 650+ organizations, 11K+ repositories, about 365K events per day and roughly 3M per week.</a:t>
            </a:r>
          </a:p>
          <a:p xmlns:a="http://schemas.openxmlformats.org/drawingml/2006/main">
            <a:r>
              <a:t>The problem is prioritization. The platform keeps the full audit evidence but creates a smaller, explainable review surface.</a:t>
            </a:r>
          </a:p>
          <a:p xmlns:a="http://schemas.openxmlformats.org/drawingml/2006/main">
            <a:r>
              <a:t>Avoid claiming a measured reduction in review time unless you have validated it after production use.</a:t>
            </a:r>
          </a:p>
          <a:p xmlns:a="http://schemas.openxmlformats.org/drawingml/2006/main">
            <a:r>
              <a:t>The event-stream illustration is conceptual and contains no production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about 75 seconds.</a:t>
            </a:r>
          </a:p>
          <a:p xmlns:a="http://schemas.openxmlformats.org/drawingml/2006/main">
            <a:r>
              <a:t>State clearly that the values on this slide are illustrative and not a live incident.</a:t>
            </a:r>
          </a:p>
          <a:p xmlns:a="http://schemas.openxmlformats.org/drawingml/2006/main">
            <a:r>
              <a:t>Use the runner technical-account suspension as one concrete example, then broaden the point to security controls, branch policies, access and GitHub Apps.</a:t>
            </a:r>
          </a:p>
          <a:p xmlns:a="http://schemas.openxmlformats.org/drawingml/2006/main">
            <a:r>
              <a:t>The platform needs registries and rules to turn an audit fact into an operationally meaningful review item.</a:t>
            </a:r>
          </a:p>
          <a:p xmlns:a="http://schemas.openxmlformats.org/drawingml/2006/main">
            <a:r>
              <a:t>The service-account illustration is conceptual and not a production incident.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about 90 seconds.</a:t>
            </a:r>
          </a:p>
          <a:p xmlns:a="http://schemas.openxmlformats.org/drawingml/2006/main">
            <a:r>
              <a:t>Walk left to right. GitHub audit data lands in GCS, the processing layer normalizes it, the classifier adds governance meaning in BigQuery, and Grafana exposes the review experience.</a:t>
            </a:r>
          </a:p>
          <a:p xmlns:a="http://schemas.openxmlformats.org/drawingml/2006/main">
            <a:r>
              <a:t>Call out the two control inputs: a versioned rule catalogue and an approved exception register.</a:t>
            </a:r>
          </a:p>
          <a:p xmlns:a="http://schemas.openxmlformats.org/drawingml/2006/main">
            <a:r>
              <a:t>Emphasize that event_key and source_file preserve drill-back to the original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about 90 seconds.</a:t>
            </a:r>
          </a:p>
          <a:p xmlns:a="http://schemas.openxmlformats.org/drawingml/2006/main">
            <a:r>
              <a:t>Use one branch-policy override to explain the classifier. The raw action maps to a governance event type and base priority before the exception register applies.</a:t>
            </a:r>
          </a:p>
          <a:p xmlns:a="http://schemas.openxmlformats.org/drawingml/2006/main">
            <a:r>
              <a:t>The same action stays HIGH for a normal actor but can become LOW for an approved automation identity. The event remains visible and the reason is attached.</a:t>
            </a:r>
          </a:p>
          <a:p xmlns:a="http://schemas.openxmlformats.org/drawingml/2006/main">
            <a:r>
              <a:t>Mention that the event catalogue and final priority choices should continue through stakeholder review. The mechanism is stable; the policy decisions remain governable.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about 75 seconds.</a:t>
            </a:r>
          </a:p>
          <a:p xmlns:a="http://schemas.openxmlformats.org/drawingml/2006/main">
            <a:r>
              <a:t>Explain the dashboards by user journey rather than reading six product names as a list.</a:t>
            </a:r>
          </a:p>
          <a:p xmlns:a="http://schemas.openxmlformats.org/drawingml/2006/main">
            <a:r>
              <a:t>Overview and Advanced Security answer what needs attention. Repository and User Activity support investigation. Reports and Classifier Operations provide evidence and operational transparency.</a:t>
            </a:r>
          </a:p>
          <a:p xmlns:a="http://schemas.openxmlformats.org/drawingml/2006/main">
            <a:r>
              <a:t>Mention that specialist dashboards remain outside the main path unless regular use justifies them.</a:t>
            </a:r>
          </a:p>
          <a:p xmlns:a="http://schemas.openxmlformats.org/drawingml/2006/main">
            <a:r>
              <a:t>The engineering-workspace image is illustrative; it does not depict an actual bank environment.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about 75 seconds.</a:t>
            </a:r>
          </a:p>
          <a:p xmlns:a="http://schemas.openxmlformats.org/drawingml/2006/main">
            <a:r>
              <a:t>Pick two examples that match the room. For developer tooling, security-control changes and branch or workflow policy changes usually resonate.</a:t>
            </a:r>
          </a:p>
          <a:p xmlns:a="http://schemas.openxmlformats.org/drawingml/2006/main">
            <a:r>
              <a:t>Use the technical-account suspension as the runners example, but keep the platform broader than runner-specific monitoring.</a:t>
            </a:r>
          </a:p>
          <a:p xmlns:a="http://schemas.openxmlformats.org/drawingml/2006/main">
            <a:r>
              <a:t>Approved automation remains a core governance use case because expected changes must stay visible without dominating the review queue.</a:t>
            </a:r>
          </a:p>
          <a:p xmlns:a="http://schemas.openxmlformats.org/drawingml/2006/main">
            <a:r>
              <a:t>The four scenarios are illustrative representations rather than screenshots of production events.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to 6 minutes for the live demo.</a:t>
            </a:r>
          </a:p>
          <a:p xmlns:a="http://schemas.openxmlformats.org/drawingml/2006/main">
            <a:r>
              <a:t>Bookmark one useful non-sensitive security event in advance. Follow the same event through the four screens instead of opening every dashboard.</a:t>
            </a:r>
          </a:p>
          <a:p xmlns:a="http://schemas.openxmlformats.org/drawingml/2006/main">
            <a:r>
              <a:t>Show the Overview queue, repository context, actor or exception context, then evidence export and source lineage.</a:t>
            </a:r>
          </a:p>
          <a:p xmlns:a="http://schemas.openxmlformats.org/drawingml/2006/main">
            <a:r>
              <a:t>Keep a prepared BigQuery query as a fallback if Grafana is slow, but do not type complex SQL live.</a:t>
            </a:r>
          </a:p>
          <a:p xmlns:a="http://schemas.openxmlformats.org/drawingml/2006/main">
            <a:r>
              <a:t>The screen sequence is an illustrative guide to the demo path, not a literal capture of the dashboards.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about 90 seconds.</a:t>
            </a:r>
          </a:p>
          <a:p xmlns:a="http://schemas.openxmlformats.org/drawingml/2006/main">
            <a:r>
              <a:t>Label this clearly as an illustrative future concept. The UI and example finding are not a live implementation or real incident.</a:t>
            </a:r>
          </a:p>
          <a:p xmlns:a="http://schemas.openxmlformats.org/drawingml/2006/main">
            <a:r>
              <a:t>The first version should remain read-only and query curated governance tables, not raw audit JSON.</a:t>
            </a:r>
          </a:p>
          <a:p xmlns:a="http://schemas.openxmlformats.org/drawingml/2006/main">
            <a:r>
              <a:t>Every answer should show the source event, rule id, rule version and review reason. The user should be able to open the event, repository and evidence directly.</a:t>
            </a:r>
          </a:p>
          <a:p xmlns:a="http://schemas.openxmlformats.org/drawingml/2006/main">
            <a:r>
              <a:t>Guardrails: no write actions, no hidden evidence, and no answer without a traceable source.</a:t>
            </a:r>
          </a:p>
          <a:p xmlns:a="http://schemas.openxmlformats.org/drawingml/2006/main">
            <a:r>
              <a:t>The workstation is an illustrative mockup. The embedded interface represents the proposed experience rather than a released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about 75 seconds, then discussion.</a:t>
            </a:r>
          </a:p>
          <a:p xmlns:a="http://schemas.openxmlformats.org/drawingml/2006/main">
            <a:r>
              <a:t>Summarize the current value without inventing adoption or time-saving metrics.</a:t>
            </a:r>
          </a:p>
          <a:p xmlns:a="http://schemas.openxmlformats.org/drawingml/2006/main">
            <a:r>
              <a:t>The immediate next decision is the stakeholder-reviewed event-priority catalogue. Alerts should follow the agreed semantics, not precede them.</a:t>
            </a:r>
          </a:p>
          <a:p xmlns:a="http://schemas.openxmlformats.org/drawingml/2006/main">
            <a:r>
              <a:t>Close by asking teams for a governance question they still answer manually. This gives you concrete use cases for the next iteration.</a:t>
            </a:r>
          </a:p>
          <a:p xmlns:a="http://schemas.openxmlformats.org/drawingml/2006/main">
            <a:r>
              <a:t>The collaboration image is illustrative and does not show a real bank meeting or production dashboard.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2dd15ae93d4b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9bbbf4c9f64816" /><Relationship Type="http://schemas.openxmlformats.org/officeDocument/2006/relationships/slideLayout" Target="/ppt/slideLayouts/slideLayout1.xml" Id="Rd59e63b74edc47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9e63b74edc47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bcb5327da3430d" /><Relationship Type="http://schemas.openxmlformats.org/officeDocument/2006/relationships/image" Target="/ppt/media/image.png" Id="R5fd4546255084e85" /><Relationship Type="http://schemas.openxmlformats.org/officeDocument/2006/relationships/notesSlide" Target="/ppt/notesSlides/notesSlide1.xml" Id="Rafe0f17e502640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7bc980e9f34f5c" /><Relationship Type="http://schemas.openxmlformats.org/officeDocument/2006/relationships/image" Target="/ppt/media/image2.png" Id="Rab601c79232942dd" /><Relationship Type="http://schemas.openxmlformats.org/officeDocument/2006/relationships/notesSlide" Target="/ppt/notesSlides/notesSlide2.xml" Id="R6b0154d33e3b4c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f053843bae434b" /><Relationship Type="http://schemas.openxmlformats.org/officeDocument/2006/relationships/image" Target="/ppt/media/image3.png" Id="Rd239416096714cea" /><Relationship Type="http://schemas.openxmlformats.org/officeDocument/2006/relationships/notesSlide" Target="/ppt/notesSlides/notesSlide3.xml" Id="Rac54f1a6530a44f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2dc2b78b4843b6" /><Relationship Type="http://schemas.openxmlformats.org/officeDocument/2006/relationships/notesSlide" Target="/ppt/notesSlides/notesSlide4.xml" Id="Rc1281dc0b6434b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e2c450777047ed" /><Relationship Type="http://schemas.openxmlformats.org/officeDocument/2006/relationships/notesSlide" Target="/ppt/notesSlides/notesSlide5.xml" Id="R058dcea5024847c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fb2b6cae8a48ae" /><Relationship Type="http://schemas.openxmlformats.org/officeDocument/2006/relationships/image" Target="/ppt/media/image4.png" Id="Rd54d55640fc942de" /><Relationship Type="http://schemas.openxmlformats.org/officeDocument/2006/relationships/notesSlide" Target="/ppt/notesSlides/notesSlide6.xml" Id="Rab2ea2b9cc1246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d21c41c0d64869" /><Relationship Type="http://schemas.openxmlformats.org/officeDocument/2006/relationships/image" Target="/ppt/media/image5.png" Id="Rcda527da0b174213" /><Relationship Type="http://schemas.openxmlformats.org/officeDocument/2006/relationships/notesSlide" Target="/ppt/notesSlides/notesSlide7.xml" Id="Rb067d540a8e347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8b873b751a4347" /><Relationship Type="http://schemas.openxmlformats.org/officeDocument/2006/relationships/image" Target="/ppt/media/image6.png" Id="R85c49a493b2c4a8a" /><Relationship Type="http://schemas.openxmlformats.org/officeDocument/2006/relationships/notesSlide" Target="/ppt/notesSlides/notesSlide8.xml" Id="R81b898dfb4354b8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a190e347914e5e" /><Relationship Type="http://schemas.openxmlformats.org/officeDocument/2006/relationships/image" Target="/ppt/media/image7.png" Id="Re83b0e4658b24f9c" /><Relationship Type="http://schemas.openxmlformats.org/officeDocument/2006/relationships/image" Target="/ppt/media/image8.png" Id="R6808b0a7046f4f36" /><Relationship Type="http://schemas.openxmlformats.org/officeDocument/2006/relationships/notesSlide" Target="/ppt/notesSlides/notesSlide9.xml" Id="R1d2c1428879a453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39dae4375c4caa" /><Relationship Type="http://schemas.openxmlformats.org/officeDocument/2006/relationships/image" Target="/ppt/media/image9.png" Id="Raa5789a633f4468e" /><Relationship Type="http://schemas.openxmlformats.org/officeDocument/2006/relationships/notesSlide" Target="/ppt/notesSlides/notesSlide10.xml" Id="Rb118f2f38cef4d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d4546255084e8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FF7DCB-3E3E-49EE-B15C-E10A4118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solidFill>
              <a:srgbClr val="4DA3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CC861B-0799-4EAC-A0D3-CD905D66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57250"/>
            <a:ext cx="5905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275" b="1">
                <a:solidFill>
                  <a:srgbClr val="F6F8FB"/>
                </a:solidFill>
                <a:latin typeface="Aptos Display"/>
                <a:ea typeface="Aptos Display"/>
                <a:cs typeface="Aptos Display"/>
              </a:defRPr>
            </a:pPr>
            <a:r>
              <a:rPr sz="4275" b="1">
                <a:solidFill>
                  <a:srgbClr val="F6F8FB"/>
                </a:solidFill>
                <a:latin typeface="Aptos Display"/>
                <a:ea typeface="Aptos Display"/>
                <a:cs typeface="Aptos Display"/>
              </a:rPr>
              <a:t>GitHub Governance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4275" b="1">
                <a:solidFill>
                  <a:srgbClr val="F6F8FB"/>
                </a:solidFill>
                <a:latin typeface="Aptos Display"/>
                <a:ea typeface="Aptos Display"/>
                <a:cs typeface="Aptos Display"/>
              </a:defRPr>
            </a:pPr>
            <a:r>
              <a:rPr sz="4275" b="1">
                <a:solidFill>
                  <a:srgbClr val="F6F8FB"/>
                </a:solidFill>
                <a:latin typeface="Aptos Display"/>
                <a:ea typeface="Aptos Display"/>
                <a:cs typeface="Aptos Display"/>
              </a:rPr>
              <a:t>Intelligence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988D18-F17D-437C-BB7D-F8D2E832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295525"/>
            <a:ext cx="5381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B6C5D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B6C5D7"/>
                </a:solidFill>
                <a:latin typeface="Aptos"/>
                <a:ea typeface="Aptos"/>
                <a:cs typeface="Aptos"/>
              </a:rPr>
              <a:t>Turning enterprise audit logs into explainable findings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5363BD-EFA5-4A8D-A2D0-D469FA3B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009900"/>
            <a:ext cx="2524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DA3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752A18-CB00-4E22-AD45-BC1FB487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333750"/>
            <a:ext cx="52863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6F8F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6F8FB"/>
                </a:solidFill>
                <a:latin typeface="Aptos Display"/>
                <a:ea typeface="Aptos Display"/>
                <a:cs typeface="Aptos Display"/>
              </a:rPr>
              <a:t>A complete audit trail records what happened.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6F8F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6F8FB"/>
                </a:solidFill>
                <a:latin typeface="Aptos Display"/>
                <a:ea typeface="Aptos Display"/>
                <a:cs typeface="Aptos Display"/>
              </a:rPr>
              <a:t>The governance layer shows what deserves attention and why.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26D238-1A06-4B08-9048-191A2BD3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5340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Ayush Baranwal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3A74AF-7CB5-4330-BA6E-596797ED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83882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B6C5D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6C5D7"/>
                </a:solidFill>
                <a:latin typeface="Aptos"/>
                <a:ea typeface="Aptos"/>
                <a:cs typeface="Aptos"/>
              </a:rPr>
              <a:t>GitHub Platform Engineering, Developer Tooling All Hands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49766D-223B-4C56-90F2-40F85731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B6C5D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6C5D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443704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83E9A8-CFDF-4D1F-9A10-AA0021C3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solidFill>
              <a:srgbClr val="4DA3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A649CB-2353-46C5-ADB2-D68864DE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F6F8FB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6F8FB"/>
                </a:solidFill>
                <a:latin typeface="Aptos Display"/>
                <a:ea typeface="Aptos Display"/>
                <a:cs typeface="Aptos Display"/>
              </a:rPr>
              <a:t>The signal-to-noise problem at enterprise scale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512569-7BBC-4337-BDBA-555665F7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1081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B6C5D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6C5D7"/>
                </a:solidFill>
                <a:latin typeface="Aptos"/>
                <a:ea typeface="Aptos"/>
                <a:cs typeface="Aptos"/>
              </a:rPr>
              <a:t>The audit stream is complete, but manual review cannot prioritize 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E572F8-883B-488B-B8B1-2FAE3177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429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B6C5D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6C5D7"/>
                </a:solidFill>
                <a:latin typeface="Aptos"/>
                <a:ea typeface="Aptos"/>
                <a:cs typeface="Aptos"/>
              </a:rPr>
              <a:t>GitHub Governance Intelligence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0CCC74-71B7-444F-9CD6-985E3EE5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B6C5D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6C5D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601c79232942dd"/>
          <a:srcRect xmlns:a="http://schemas.openxmlformats.org/drawingml/2006/main" l="0" t="13769" r="0" b="137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219200"/>
            <a:ext cx="12192000" cy="49720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7F714D-B4C1-4BC2-8982-9C5CCD0F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223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4DA3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4DA3FF"/>
                </a:solidFill>
                <a:latin typeface="Aptos Display"/>
                <a:ea typeface="Aptos Display"/>
                <a:cs typeface="Aptos Display"/>
              </a:rPr>
              <a:t>650+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501EF9-C58F-4DF0-89DF-1E7573BC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76425"/>
            <a:ext cx="2238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B6C5D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6C5D7"/>
                </a:solidFill>
                <a:latin typeface="Aptos"/>
                <a:ea typeface="Aptos"/>
                <a:cs typeface="Aptos"/>
              </a:rPr>
              <a:t>GitHub organizations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61449C-F236-44BA-80D4-AFA9382C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457325"/>
            <a:ext cx="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A4B7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7A142E-E50A-4736-B937-A42541B62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409700"/>
            <a:ext cx="223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B875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B875FF"/>
                </a:solidFill>
                <a:latin typeface="Aptos Display"/>
                <a:ea typeface="Aptos Display"/>
                <a:cs typeface="Aptos Display"/>
              </a:rPr>
              <a:t>11K+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86971E-6796-4944-8540-F6804FA0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76425"/>
            <a:ext cx="2238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B6C5D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6C5D7"/>
                </a:solidFill>
                <a:latin typeface="Aptos"/>
                <a:ea typeface="Aptos"/>
                <a:cs typeface="Aptos"/>
              </a:rPr>
              <a:t>repositories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7259BD-9145-41DB-A73C-23F2D3B98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457325"/>
            <a:ext cx="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A4B7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20B449-0297-4933-9DBB-C4688704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09700"/>
            <a:ext cx="223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65D17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65D17A"/>
                </a:solidFill>
                <a:latin typeface="Aptos Display"/>
                <a:ea typeface="Aptos Display"/>
                <a:cs typeface="Aptos Display"/>
              </a:rPr>
              <a:t>~365K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EC84C7-3542-4569-8E2B-FA6AD700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76425"/>
            <a:ext cx="2238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B6C5D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6C5D7"/>
                </a:solidFill>
                <a:latin typeface="Aptos"/>
                <a:ea typeface="Aptos"/>
                <a:cs typeface="Aptos"/>
              </a:rPr>
              <a:t>audit events per day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254B0A-28DB-4B63-9BE0-0AD6C059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1457325"/>
            <a:ext cx="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A4B7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7C6207-2B08-4274-914C-CE8BC0B5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1409700"/>
            <a:ext cx="223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FFB547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B547"/>
                </a:solidFill>
                <a:latin typeface="Aptos Display"/>
                <a:ea typeface="Aptos Display"/>
                <a:cs typeface="Aptos Display"/>
              </a:rPr>
              <a:t>~3M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625CBE-A653-486B-AF37-209F488C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1876425"/>
            <a:ext cx="2238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B6C5D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6C5D7"/>
                </a:solidFill>
                <a:latin typeface="Aptos"/>
                <a:ea typeface="Aptos"/>
                <a:cs typeface="Aptos"/>
              </a:rPr>
              <a:t>events per week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E356F7-211D-4F14-A737-840C8778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59055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E223B"/>
          </a:solidFill>
          <a:ln xmlns:a="http://schemas.openxmlformats.org/drawingml/2006/main" w="11430">
            <a:solidFill>
              <a:srgbClr val="4DA3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5750A3-82E6-406A-A227-8FB7B427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219700"/>
            <a:ext cx="539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The platform retains every source event while ranking the smaller set of governance findings.</a:t>
            </a:r>
          </a:p>
        </p:txBody>
      </p:sp>
    </p:spTree>
    <p:extLst>
      <p:ext uri="{BB962C8B-B14F-4D97-AF65-F5344CB8AC3E}">
        <p14:creationId xmlns:p14="http://schemas.microsoft.com/office/powerpoint/2010/main" val="12923835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39E3BB-0C71-41A5-9AB6-D53A1C5A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solidFill>
              <a:srgbClr val="4DA3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1619DC-2023-4CE1-B4F0-3F9E0ACC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F6F8FB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6F8FB"/>
                </a:solidFill>
                <a:latin typeface="Aptos Display"/>
                <a:ea typeface="Aptos Display"/>
                <a:cs typeface="Aptos Display"/>
              </a:rPr>
              <a:t>A raw event records facts, not review meaning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EEC465-F7DB-45D4-B29F-75160738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1081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B6C5D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6C5D7"/>
                </a:solidFill>
                <a:latin typeface="Aptos"/>
                <a:ea typeface="Aptos"/>
                <a:cs typeface="Aptos"/>
              </a:rPr>
              <a:t>Illustrative example: a technical account is suspended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05D44A-2BEE-4E01-A1CF-794FE538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429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B6C5D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6C5D7"/>
                </a:solidFill>
                <a:latin typeface="Aptos"/>
                <a:ea typeface="Aptos"/>
                <a:cs typeface="Aptos"/>
              </a:rPr>
              <a:t>GitHub Governance Intelligence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560518-3D1B-42BC-8E24-800429DC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B6C5D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6C5D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0D37F5-DE88-4092-BD17-17B88618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438275"/>
            <a:ext cx="4695825" cy="4495800"/>
          </a:xfrm>
          <a:prstGeom xmlns:a="http://schemas.openxmlformats.org/drawingml/2006/main" prst="roundRect">
            <a:avLst>
              <a:gd name="adj" fmla="val 2542"/>
            </a:avLst>
          </a:prstGeom>
          <a:solidFill xmlns:a="http://schemas.openxmlformats.org/drawingml/2006/main">
            <a:srgbClr val="0E223B"/>
          </a:solidFill>
          <a:ln xmlns:a="http://schemas.openxmlformats.org/drawingml/2006/main" w="14288">
            <a:solidFill>
              <a:srgbClr val="FF4967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39416096714cea"/>
          <a:srcRect xmlns:a="http://schemas.openxmlformats.org/drawingml/2006/main" l="10788" t="0" r="107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" y="1495425"/>
            <a:ext cx="4581525" cy="4381500"/>
          </a:xfrm>
          <a:prstGeom xmlns:a="http://schemas.openxmlformats.org/drawingml/2006/main" prst="roundRect">
            <a:avLst>
              <a:gd name="adj" fmla="val 304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1EBBA2-5319-4563-9BFD-069E7F13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038725"/>
            <a:ext cx="38290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11430">
            <a:solidFill>
              <a:srgbClr val="FF496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AEE1FA-9FFA-4421-91E2-BA89AD19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153025"/>
            <a:ext cx="3448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Technical account suspended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F08751-08A8-4AC0-BCBC-D23AAED3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14954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5C7D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5C7DC"/>
                </a:solidFill>
                <a:latin typeface="Aptos"/>
                <a:ea typeface="Aptos"/>
                <a:cs typeface="Aptos"/>
              </a:rPr>
              <a:t>RAW AUDIT EVENT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DFB5F5-1B4E-4715-82BB-183E90F8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17716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6F8F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6F8FB"/>
                </a:solidFill>
                <a:latin typeface="Aptos Display"/>
                <a:ea typeface="Aptos Display"/>
                <a:cs typeface="Aptos Display"/>
              </a:rPr>
              <a:t>user.suspended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15A0D0-EE9F-4BD8-AA29-E96E4A4D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2669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B6C5D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6C5D7"/>
                </a:solidFill>
                <a:latin typeface="Aptos"/>
                <a:ea typeface="Aptos"/>
                <a:cs typeface="Aptos"/>
              </a:rPr>
              <a:t>actor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C383D0-6713-4757-8BDF-499C9C95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2669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admin-user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D73FEA-3328-49BA-BCC4-2844B476B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590800"/>
            <a:ext cx="5572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4B7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F46AB8-A171-44D1-9952-24A19D06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733675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B6C5D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6C5D7"/>
                </a:solidFill>
                <a:latin typeface="Aptos"/>
                <a:ea typeface="Aptos"/>
                <a:cs typeface="Aptos"/>
              </a:rPr>
              <a:t>affected identity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9EC474-68A7-444A-A1D8-EE03E428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733675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runner-tech-account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161790-C1AC-48E0-BF4B-6905F99F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057525"/>
            <a:ext cx="5572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4B7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9789FA-D5EB-4CDB-AA05-87F8E2FE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20040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B6C5D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6C5D7"/>
                </a:solidFill>
                <a:latin typeface="Aptos"/>
                <a:ea typeface="Aptos"/>
                <a:cs typeface="Aptos"/>
              </a:rPr>
              <a:t>scope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51DCC8-027F-460A-AA31-B7DEA6D1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2004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enterprise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AB173B-309B-49EF-8836-B72C7E72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524250"/>
            <a:ext cx="5572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4B7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C03781-9351-4B78-8959-5B574FD0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7528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B875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875FF"/>
                </a:solidFill>
                <a:latin typeface="Aptos"/>
                <a:ea typeface="Aptos"/>
                <a:cs typeface="Aptos"/>
              </a:rPr>
              <a:t>Context needed before 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35C6B3-9775-4A37-AAE7-CEFB09D1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2005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967"/>
          </a:solidFill>
          <a:ln xmlns:a="http://schemas.openxmlformats.org/drawingml/2006/main" w="9525">
            <a:solidFill>
              <a:srgbClr val="FF496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22B8E3-5B7E-41F4-BCE9-0DF5425F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20052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2C7C76-2FB5-4073-B97F-866F2047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17195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6F8FB"/>
                </a:solidFill>
                <a:latin typeface="Aptos"/>
                <a:ea typeface="Aptos"/>
                <a:cs typeface="Aptos"/>
              </a:rPr>
              <a:t>Is the identity registered as business critical?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497A94-F204-4638-8453-84308639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705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D17A"/>
          </a:solidFill>
          <a:ln xmlns:a="http://schemas.openxmlformats.org/drawingml/2006/main" w="9525">
            <a:solidFill>
              <a:srgbClr val="65D17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B64BA0-8763-450D-A3AC-B3E9BDD92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7053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D81189-DA91-4B7C-9FB2-46523BF0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676775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6F8FB"/>
                </a:solidFill>
                <a:latin typeface="Aptos"/>
                <a:ea typeface="Aptos"/>
                <a:cs typeface="Aptos"/>
              </a:rPr>
              <a:t>Was this suspension expected and approved?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C84D5C-86FD-40DF-81A5-1ED9FBDF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52101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47"/>
          </a:solidFill>
          <a:ln xmlns:a="http://schemas.openxmlformats.org/drawingml/2006/main" w="9525">
            <a:solidFill>
              <a:srgbClr val="FFB54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1E7ECD-2234-4EE4-A82C-697D42DE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52101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1C1435-0135-4A4B-995F-34D92A322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18160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6F8FB"/>
                </a:solidFill>
                <a:latin typeface="Aptos"/>
                <a:ea typeface="Aptos"/>
                <a:cs typeface="Aptos"/>
              </a:rPr>
              <a:t>Which services or runner environments depend on it?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37E786-EE82-419C-A1A2-F0C5845F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5648325"/>
            <a:ext cx="5572125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E223B"/>
          </a:solidFill>
          <a:ln xmlns:a="http://schemas.openxmlformats.org/drawingml/2006/main" w="11430">
            <a:solidFill>
              <a:srgbClr val="FF496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EFAC56-80F9-44E8-B6F4-3085D9A6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5715000"/>
            <a:ext cx="5191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Critical identity context promotes this suspension to CRITICAL</a:t>
            </a:r>
          </a:p>
        </p:txBody>
      </p:sp>
    </p:spTree>
    <p:extLst>
      <p:ext uri="{BB962C8B-B14F-4D97-AF65-F5344CB8AC3E}">
        <p14:creationId xmlns:p14="http://schemas.microsoft.com/office/powerpoint/2010/main" val="13937864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E4C8DB6-3A44-4647-A831-8C675382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solidFill>
              <a:srgbClr val="4DA3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25359C-53DC-4B45-869E-249A27F1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F6F8FB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6F8FB"/>
                </a:solidFill>
                <a:latin typeface="Aptos Display"/>
                <a:ea typeface="Aptos Display"/>
                <a:cs typeface="Aptos Display"/>
              </a:rPr>
              <a:t>Architecture and evidence lineage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ED6F4A-19EA-43DA-8470-04F36BA4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1081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B6C5D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6C5D7"/>
                </a:solidFill>
                <a:latin typeface="Aptos"/>
                <a:ea typeface="Aptos"/>
                <a:cs typeface="Aptos"/>
              </a:rPr>
              <a:t>Each layer adds context while retaining the source event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7647BA-22C5-4C50-9F4B-BF2BB63D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429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B6C5D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6C5D7"/>
                </a:solidFill>
                <a:latin typeface="Aptos"/>
                <a:ea typeface="Aptos"/>
                <a:cs typeface="Aptos"/>
              </a:rPr>
              <a:t>GitHub Governance Intelligence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E15B1D-98EF-4F6F-B30F-6B6D28E3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B6C5D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6C5D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65689D-826E-4C59-87D5-4A5ED670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19812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32B4D"/>
          </a:solidFill>
          <a:ln xmlns:a="http://schemas.openxmlformats.org/drawingml/2006/main" w="11430">
            <a:solidFill>
              <a:srgbClr val="4DA3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6B500D-CD1F-4544-AF65-04650DF9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14525"/>
            <a:ext cx="428625" cy="428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9525">
            <a:solidFill>
              <a:srgbClr val="4DA3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AC9B5A-5F16-40C0-BB8F-885158E9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1452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GH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D2E7A7-9ED3-4EBA-9231-B29C35CA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847850"/>
            <a:ext cx="11334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GitHub Enterprise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B75FA0-2CEE-4BA1-8125-8596EBD4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160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B6C5D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6C5D7"/>
                </a:solidFill>
                <a:latin typeface="Aptos"/>
                <a:ea typeface="Aptos"/>
                <a:cs typeface="Aptos"/>
              </a:rPr>
              <a:t>Enterprise audit events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5AE783-76DC-404C-8175-FB7B3557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714500"/>
            <a:ext cx="19812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32B4D"/>
          </a:solidFill>
          <a:ln xmlns:a="http://schemas.openxmlformats.org/drawingml/2006/main" w="11430">
            <a:solidFill>
              <a:srgbClr val="65D17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6CDFBB-6919-4B0F-9AF4-B2E37C0D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914525"/>
            <a:ext cx="428625" cy="428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D17A"/>
          </a:solidFill>
          <a:ln xmlns:a="http://schemas.openxmlformats.org/drawingml/2006/main" w="9525">
            <a:solidFill>
              <a:srgbClr val="65D17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D92BD1-C23D-4068-B2AF-549FDEAF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91452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GCS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FB15B8-B2CA-4552-9086-0F475639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847850"/>
            <a:ext cx="11334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GCS landing zone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052E2A-0BA1-410E-AE2E-B940AF81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533650"/>
            <a:ext cx="160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B6C5D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6C5D7"/>
                </a:solidFill>
                <a:latin typeface="Aptos"/>
                <a:ea typeface="Aptos"/>
                <a:cs typeface="Aptos"/>
              </a:rPr>
              <a:t>Raw files by environment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5D46F2-6B4C-414D-BECE-661BA034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714500"/>
            <a:ext cx="19812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32B4D"/>
          </a:solidFill>
          <a:ln xmlns:a="http://schemas.openxmlformats.org/drawingml/2006/main" w="11430">
            <a:solidFill>
              <a:srgbClr val="FFB54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6EBE6F-E780-43D4-985E-D248822A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914525"/>
            <a:ext cx="428625" cy="428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47"/>
          </a:solidFill>
          <a:ln xmlns:a="http://schemas.openxmlformats.org/drawingml/2006/main" w="9525">
            <a:solidFill>
              <a:srgbClr val="FFB54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4B7B65-0188-4C24-91E7-BBD84C8C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91452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468B35-935D-4D20-A186-F68217D51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47850"/>
            <a:ext cx="11334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Normalize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15A51A-0C13-44C2-8D60-B2AFE94E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533650"/>
            <a:ext cx="160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B6C5D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6C5D7"/>
                </a:solidFill>
                <a:latin typeface="Aptos"/>
                <a:ea typeface="Aptos"/>
                <a:cs typeface="Aptos"/>
              </a:rPr>
              <a:t>github_audit_events_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B6C5D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6C5D7"/>
                </a:solidFill>
                <a:latin typeface="Aptos"/>
                <a:ea typeface="Aptos"/>
                <a:cs typeface="Aptos"/>
              </a:rPr>
              <a:t>normalized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A700FF-9C8C-44C6-BEF4-F7A14684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714500"/>
            <a:ext cx="19812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32B4D"/>
          </a:solidFill>
          <a:ln xmlns:a="http://schemas.openxmlformats.org/drawingml/2006/main" w="11430">
            <a:solidFill>
              <a:srgbClr val="B875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CD1D35-CE8A-4694-80B1-C77EDE7D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914525"/>
            <a:ext cx="428625" cy="428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5FF"/>
          </a:solidFill>
          <a:ln xmlns:a="http://schemas.openxmlformats.org/drawingml/2006/main" w="9525">
            <a:solidFill>
              <a:srgbClr val="B875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0F8769-832A-43A5-919A-002BDA60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91452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7B5619-689C-4ADA-BB21-68F50BBE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847850"/>
            <a:ext cx="11334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Classify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04C445-DD6D-4871-9A6C-FA9FF1F7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533650"/>
            <a:ext cx="160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B6C5D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6C5D7"/>
                </a:solidFill>
                <a:latin typeface="Aptos"/>
                <a:ea typeface="Aptos"/>
                <a:cs typeface="Aptos"/>
              </a:rPr>
              <a:t>github_governance_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B6C5D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6C5D7"/>
                </a:solidFill>
                <a:latin typeface="Aptos"/>
                <a:ea typeface="Aptos"/>
                <a:cs typeface="Aptos"/>
              </a:rPr>
              <a:t>events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3951A1-A149-401D-A072-997E8236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714500"/>
            <a:ext cx="19812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32B4D"/>
          </a:solidFill>
          <a:ln xmlns:a="http://schemas.openxmlformats.org/drawingml/2006/main" w="11430">
            <a:solidFill>
              <a:srgbClr val="35C7D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FBE65D-06DF-4866-983E-BD9AC20A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914525"/>
            <a:ext cx="428625" cy="428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C7DC"/>
          </a:solidFill>
          <a:ln xmlns:a="http://schemas.openxmlformats.org/drawingml/2006/main" w="9525">
            <a:solidFill>
              <a:srgbClr val="35C7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AAC497-2094-4C13-B84A-1BE76FC5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91452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UI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48678D-ADDE-41A0-9230-84365D70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847850"/>
            <a:ext cx="11334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Grafana and reports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478BB6-CEE3-4B2A-8D07-1D1A8B4F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533650"/>
            <a:ext cx="160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B6C5D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6C5D7"/>
                </a:solidFill>
                <a:latin typeface="Aptos"/>
                <a:ea typeface="Aptos"/>
                <a:cs typeface="Aptos"/>
              </a:rPr>
              <a:t>Queues, drilldowns, exports</a:t>
            </a:r>
          </a:p>
        </p:txBody>
      </p:sp>
      <p:cxnSp>
        <p:nvCxnSpPr>
          <p:cNvPr id="75" name=""/>
          <p:cNvCxnSpPr>
            <a:stCxn xmlns:a="http://schemas.openxmlformats.org/drawingml/2006/main" id="6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533650" y="2466975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A3FF"/>
            </a:solidFill>
            <a:prstDash val="solid"/>
            <a:tailEnd type="triangle" w="sm" len="sm"/>
          </a:ln>
        </p:spPr>
      </p:cxnSp>
      <p:cxnSp>
        <p:nvCxnSpPr>
          <p:cNvPr id="76" name=""/>
          <p:cNvCxnSpPr>
            <a:stCxn xmlns:a="http://schemas.openxmlformats.org/drawingml/2006/main" id="11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810125" y="2466975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A3FF"/>
            </a:solidFill>
            <a:prstDash val="solid"/>
            <a:tailEnd type="triangle" w="sm" len="sm"/>
          </a:ln>
        </p:spPr>
      </p:cxnSp>
      <p:cxnSp>
        <p:nvCxnSpPr>
          <p:cNvPr id="77" name=""/>
          <p:cNvCxnSpPr>
            <a:stCxn xmlns:a="http://schemas.openxmlformats.org/drawingml/2006/main" id="16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086600" y="2466975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A3FF"/>
            </a:solidFill>
            <a:prstDash val="solid"/>
            <a:tailEnd type="triangle" w="sm" len="sm"/>
          </a:ln>
        </p:spPr>
      </p:cxnSp>
      <p:cxnSp>
        <p:nvCxnSpPr>
          <p:cNvPr id="78" name=""/>
          <p:cNvCxnSpPr>
            <a:stCxn xmlns:a="http://schemas.openxmlformats.org/drawingml/2006/main" id="21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9363075" y="2466975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A3FF"/>
            </a:solidFill>
            <a:prstDash val="solid"/>
            <a:tailEnd type="triangle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389247-A6AE-4F11-8ECE-04A83E91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029075"/>
            <a:ext cx="2571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E223B"/>
          </a:solidFill>
          <a:ln xmlns:a="http://schemas.openxmlformats.org/drawingml/2006/main" w="11430">
            <a:solidFill>
              <a:srgbClr val="FF496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4E3438-1EE2-4C3C-81FB-8F67D054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191000"/>
            <a:ext cx="2038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Rule catalogue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98B0D77-FE1A-4133-9476-5FC8E46F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543425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B6C5D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6C5D7"/>
                </a:solidFill>
                <a:latin typeface="Aptos"/>
                <a:ea typeface="Aptos"/>
                <a:cs typeface="Aptos"/>
              </a:rPr>
              <a:t>Event type, base priority, review reason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497D375-BC5A-4FE0-93B9-1731C5B6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29075"/>
            <a:ext cx="2571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E223B"/>
          </a:solidFill>
          <a:ln xmlns:a="http://schemas.openxmlformats.org/drawingml/2006/main" w="11430">
            <a:solidFill>
              <a:srgbClr val="FF7A3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435DEB4-CDB0-478E-8906-12D9B09A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91000"/>
            <a:ext cx="2038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Exception register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5BBB4E6-CA74-418F-B70F-D79F9FB6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543425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B6C5D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6C5D7"/>
                </a:solidFill>
                <a:latin typeface="Aptos"/>
                <a:ea typeface="Aptos"/>
                <a:cs typeface="Aptos"/>
              </a:rPr>
              <a:t>Approved actor, scope, override and owner</a:t>
            </a:r>
          </a:p>
        </p:txBody>
      </p:sp>
      <p:cxnSp>
        <p:nvCxnSpPr>
          <p:cNvPr id="85" name=""/>
          <p:cNvCxnSpPr>
            <a:stCxn xmlns:a="http://schemas.openxmlformats.org/drawingml/2006/main" id="35" idx="0"/>
            <a:endCxn xmlns:a="http://schemas.openxmlformats.org/drawingml/2006/main" id="21" idx="2"/>
          </p:cNvCxnSpPr>
          <p:nvPr/>
        </p:nvCxnSpPr>
        <p:spPr>
          <a:xfrm xmlns:a="http://schemas.openxmlformats.org/drawingml/2006/main" flipV="1">
            <a:off x="6762750" y="3219450"/>
            <a:ext cx="1609725" cy="809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FF4967"/>
            </a:solidFill>
            <a:prstDash val="solid"/>
            <a:tailEnd type="triangle" w="sm" len="sm"/>
          </a:ln>
        </p:spPr>
      </p:cxnSp>
      <p:cxnSp>
        <p:nvCxnSpPr>
          <p:cNvPr id="86" name=""/>
          <p:cNvCxnSpPr>
            <a:stCxn xmlns:a="http://schemas.openxmlformats.org/drawingml/2006/main" id="38" idx="0"/>
            <a:endCxn xmlns:a="http://schemas.openxmlformats.org/drawingml/2006/main" id="21" idx="2"/>
          </p:cNvCxnSpPr>
          <p:nvPr/>
        </p:nvCxnSpPr>
        <p:spPr>
          <a:xfrm xmlns:a="http://schemas.openxmlformats.org/drawingml/2006/main" flipH="1" flipV="1">
            <a:off x="8372475" y="3219450"/>
            <a:ext cx="1257300" cy="809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FF7A3D"/>
            </a:solidFill>
            <a:prstDash val="solid"/>
            <a:tailEnd type="triangle" w="sm" len="sm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FF37B5C-26E9-4EC0-BD4D-4A8AE3B8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14975"/>
            <a:ext cx="105537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E223B"/>
          </a:solidFill>
          <a:ln xmlns:a="http://schemas.openxmlformats.org/drawingml/2006/main" w="11430">
            <a:solidFill>
              <a:srgbClr val="2A4B7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133B459-CB81-4CD2-93C7-C04C1DBA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38800"/>
            <a:ext cx="9982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B6C5D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B6C5D7"/>
                </a:solidFill>
                <a:latin typeface="Aptos"/>
                <a:ea typeface="Aptos"/>
                <a:cs typeface="Aptos"/>
              </a:rPr>
              <a:t>Traceability retained: event_key, source_file, rule_id, rule_version and review_reason</a:t>
            </a:r>
          </a:p>
        </p:txBody>
      </p:sp>
    </p:spTree>
    <p:extLst>
      <p:ext uri="{BB962C8B-B14F-4D97-AF65-F5344CB8AC3E}">
        <p14:creationId xmlns:p14="http://schemas.microsoft.com/office/powerpoint/2010/main" val="4883479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12FD44-8D36-432F-8E3D-D1856C63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solidFill>
              <a:srgbClr val="4DA3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899C44-6DFF-4909-9F26-99C69F1A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F6F8FB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6F8FB"/>
                </a:solidFill>
                <a:latin typeface="Aptos Display"/>
                <a:ea typeface="Aptos Display"/>
                <a:cs typeface="Aptos Display"/>
              </a:rPr>
              <a:t>The classifier makes every priority explainable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FD5027-1207-49B4-971B-D480BA3B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1081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B6C5D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6C5D7"/>
                </a:solidFill>
                <a:latin typeface="Aptos"/>
                <a:ea typeface="Aptos"/>
                <a:cs typeface="Aptos"/>
              </a:rPr>
              <a:t>One technical action can lead to different review outcomes when context changes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7D0B71-A4A6-4723-BE2F-7CD37799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429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B6C5D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6C5D7"/>
                </a:solidFill>
                <a:latin typeface="Aptos"/>
                <a:ea typeface="Aptos"/>
                <a:cs typeface="Aptos"/>
              </a:rPr>
              <a:t>GitHub Governance Intelligence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A26C2E-7EE0-4AB2-960F-02C7B64B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B6C5D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6C5D7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0A0143-DA59-4E02-8ABB-668882D2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2428875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132B4D"/>
          </a:solidFill>
          <a:ln xmlns:a="http://schemas.openxmlformats.org/drawingml/2006/main" w="11430">
            <a:solidFill>
              <a:srgbClr val="4DA3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0B3D80-FA96-40AD-9C79-A93445D3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383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4DA3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DA3FF"/>
                </a:solidFill>
                <a:latin typeface="Aptos"/>
                <a:ea typeface="Aptos"/>
                <a:cs typeface="Aptos"/>
              </a:rPr>
              <a:t>RAW 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D78F6F-3778-450A-9CF5-20D592EA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24075"/>
            <a:ext cx="1952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75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protected_branch.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575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policy_override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B83083-A3C9-42A5-BD07-B7DBEE01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57350"/>
            <a:ext cx="2428875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132B4D"/>
          </a:solidFill>
          <a:ln xmlns:a="http://schemas.openxmlformats.org/drawingml/2006/main" w="11430">
            <a:solidFill>
              <a:srgbClr val="B875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F10350-713A-46F7-8199-15F4325C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8383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B875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875FF"/>
                </a:solidFill>
                <a:latin typeface="Aptos"/>
                <a:ea typeface="Aptos"/>
                <a:cs typeface="Aptos"/>
              </a:rPr>
              <a:t>RULE MAPPING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394921-315B-415F-869F-1990D75BB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124075"/>
            <a:ext cx="1952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75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Protected branch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575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policy override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0B0169-3D6B-41A4-B0C9-E50581AC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57350"/>
            <a:ext cx="20764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132B4D"/>
          </a:solidFill>
          <a:ln xmlns:a="http://schemas.openxmlformats.org/drawingml/2006/main" w="11430">
            <a:solidFill>
              <a:srgbClr val="FF496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409159-7D2D-49C9-B28F-B5CE6272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18383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F496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4967"/>
                </a:solidFill>
                <a:latin typeface="Aptos"/>
                <a:ea typeface="Aptos"/>
                <a:cs typeface="Aptos"/>
              </a:rPr>
              <a:t>BASE PRIORITY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32F12D-4321-4CFC-9046-2D3018F6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143125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6F8F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6F8FB"/>
                </a:solidFill>
                <a:latin typeface="Aptos Display"/>
                <a:ea typeface="Aptos Display"/>
                <a:cs typeface="Aptos Display"/>
              </a:rPr>
              <a:t>HIGH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546DAA-2A1E-4F5E-8ED3-BCDCBA1E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552700"/>
            <a:ext cx="1619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B6C5D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6C5D7"/>
                </a:solidFill>
                <a:latin typeface="Aptos"/>
                <a:ea typeface="Aptos"/>
                <a:cs typeface="Aptos"/>
              </a:rPr>
              <a:t>Policy bypass requires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CE2E07-1591-4833-8D6D-AAEB8B4B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657350"/>
            <a:ext cx="27051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132B4D"/>
          </a:solidFill>
          <a:ln xmlns:a="http://schemas.openxmlformats.org/drawingml/2006/main" w="11430">
            <a:solidFill>
              <a:srgbClr val="FFB54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8D437B-2E11-4739-AF0E-66D305A0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18383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FB54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B547"/>
                </a:solidFill>
                <a:latin typeface="Aptos"/>
                <a:ea typeface="Aptos"/>
                <a:cs typeface="Aptos"/>
              </a:rPr>
              <a:t>CONTEXT CHECK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B61FDE-5E73-44FC-8D14-15F454E7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143125"/>
            <a:ext cx="2209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Does an active approved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automation exception match?</a:t>
            </a:r>
          </a:p>
        </p:txBody>
      </p:sp>
      <p:cxnSp>
        <p:nvCxnSpPr>
          <p:cNvPr id="51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019425" y="230505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A3FF"/>
            </a:solidFill>
            <a:prstDash val="solid"/>
            <a:tailEnd type="triangle" w="sm" len="sm"/>
          </a:ln>
        </p:spPr>
      </p:cxnSp>
      <p:cxnSp>
        <p:nvCxnSpPr>
          <p:cNvPr id="52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905500" y="230505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75FF"/>
            </a:solidFill>
            <a:prstDash val="solid"/>
            <a:tail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439150" y="230505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4967"/>
            </a:solidFill>
            <a:prstDash val="soli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7DA7DB-0F93-4154-B14E-C2E36680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00500"/>
            <a:ext cx="33337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0E223B"/>
          </a:solidFill>
          <a:ln xmlns:a="http://schemas.openxmlformats.org/drawingml/2006/main" w="11430">
            <a:solidFill>
              <a:srgbClr val="FF496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822174-C77E-4597-A605-DA3D1541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0050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967"/>
          </a:solidFill>
          <a:ln xmlns:a="http://schemas.openxmlformats.org/drawingml/2006/main" w="0">
            <a:solidFill>
              <a:srgbClr val="FF496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F0205B-5BC3-4874-B293-1ACC049D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10050"/>
            <a:ext cx="276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No matching exception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2CB039-1BA4-4C73-8FA6-4FADE48D2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81525"/>
            <a:ext cx="2762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B6C5D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B6C5D7"/>
                </a:solidFill>
                <a:latin typeface="Aptos"/>
                <a:ea typeface="Aptos"/>
                <a:cs typeface="Aptos"/>
              </a:rPr>
              <a:t>Final priority: HIGH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B6C5D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B6C5D7"/>
                </a:solidFill>
                <a:latin typeface="Aptos"/>
                <a:ea typeface="Aptos"/>
                <a:cs typeface="Aptos"/>
              </a:rPr>
              <a:t>Visible in the review queue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CFD556-A55F-4DA7-86E3-63E4084F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33337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0E223B"/>
          </a:solidFill>
          <a:ln xmlns:a="http://schemas.openxmlformats.org/drawingml/2006/main" w="11430">
            <a:solidFill>
              <a:srgbClr val="65D17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D7AC05-0815-415A-A17D-95A149A9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17A"/>
          </a:solidFill>
          <a:ln xmlns:a="http://schemas.openxmlformats.org/drawingml/2006/main" w="0">
            <a:solidFill>
              <a:srgbClr val="65D17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5C0379-6CE7-4BF7-9870-47F9F3DA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10050"/>
            <a:ext cx="276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Approved automation matches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6B097E-AB28-40B1-93FB-66E368DF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81525"/>
            <a:ext cx="2762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B6C5D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B6C5D7"/>
                </a:solidFill>
                <a:latin typeface="Aptos"/>
                <a:ea typeface="Aptos"/>
                <a:cs typeface="Aptos"/>
              </a:rPr>
              <a:t>Final priority: LOW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B6C5D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B6C5D7"/>
                </a:solidFill>
                <a:latin typeface="Aptos"/>
                <a:ea typeface="Aptos"/>
                <a:cs typeface="Aptos"/>
              </a:rPr>
              <a:t>Still visible with exception reason</a:t>
            </a:r>
          </a:p>
        </p:txBody>
      </p:sp>
      <p:cxnSp>
        <p:nvCxnSpPr>
          <p:cNvPr id="62" name=""/>
          <p:cNvCxnSpPr>
            <a:stCxn xmlns:a="http://schemas.openxmlformats.org/drawingml/2006/main" id="16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 flipH="1">
            <a:off x="4048125" y="2952750"/>
            <a:ext cx="6200775" cy="1047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FF4967"/>
            </a:solidFill>
            <a:prstDash val="solid"/>
            <a:tailEnd type="triangle" w="sm" len="sm"/>
          </a:ln>
        </p:spPr>
      </p:cxnSp>
      <p:cxnSp>
        <p:nvCxnSpPr>
          <p:cNvPr id="63" name=""/>
          <p:cNvCxnSpPr>
            <a:stCxn xmlns:a="http://schemas.openxmlformats.org/drawingml/2006/main" id="16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 flipH="1">
            <a:off x="8143875" y="2952750"/>
            <a:ext cx="2105025" cy="1047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65D17A"/>
            </a:solidFill>
            <a:prstDash val="solid"/>
            <a:tail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2DE491-5DCF-4E93-A02B-1826C890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67375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35C7D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5C7DC"/>
                </a:solidFill>
                <a:latin typeface="Aptos"/>
                <a:ea typeface="Aptos"/>
                <a:cs typeface="Aptos"/>
              </a:rPr>
              <a:t>Every finding retains the event, rule version, final priority and review reason</a:t>
            </a:r>
          </a:p>
        </p:txBody>
      </p:sp>
    </p:spTree>
    <p:extLst>
      <p:ext uri="{BB962C8B-B14F-4D97-AF65-F5344CB8AC3E}">
        <p14:creationId xmlns:p14="http://schemas.microsoft.com/office/powerpoint/2010/main" val="1913880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B6362A-A789-4460-8BB3-B74732AE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solidFill>
              <a:srgbClr val="4DA3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D6E225-CC18-4A2C-BCDD-BB58993B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F6F8FB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6F8FB"/>
                </a:solidFill>
                <a:latin typeface="Aptos Display"/>
                <a:ea typeface="Aptos Display"/>
                <a:cs typeface="Aptos Display"/>
              </a:rPr>
              <a:t>Three user journeys organize the governance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1BBBFF-50F6-4443-95BF-335785A4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1081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B6C5D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6C5D7"/>
                </a:solidFill>
                <a:latin typeface="Aptos"/>
                <a:ea typeface="Aptos"/>
                <a:cs typeface="Aptos"/>
              </a:rPr>
              <a:t>Six dashboards support awareness, investigation and evidence without overwhelming users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4C5E7C-D8C7-43B5-9C1C-A33579E1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429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B6C5D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6C5D7"/>
                </a:solidFill>
                <a:latin typeface="Aptos"/>
                <a:ea typeface="Aptos"/>
                <a:cs typeface="Aptos"/>
              </a:rPr>
              <a:t>GitHub Governance Intelligence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37C10E-1C73-421A-AC0B-0EB3A56B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B6C5D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6C5D7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98E75C-3300-4638-9D5C-04C423D6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352550"/>
            <a:ext cx="11372850" cy="4619625"/>
          </a:xfrm>
          <a:prstGeom xmlns:a="http://schemas.openxmlformats.org/drawingml/2006/main" prst="roundRect">
            <a:avLst>
              <a:gd name="adj" fmla="val 2474"/>
            </a:avLst>
          </a:prstGeom>
          <a:solidFill xmlns:a="http://schemas.openxmlformats.org/drawingml/2006/main">
            <a:srgbClr val="0E223B"/>
          </a:solidFill>
          <a:ln xmlns:a="http://schemas.openxmlformats.org/drawingml/2006/main" w="13335">
            <a:solidFill>
              <a:srgbClr val="2A4B74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4d55640fc942de"/>
          <a:srcRect xmlns:a="http://schemas.openxmlformats.org/drawingml/2006/main" l="0" t="14448" r="0" b="144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" y="1409700"/>
            <a:ext cx="11258550" cy="4505325"/>
          </a:xfrm>
          <a:prstGeom xmlns:a="http://schemas.openxmlformats.org/drawingml/2006/main" prst="roundRect">
            <a:avLst>
              <a:gd name="adj" fmla="val 296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081126-3D7B-4C92-89A8-76098902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514475"/>
            <a:ext cx="3333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10478">
            <a:solidFill>
              <a:srgbClr val="4DA3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B97AF5-CD6E-4D7C-90A2-B6A4C3B5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09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9525">
            <a:solidFill>
              <a:srgbClr val="4DA3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27E73F-B9DE-4188-A600-B87BFC41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097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9F53E2-AC40-42AD-BDD6-2309E0EF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002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A3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DA3FF"/>
                </a:solidFill>
                <a:latin typeface="Aptos"/>
                <a:ea typeface="Aptos"/>
                <a:cs typeface="Aptos"/>
              </a:rPr>
              <a:t>AWARENESS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34AF46-C37E-43E8-AADB-7698498D4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57375"/>
            <a:ext cx="2905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6F8F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6F8FB"/>
                </a:solidFill>
                <a:latin typeface="Aptos Display"/>
                <a:ea typeface="Aptos Display"/>
                <a:cs typeface="Aptos Display"/>
              </a:rPr>
              <a:t>What needs attention?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BE402F-6B96-421D-B45A-A028178A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191125"/>
            <a:ext cx="3190875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11430">
            <a:solidFill>
              <a:srgbClr val="4DA3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57EE2E-BA4E-4D71-BDEB-3BE68B3B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76850"/>
            <a:ext cx="2905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Overview  +  Advanced Security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D466D5-B5E9-4341-89AE-03F64B43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14475"/>
            <a:ext cx="3333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10478">
            <a:solidFill>
              <a:srgbClr val="B875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2DDFED-B410-4159-8FD8-448721E1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09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5FF"/>
          </a:solidFill>
          <a:ln xmlns:a="http://schemas.openxmlformats.org/drawingml/2006/main" w="9525">
            <a:solidFill>
              <a:srgbClr val="B875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418DE0-AB5E-42C7-BEA7-744C728D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097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FF74F2-FBC4-4977-AA73-7B373FB9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16002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B875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875FF"/>
                </a:solidFill>
                <a:latin typeface="Aptos"/>
                <a:ea typeface="Aptos"/>
                <a:cs typeface="Aptos"/>
              </a:rPr>
              <a:t>INVESTIGATION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3DE055-4BCB-4E3B-B905-32F82BED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1857375"/>
            <a:ext cx="2905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6F8F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6F8FB"/>
                </a:solidFill>
                <a:latin typeface="Aptos Display"/>
                <a:ea typeface="Aptos Display"/>
                <a:cs typeface="Aptos Display"/>
              </a:rPr>
              <a:t>What happened and who acted?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3F70F8-E963-482A-93BB-E1AB6F84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191125"/>
            <a:ext cx="3190875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11430">
            <a:solidFill>
              <a:srgbClr val="B875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421F8D-3F8F-454E-ADAB-6299FD57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5276850"/>
            <a:ext cx="2905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Repository  +  User Activity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69AE44-9087-4B89-947F-2154A3E9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1514475"/>
            <a:ext cx="3333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10478">
            <a:solidFill>
              <a:srgbClr val="65D17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582688-6A79-4FD3-A981-D7027721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609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D17A"/>
          </a:solidFill>
          <a:ln xmlns:a="http://schemas.openxmlformats.org/drawingml/2006/main" w="9525">
            <a:solidFill>
              <a:srgbClr val="65D17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F4C502-8C58-4A88-A2A0-D9D0D3E1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6097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9372FB-1794-4B8B-BFAF-C5EEF569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002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5D17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5D17A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0335A8-A576-4D37-BA0D-3CBCCD50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57375"/>
            <a:ext cx="2905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6F8F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6F8FB"/>
                </a:solidFill>
                <a:latin typeface="Aptos Display"/>
                <a:ea typeface="Aptos Display"/>
                <a:cs typeface="Aptos Display"/>
              </a:rPr>
              <a:t>Why was it classified?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2642E6-DDB1-446F-81DB-508D3DD5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5191125"/>
            <a:ext cx="3190875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11430">
            <a:solidFill>
              <a:srgbClr val="65D17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58A7CE-21D1-4E65-A333-28405336D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76850"/>
            <a:ext cx="2905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Reports  +  Classifier Operations</a:t>
            </a:r>
          </a:p>
        </p:txBody>
      </p:sp>
    </p:spTree>
    <p:extLst>
      <p:ext uri="{BB962C8B-B14F-4D97-AF65-F5344CB8AC3E}">
        <p14:creationId xmlns:p14="http://schemas.microsoft.com/office/powerpoint/2010/main" val="19425960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47C95F-C4E0-4E11-A9D5-105A9E7F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solidFill>
              <a:srgbClr val="4DA3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0F46B2-7C59-4834-A39F-2593F08B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F6F8FB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6F8FB"/>
                </a:solidFill>
                <a:latin typeface="Aptos Display"/>
                <a:ea typeface="Aptos Display"/>
                <a:cs typeface="Aptos Display"/>
              </a:rPr>
              <a:t>Use cases that matter to platform teams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52360C-A92B-4952-A5A5-CFA264B4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1081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B6C5D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6C5D7"/>
                </a:solidFill>
                <a:latin typeface="Aptos"/>
                <a:ea typeface="Aptos"/>
                <a:cs typeface="Aptos"/>
              </a:rPr>
              <a:t>The same curated model supports security, identity, policy and evidence questions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CF3F2D-4DA3-4D78-B597-EF2E12E7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429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B6C5D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6C5D7"/>
                </a:solidFill>
                <a:latin typeface="Aptos"/>
                <a:ea typeface="Aptos"/>
                <a:cs typeface="Aptos"/>
              </a:rPr>
              <a:t>GitHub Governance Intelligence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E86677-412C-4CCF-BDA8-9357237D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B6C5D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6C5D7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a527da0b174213"/>
          <a:srcRect xmlns:a="http://schemas.openxmlformats.org/drawingml/2006/main" l="0" t="1990" r="0" b="19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304925"/>
            <a:ext cx="12192000" cy="48768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59134A-DD2E-4031-9E9F-C250F034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72050"/>
            <a:ext cx="26860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13335">
            <a:solidFill>
              <a:srgbClr val="FF496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62E002-2ED7-4D70-A0EC-98A10CDA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7205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967"/>
          </a:solidFill>
          <a:ln xmlns:a="http://schemas.openxmlformats.org/drawingml/2006/main" w="0">
            <a:solidFill>
              <a:srgbClr val="FF496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91D740-F2F7-4D83-ACBA-3A2B6B3A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086350"/>
            <a:ext cx="2324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F496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4967"/>
                </a:solidFill>
                <a:latin typeface="Aptos"/>
                <a:ea typeface="Aptos"/>
                <a:cs typeface="Aptos"/>
              </a:rPr>
              <a:t>SECURITY CONTROLS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4C1437-0FC1-4699-A2AE-563651DC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334000"/>
            <a:ext cx="2324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Was a mandatory control disabled?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5AAC32-7D16-4A3E-94CC-3BB3ADD8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972050"/>
            <a:ext cx="26860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13335">
            <a:solidFill>
              <a:srgbClr val="FF7A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D92D21-DD5A-46F8-AB29-23E42BAC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97205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D"/>
          </a:solidFill>
          <a:ln xmlns:a="http://schemas.openxmlformats.org/drawingml/2006/main" w="0">
            <a:solidFill>
              <a:srgbClr val="FF7A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8A28E7-70BA-4E78-AF33-BA6C3FF6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5086350"/>
            <a:ext cx="2324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F7A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7A3D"/>
                </a:solidFill>
                <a:latin typeface="Aptos"/>
                <a:ea typeface="Aptos"/>
                <a:cs typeface="Aptos"/>
              </a:rPr>
              <a:t>ACCESS AND IDENTITY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0CDB6F-BF03-49AC-8C46-00504CC7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5334000"/>
            <a:ext cx="2324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Did a critical account lose access?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C96784-1FED-4C8E-919D-2617055A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72050"/>
            <a:ext cx="26860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13335">
            <a:solidFill>
              <a:srgbClr val="4DA3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68F168-83ED-44BD-BA80-C1936156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7205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solidFill>
              <a:srgbClr val="4DA3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17E6E9-9E9C-4BC1-A972-244178E01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5086350"/>
            <a:ext cx="2324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4DA3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DA3FF"/>
                </a:solidFill>
                <a:latin typeface="Aptos"/>
                <a:ea typeface="Aptos"/>
                <a:cs typeface="Aptos"/>
              </a:rPr>
              <a:t>CODE AND WORKFLOW POLICY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0F267D-59D3-4F18-B596-08F8C474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5334000"/>
            <a:ext cx="2324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Who bypassed a protected policy?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2A78DD-BA87-4522-8FFA-FF60EBE6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972050"/>
            <a:ext cx="26860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13335">
            <a:solidFill>
              <a:srgbClr val="65D17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826A29-34CB-44F1-B3B7-804B5180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97205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17A"/>
          </a:solidFill>
          <a:ln xmlns:a="http://schemas.openxmlformats.org/drawingml/2006/main" w="0">
            <a:solidFill>
              <a:srgbClr val="65D17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0ECF11-227D-4FD2-A871-C9E398DB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086350"/>
            <a:ext cx="2324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65D1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5D17A"/>
                </a:solidFill>
                <a:latin typeface="Aptos"/>
                <a:ea typeface="Aptos"/>
                <a:cs typeface="Aptos"/>
              </a:rPr>
              <a:t>APPROVED AUTOMATION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DF5AD3-362B-40FA-8CCD-69F9E34E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334000"/>
            <a:ext cx="2324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Was the change expected and approved?</a:t>
            </a:r>
          </a:p>
        </p:txBody>
      </p:sp>
    </p:spTree>
    <p:extLst>
      <p:ext uri="{BB962C8B-B14F-4D97-AF65-F5344CB8AC3E}">
        <p14:creationId xmlns:p14="http://schemas.microsoft.com/office/powerpoint/2010/main" val="2584335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8EB6EC-B916-4171-AE8A-1C0F960A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solidFill>
              <a:srgbClr val="4DA3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F82BE9-6B95-4F09-BFEB-5576A828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F6F8FB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6F8FB"/>
                </a:solidFill>
                <a:latin typeface="Aptos Display"/>
                <a:ea typeface="Aptos Display"/>
                <a:cs typeface="Aptos Display"/>
              </a:rPr>
              <a:t>Live demo: answer one question end to 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8DA616-C7FD-46DC-97C6-0DCE4AB3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1081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B6C5D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6C5D7"/>
                </a:solidFill>
                <a:latin typeface="Aptos"/>
                <a:ea typeface="Aptos"/>
                <a:cs typeface="Aptos"/>
              </a:rPr>
              <a:t>Was a security control disabled, who changed it, and was it expected?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8FB8D4-3874-4734-AE4D-89617A5B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429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B6C5D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6C5D7"/>
                </a:solidFill>
                <a:latin typeface="Aptos"/>
                <a:ea typeface="Aptos"/>
                <a:cs typeface="Aptos"/>
              </a:rPr>
              <a:t>GitHub Governance Intelligence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1B9424-DF11-4C87-9677-9AEEA68A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B6C5D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6C5D7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F8CF9E-DDD3-4360-AA76-46244C49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362075"/>
            <a:ext cx="11639550" cy="462915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0E223B"/>
          </a:solidFill>
          <a:ln xmlns:a="http://schemas.openxmlformats.org/drawingml/2006/main" w="12383">
            <a:solidFill>
              <a:srgbClr val="2A4B74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c49a493b2c4a8a"/>
          <a:srcRect xmlns:a="http://schemas.openxmlformats.org/drawingml/2006/main" l="0" t="15198" r="0" b="151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" y="1419225"/>
            <a:ext cx="11525250" cy="4514850"/>
          </a:xfrm>
          <a:prstGeom xmlns:a="http://schemas.openxmlformats.org/drawingml/2006/main" prst="roundRect">
            <a:avLst>
              <a:gd name="adj" fmla="val 295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570A28-288A-434B-97BB-F802AFDF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6097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9525">
            <a:solidFill>
              <a:srgbClr val="4DA3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E359BF-41C4-44DE-9F6A-61F4C025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6097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FA89BA-1D2E-4FFE-8E99-D5EBFF50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114925"/>
            <a:ext cx="1809750" cy="638175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11430">
            <a:solidFill>
              <a:srgbClr val="4DA3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763A3D-430E-4B6D-8CBF-EC3A9EC1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91125"/>
            <a:ext cx="1524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4DA3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DA3FF"/>
                </a:solidFill>
                <a:latin typeface="Aptos"/>
                <a:ea typeface="Aptos"/>
                <a:cs typeface="Aptos"/>
              </a:rPr>
              <a:t>OVERVIEW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88EC56-16C2-4779-A5AB-EABDF9D5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91150"/>
            <a:ext cx="152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Find the signal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9B0B36-10B8-4A09-AC2E-429D1F45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097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967"/>
          </a:solidFill>
          <a:ln xmlns:a="http://schemas.openxmlformats.org/drawingml/2006/main" w="9525">
            <a:solidFill>
              <a:srgbClr val="FF496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598408-F0FC-4863-A2A0-C6B636B7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097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C4F8D1-D49A-4506-BB64-50DF2AE6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114925"/>
            <a:ext cx="1809750" cy="638175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11430">
            <a:solidFill>
              <a:srgbClr val="FF496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95D28D-87BF-4969-A0D2-275418CD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191125"/>
            <a:ext cx="1524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F496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4967"/>
                </a:solidFill>
                <a:latin typeface="Aptos"/>
                <a:ea typeface="Aptos"/>
                <a:cs typeface="Aptos"/>
              </a:rPr>
              <a:t>REPOSITORY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257B8E-ACAD-45CD-8329-650110B0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391150"/>
            <a:ext cx="152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Inspect the change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CAE2BE-5E61-4C31-8FA9-5E73D0EBB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6097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5FF"/>
          </a:solidFill>
          <a:ln xmlns:a="http://schemas.openxmlformats.org/drawingml/2006/main" w="9525">
            <a:solidFill>
              <a:srgbClr val="B875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CA552D-E8E5-4211-B098-7930A3E4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6097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11A0DD-F497-4C60-89EA-717FF0B9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114925"/>
            <a:ext cx="1809750" cy="638175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11430">
            <a:solidFill>
              <a:srgbClr val="B875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738954-2001-45D1-86E2-80C743B1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91125"/>
            <a:ext cx="1524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B875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875FF"/>
                </a:solidFill>
                <a:latin typeface="Aptos"/>
                <a:ea typeface="Aptos"/>
                <a:cs typeface="Aptos"/>
              </a:rPr>
              <a:t>ACTOR + EXCEPTION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8EE989-5A58-4086-97E4-9CEBA445E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91150"/>
            <a:ext cx="152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Check context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5E3CF8-0C90-470E-8752-1FDB9BDF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6097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D17A"/>
          </a:solidFill>
          <a:ln xmlns:a="http://schemas.openxmlformats.org/drawingml/2006/main" w="9525">
            <a:solidFill>
              <a:srgbClr val="65D17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A5101C-5AC6-4339-A0CA-FA62320A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6097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E79BD1-827A-43C6-AA7A-3C775448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114925"/>
            <a:ext cx="1809750" cy="638175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11430">
            <a:solidFill>
              <a:srgbClr val="65D17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D8A0DF-B438-47E9-8FF9-FBD03548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5191125"/>
            <a:ext cx="1524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65D1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5D17A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4F6296-3328-41E8-A024-E05DF21C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5391150"/>
            <a:ext cx="152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Prove the answer</a:t>
            </a:r>
          </a:p>
        </p:txBody>
      </p:sp>
    </p:spTree>
    <p:extLst>
      <p:ext uri="{BB962C8B-B14F-4D97-AF65-F5344CB8AC3E}">
        <p14:creationId xmlns:p14="http://schemas.microsoft.com/office/powerpoint/2010/main" val="5080211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EFA9DE-5119-4BBA-A519-2E2B1A0C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solidFill>
              <a:srgbClr val="4DA3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3FE187-7100-483F-B749-BA72A4B0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F6F8FB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6F8FB"/>
                </a:solidFill>
                <a:latin typeface="Aptos Display"/>
                <a:ea typeface="Aptos Display"/>
                <a:cs typeface="Aptos Display"/>
              </a:rPr>
              <a:t>AI could make the same evidence conversational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A8B5BB-A0D9-40A0-98BE-A9DA5DE8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1081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B6C5D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6C5D7"/>
                </a:solidFill>
                <a:latin typeface="Aptos"/>
                <a:ea typeface="Aptos"/>
                <a:cs typeface="Aptos"/>
              </a:rPr>
              <a:t>Illustrative future concept: read-only answers over curated governance 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112E46-1A6C-446B-9F67-592B4CFD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429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B6C5D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6C5D7"/>
                </a:solidFill>
                <a:latin typeface="Aptos"/>
                <a:ea typeface="Aptos"/>
                <a:cs typeface="Aptos"/>
              </a:rPr>
              <a:t>GitHub Governance Intelligence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D1505E-3E63-41A7-960C-DE6CBEF5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B6C5D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6C5D7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3b0e4658b24f9c"/>
          <a:srcRect xmlns:a="http://schemas.openxmlformats.org/drawingml/2006/main" l="0" t="39" r="0" b="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05125" y="1295400"/>
            <a:ext cx="8858250" cy="4981575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08b0a7046f4f36"/>
          <a:stretch xmlns:a="http://schemas.openxmlformats.org/drawingml/2006/main"/>
        </p:blipFill>
        <p:spPr>
          <a:xfrm xmlns:a="http://schemas.openxmlformats.org/drawingml/2006/main">
            <a:off x="4743450" y="1754016"/>
            <a:ext cx="5267325" cy="3092793"/>
          </a:xfrm>
          <a:prstGeom xmlns:a="http://schemas.openxmlformats.org/drawingml/2006/main" prst="roundRect">
            <a:avLst>
              <a:gd name="adj" fmla="val 1231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B94DCA-CAF2-4F16-B791-8F48BC63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525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B875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875FF"/>
                </a:solidFill>
                <a:latin typeface="Aptos"/>
                <a:ea typeface="Aptos"/>
                <a:cs typeface="Aptos"/>
              </a:rPr>
              <a:t>FUTURE CONCEPT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07E128-98C8-4D8A-8450-ECDC8BB06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66900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6F8F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6F8FB"/>
                </a:solidFill>
                <a:latin typeface="Aptos Display"/>
                <a:ea typeface="Aptos Display"/>
                <a:cs typeface="Aptos Display"/>
              </a:rPr>
              <a:t>Ask one governance question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7A377C-1425-4A75-8821-3A9D6A6B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76525"/>
            <a:ext cx="2590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B6C5D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B6C5D7"/>
                </a:solidFill>
                <a:latin typeface="Aptos"/>
                <a:ea typeface="Aptos"/>
                <a:cs typeface="Aptos"/>
              </a:rPr>
              <a:t>“Which critical controls were disabled this week?”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65349C-96CE-459C-B114-D193A8FD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29050"/>
            <a:ext cx="66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17A"/>
          </a:solidFill>
          <a:ln xmlns:a="http://schemas.openxmlformats.org/drawingml/2006/main" w="0">
            <a:solidFill>
              <a:srgbClr val="65D17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6E0D1E-500F-4335-BD29-FDE343F1D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29050"/>
            <a:ext cx="2343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5D1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5D17A"/>
                </a:solidFill>
                <a:latin typeface="Aptos"/>
                <a:ea typeface="Aptos"/>
                <a:cs typeface="Aptos"/>
              </a:rPr>
              <a:t>READ ONLY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1E5218-7671-4BE3-BE62-7775A4D1B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0290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6F8FB"/>
                </a:solidFill>
                <a:latin typeface="Aptos"/>
                <a:ea typeface="Aptos"/>
                <a:cs typeface="Aptos"/>
              </a:rPr>
              <a:t>The first version cannot change configuration.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1C4A48-8E0E-4152-8F2D-44A9FDC8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86275"/>
            <a:ext cx="66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DC"/>
          </a:solidFill>
          <a:ln xmlns:a="http://schemas.openxmlformats.org/drawingml/2006/main" w="0">
            <a:solidFill>
              <a:srgbClr val="35C7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3516DD-3EF5-4EB6-8187-6CBDA59A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486275"/>
            <a:ext cx="2343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35C7D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C7DC"/>
                </a:solidFill>
                <a:latin typeface="Aptos"/>
                <a:ea typeface="Aptos"/>
                <a:cs typeface="Aptos"/>
              </a:rPr>
              <a:t>EVIDENCE SHOWN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364981-6C37-4634-92D9-4D2A4D8E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6863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6F8FB"/>
                </a:solidFill>
                <a:latin typeface="Aptos"/>
                <a:ea typeface="Aptos"/>
                <a:cs typeface="Aptos"/>
              </a:rPr>
              <a:t>Every answer links to the source event and rule.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FF3480-982A-4E81-85D2-E41D4695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43500"/>
            <a:ext cx="66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967"/>
          </a:solidFill>
          <a:ln xmlns:a="http://schemas.openxmlformats.org/drawingml/2006/main" w="0">
            <a:solidFill>
              <a:srgbClr val="FF496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6292EF-084F-4388-91F3-BF0733C2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143500"/>
            <a:ext cx="2343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FF496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4967"/>
                </a:solidFill>
                <a:latin typeface="Aptos"/>
                <a:ea typeface="Aptos"/>
                <a:cs typeface="Aptos"/>
              </a:rPr>
              <a:t>NO UNSOURCED ANSWERS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04A5D6-9D14-45A8-A46B-C1F364F0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3435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6F8FB"/>
                </a:solidFill>
                <a:latin typeface="Aptos"/>
                <a:ea typeface="Aptos"/>
                <a:cs typeface="Aptos"/>
              </a:rPr>
              <a:t>The assistant responds only when evidence exists.</a:t>
            </a:r>
          </a:p>
        </p:txBody>
      </p:sp>
    </p:spTree>
    <p:extLst>
      <p:ext uri="{BB962C8B-B14F-4D97-AF65-F5344CB8AC3E}">
        <p14:creationId xmlns:p14="http://schemas.microsoft.com/office/powerpoint/2010/main" val="12699004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5789a633f4468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26029F-ECEE-40B9-A0B5-5E6B848CA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C5CA0-AE9B-43BB-BDFF-8098E734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solidFill>
              <a:srgbClr val="4DA3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1E9F9B-FCD8-4758-BAD2-D4A901C4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F6F8FB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6F8FB"/>
                </a:solidFill>
                <a:latin typeface="Aptos Display"/>
                <a:ea typeface="Aptos Display"/>
                <a:cs typeface="Aptos Display"/>
              </a:rPr>
              <a:t>Next decisions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F8A8A7-0CEB-4A6A-B0E6-5D82CA9A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1081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B6C5D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6C5D7"/>
                </a:solidFill>
                <a:latin typeface="Aptos"/>
                <a:ea typeface="Aptos"/>
                <a:cs typeface="Aptos"/>
              </a:rPr>
              <a:t>Validate event priorities, then add targeted alerts and review ownership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632608-3F4E-48CF-9435-DB9556F5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4293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B6C5D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6C5D7"/>
                </a:solidFill>
                <a:latin typeface="Aptos"/>
                <a:ea typeface="Aptos"/>
                <a:cs typeface="Aptos"/>
              </a:rPr>
              <a:t>GitHub Governance Intelligence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C892FA-2A57-45D7-8A2F-D624CBB9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B6C5D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6C5D7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8BC3FF-96CE-4E93-B636-531E30DD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DA3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DA3FF"/>
                </a:solidFill>
                <a:latin typeface="Aptos"/>
                <a:ea typeface="Aptos"/>
                <a:cs typeface="Aptos"/>
              </a:rPr>
              <a:t>AVAILABLE TODAY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360CE2-CF69-4A63-97F7-DF241A64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24025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Curated High and Critical queues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Explainable rule and exception decisions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EB96C8-B969-476A-8617-BDF36E59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66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547"/>
          </a:solidFill>
          <a:ln xmlns:a="http://schemas.openxmlformats.org/drawingml/2006/main" w="0">
            <a:solidFill>
              <a:srgbClr val="FFB54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0D4A7A-C439-4FC0-BB1E-5A4170BE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384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Validate the event priority catalogue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A94ECC-BCC1-48B6-8FEA-1F94AFD0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432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B6C5D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6C5D7"/>
                </a:solidFill>
                <a:latin typeface="Aptos"/>
                <a:ea typeface="Aptos"/>
                <a:cs typeface="Aptos"/>
              </a:rPr>
              <a:t>Agree what each priority means with platform, security and governance stakeholders.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C9B830-1C83-4F82-A84E-A55C9F04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95675"/>
            <a:ext cx="66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967"/>
          </a:solidFill>
          <a:ln xmlns:a="http://schemas.openxmlformats.org/drawingml/2006/main" w="0">
            <a:solidFill>
              <a:srgbClr val="FF496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3F9919-02D6-4A9C-B4D8-C8A9E1DA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Alert only on agreed critical signals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CAC9BB-7184-4C7E-8AEE-5B76970A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909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B6C5D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6C5D7"/>
                </a:solidFill>
                <a:latin typeface="Aptos"/>
                <a:ea typeface="Aptos"/>
                <a:cs typeface="Aptos"/>
              </a:rPr>
              <a:t>Start with technical account suspension, mandatory control disablement and processing failure.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9FF9DC-8EFE-4E56-ACB1-72DC2EC8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66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DC"/>
          </a:solidFill>
          <a:ln xmlns:a="http://schemas.openxmlformats.org/drawingml/2006/main" w="0">
            <a:solidFill>
              <a:srgbClr val="35C7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63EEEF-224E-497F-9083-C38E2EC1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3387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Add review ownership, then pilot 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AC3C47-7B3E-456A-B3D1-5F1BE06A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386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B6C5D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6C5D7"/>
                </a:solidFill>
                <a:latin typeface="Aptos"/>
                <a:ea typeface="Aptos"/>
                <a:cs typeface="Aptos"/>
              </a:rPr>
              <a:t>Create the evidence workflow before introducing a read-only assistant.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6F3858-C7BA-45A5-8A5B-9BB26B9E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38775"/>
            <a:ext cx="4857750" cy="638175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11430">
            <a:solidFill>
              <a:srgbClr val="4DA3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51B01B-A40F-4128-BC80-7D190638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53075"/>
            <a:ext cx="443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6F8FB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6F8FB"/>
                </a:solidFill>
                <a:latin typeface="Aptos Display"/>
                <a:ea typeface="Aptos Display"/>
                <a:cs typeface="Aptos Display"/>
              </a:rPr>
              <a:t>Which governance question does your team still answer manually?</a:t>
            </a:r>
          </a:p>
        </p:txBody>
      </p:sp>
    </p:spTree>
    <p:extLst>
      <p:ext uri="{BB962C8B-B14F-4D97-AF65-F5344CB8AC3E}">
        <p14:creationId xmlns:p14="http://schemas.microsoft.com/office/powerpoint/2010/main" val="5934691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2026-09-15T12:51:26.8020000Z</dcterms:created>
  <dcterms:modified xsi:type="dcterms:W3CDTF">2026-09-15T12:51:26.8020000Z</dcterms:modified>
</coreProperties>
</file>