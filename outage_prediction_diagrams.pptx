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8cf4c889dd4312" /><Relationship Type="http://schemas.openxmlformats.org/officeDocument/2006/relationships/extended-properties" Target="/docProps/app.xml" Id="R4ab2aeb637894648" /><Relationship Type="http://schemas.openxmlformats.org/officeDocument/2006/relationships/officeDocument" Target="/ppt/presentation.xml" Id="R0885cf851e464f9e" /></Relationships>
</file>

<file path=ppt/presentation.xml><?xml version="1.0" encoding="utf-8"?>
<p:presentation xmlns:p="http://schemas.openxmlformats.org/presentationml/2006/main">
  <p:sldMasterIdLst>
    <p:sldMasterId xmlns:r="http://schemas.openxmlformats.org/officeDocument/2006/relationships" id="2147483648" r:id="Rce2d3396bf9f466d"/>
  </p:sldMasterIdLst>
  <p:notesMasterIdLst>
    <p:notesMasterId xmlns:r="http://schemas.openxmlformats.org/officeDocument/2006/relationships" r:id="R3d57e6680d754a11"/>
  </p:notesMasterIdLst>
  <p:sldIdLst>
    <p:sldId xmlns:r="http://schemas.openxmlformats.org/officeDocument/2006/relationships" id="256" r:id="Rdd6650c81cd44783"/>
    <p:sldId xmlns:r="http://schemas.openxmlformats.org/officeDocument/2006/relationships" id="257" r:id="R46920bf7b5ec459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3c34bfed4f4acc" /><Relationship Type="http://schemas.openxmlformats.org/officeDocument/2006/relationships/slideMaster" Target="/ppt/slideMasters/slideMaster1.xml" Id="Rce2d3396bf9f466d" /><Relationship Type="http://schemas.openxmlformats.org/officeDocument/2006/relationships/notesMaster" Target="/ppt/notesMasters/notesMaster1.xml" Id="R3d57e6680d754a11" /><Relationship Type="http://schemas.openxmlformats.org/officeDocument/2006/relationships/presProps" Target="/ppt/presProps.xml" Id="R7d35ee197cc246f2" /><Relationship Type="http://schemas.openxmlformats.org/officeDocument/2006/relationships/tableStyles" Target="/ppt/tableStyles.xml" Id="R1ec927b5f4f14063" /><Relationship Type="http://schemas.openxmlformats.org/officeDocument/2006/relationships/slide" Target="/ppt/slides/slide1.xml" Id="Rdd6650c81cd44783" /><Relationship Type="http://schemas.openxmlformats.org/officeDocument/2006/relationships/slide" Target="/ppt/slides/slide2.xml" Id="R46920bf7b5ec45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a70974a44a45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58074c09ef44e6" /><Relationship Type="http://schemas.openxmlformats.org/officeDocument/2006/relationships/notesMaster" Target="/ppt/notesMasters/notesMaster1.xml" Id="Ra5dc52d8327446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bc41ff9bd04a00" /><Relationship Type="http://schemas.openxmlformats.org/officeDocument/2006/relationships/notesMaster" Target="/ppt/notesMasters/notesMaster1.xml" Id="R2482a8c3813b48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not a deployed model or a measured result. Scope: GitHub Enterprise Cloud as experienced through bank-managed access, production integrations, and Actions runner infrastructure. This does not assume access to GitHub internal service telemetry or predict every sudden vendor incident.</a:t>
            </a:r>
          </a:p>
          <a:p xmlns:a="http://schemas.openxmlformats.org/drawingml/2006/main">
            <a:r>
              <a:t/>
            </a:r>
          </a:p>
          <a:p xmlns:a="http://schemas.openxmlformats.org/drawingml/2006/main">
            <a:r>
              <a:t>ML proposal: compare seasonal baselines with gradient-boosted models using lagged and calendar features. Quantile models can provide an uncertainty band; verify coverage on later time windows. Predict latency, workload arrival and resource headroom, then test service-specific thresholds and corroborating signals. Keep deterministic API quota and deadline rules alongside the model. Token-renewal failures already affecting traffic belong to early detection, not pre-impact prediction. Capture API budget per actual installation or authentication bucket, from each production integration's response headers. A monitoring App cannot observe an unrelated App's quota.</a:t>
            </a:r>
          </a:p>
          <a:p xmlns:a="http://schemas.openxmlformats.org/drawingml/2006/main">
            <a:r>
              <a:t/>
            </a:r>
          </a:p>
          <a:p xmlns:a="http://schemas.openxmlformats.org/drawingml/2006/main">
            <a:r>
              <a:t>Live evaluator on approved GKE queries the metrics path directly, without depending on BigQuery export. BigQuery receives compact feature windows asynchronously. Keep event and arrival times, chronologically separate training and testing, and record preventive interventions as well as incident outcomes. Cloud Run training Job exports a reviewed versioned model to GCS. Target cadence and horizons are proposed, not promised. The mini-chart uses illustrative seconds and a 2-second target.</a:t>
            </a:r>
          </a:p>
          <a:p xmlns:a="http://schemas.openxmlformats.org/drawingml/2006/main">
            <a:r>
              <a:t/>
            </a:r>
          </a:p>
          <a:p xmlns:a="http://schemas.openxmlformats.org/drawingml/2006/main">
            <a:r>
              <a:t>Sources accessed 7 October 2026:</a:t>
            </a:r>
          </a:p>
          <a:p xmlns:a="http://schemas.openxmlformats.org/drawingml/2006/main">
            <a:r>
              <a:t>https://docs.github.com/en/rest/using-the-rest-api/rate-limits-for-the-rest-api</a:t>
            </a:r>
          </a:p>
          <a:p xmlns:a="http://schemas.openxmlformats.org/drawingml/2006/main">
            <a:r>
              <a:t>https://docs.github.com/en/actions/how-tos/manage-runners/use-actions-runner-controller/deploy-runner-scale-sets</a:t>
            </a:r>
          </a:p>
          <a:p xmlns:a="http://schemas.openxmlformats.org/drawingml/2006/main">
            <a:r>
              <a:t>Verify metrics against the installed ARC version.</a:t>
            </a:r>
          </a:p>
          <a:p xmlns:a="http://schemas.openxmlformats.org/drawingml/2006/main">
            <a:r>
              <a:t/>
            </a:r>
          </a:p>
          <a:p xmlns:a="http://schemas.openxmlformats.org/drawingml/2006/main">
            <a:r>
              <a:t>Operator flow: Grafana warning includes affected operation, forecast interval, evidence, freshness, responsible owner and recommended runbook. Record warning and first-impact timestamps to measure useful warning lead time. Shared dependency correlation identifies an investigation hypothesis, not causal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assuming access to owner-approved Artifactory, infrastructure and database telemetry. For a SaaS edition, adapt the sources to the metrics available from the provider. No prediction accuracy or avoided outage is claimed.</a:t>
            </a:r>
          </a:p>
          <a:p xmlns:a="http://schemas.openxmlformats.org/drawingml/2006/main">
            <a:r>
              <a:t/>
            </a:r>
          </a:p>
          <a:p xmlns:a="http://schemas.openxmlformats.org/drawingml/2006/main">
            <a:r>
              <a:t>ML proposal: compare seasonal baselines with gradient-boosted models using lagged and calendar features. Use quantile forecasts for the uncertainty band and validate coverage on later windows. Predict storage growth, dependency latency and DB pressure. Threshold crossings and persistent corroborating signals produce potential outage-risk warnings. A reserve threshold is preventive and does not itself mean the service is down.</a:t>
            </a:r>
          </a:p>
          <a:p xmlns:a="http://schemas.openxmlformats.org/drawingml/2006/main">
            <a:r>
              <a:t/>
            </a:r>
          </a:p>
          <a:p xmlns:a="http://schemas.openxmlformats.org/drawingml/2006/main">
            <a:r>
              <a:t>Use fresh metrics for the resource that is actually constrained: local volume, cache, DB volume or a contracted quota. Artifactory's storage summary is normally cached hourly; do not treat repeated requests to it as fresh minute-level observations. Instrument representative package and image downloads over bank routes. OpenMetrics availability depends on the deployed version. DB wait and physical headroom may need infrastructure or DB exporters. Build latency percentiles from request observations or suitable histograms, not by averaging percentiles.</a:t>
            </a:r>
          </a:p>
          <a:p xmlns:a="http://schemas.openxmlformats.org/drawingml/2006/main">
            <a:r>
              <a:t/>
            </a:r>
          </a:p>
          <a:p xmlns:a="http://schemas.openxmlformats.org/drawingml/2006/main">
            <a:r>
              <a:t>Live inference on approved GKE has no BigQuery dependency. Export feature windows asynchronously; retain event and ingestion times. Cloud Run training Job tests time-separated incidents and compares lead time and false warnings with the baseline. Store a reviewed versioned model in GCS. The mini-chart is illustrative: 500 GB currently free, 100 GB reserve, forecast net growth 50 GB/hour and reserve crossing in about 8 hours, with uncertainty. The warning time is not a measured result.</a:t>
            </a:r>
          </a:p>
          <a:p xmlns:a="http://schemas.openxmlformats.org/drawingml/2006/main">
            <a:r>
              <a:t/>
            </a:r>
          </a:p>
          <a:p xmlns:a="http://schemas.openxmlformats.org/drawingml/2006/main">
            <a:r>
              <a:t>Sources accessed 7 October 2026:</a:t>
            </a:r>
          </a:p>
          <a:p xmlns:a="http://schemas.openxmlformats.org/drawingml/2006/main">
            <a:r>
              <a:t>https://docs.jfrog.com/administration/docs/open-metrics</a:t>
            </a:r>
          </a:p>
          <a:p xmlns:a="http://schemas.openxmlformats.org/drawingml/2006/main">
            <a:r>
              <a:t>https://docs.jfrog.com/administration/docs/monitoring-storage</a:t>
            </a:r>
          </a:p>
          <a:p xmlns:a="http://schemas.openxmlformats.org/drawingml/2006/main">
            <a:r>
              <a:t/>
            </a:r>
          </a:p>
          <a:p xmlns:a="http://schemas.openxmlformats.org/drawingml/2006/main">
            <a:r>
              <a:t>On-call checks the evidence and executes an approved runbook. Capacity and retention changes need the existing owner process. Record interventions and subsequent outcomes; no automatic deletion or unsupervised remediation is implied. Evaluate usefulness using warning lead time, incident coverage and false warnings per service per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9bace040624d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f42a3f326e44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969a7d48dd4a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ce286e0ae34e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984dbc42a840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f5a20ae9e846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4315776-3ADC-4E0C-B939-647711DF49AE}"/>
              </a:ext>
            </a:extLst>
          </p:cNvPr>
          <p:cNvSpPr>
            <a:spLocks xmlns:a="http://schemas.openxmlformats.org/drawingml/2006/main" noGrp="1"/>
          </p:cNvSpPr>
          <p:nvPr/>
        </p:nvSpPr>
        <p:spPr>
          <a:xfrm xmlns:a="http://schemas.openxmlformats.org/drawingml/2006/main">
            <a:off x="8686800" y="33147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B754572-91BF-4F77-9806-663C422EFC8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D06A9224-7DD4-4AD2-AD45-EE5B4FE69622}"/>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5A167719-0DD8-4114-9E18-D368D4126B04}"/>
              </a:ext>
            </a:extLst>
          </p:cNvPr>
          <p:cNvSpPr>
            <a:spLocks xmlns:a="http://schemas.openxmlformats.org/drawingml/2006/main" noGrp="1"/>
          </p:cNvSpPr>
          <p:nvPr/>
        </p:nvSpPr>
        <p:spPr>
          <a:xfrm xmlns:a="http://schemas.openxmlformats.org/drawingml/2006/main">
            <a:off x="8686800" y="371475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20DC5053-65AE-485C-9041-F6F0B502F9C3}"/>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39A3243-A0D8-4BEC-822C-E2EF47726243}"/>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35A602A-44E4-4F31-999A-66BAB8B96A6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989275CA-0384-4C0A-8817-C7587DBB6C25}"/>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D29515E7-EBFC-4E6C-91BB-29C40793F826}"/>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54FCC60-E16A-40F9-89E3-C0C54513CC7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2FDDD2E-347D-482E-BFEA-534F8EACA9C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EC5C6BDA-8454-42FA-B88A-44CAF8D34149}"/>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9738C45-0531-4900-A162-D6BD59AFBD72}"/>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481819C-3806-463F-8D7C-27672428C39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45330EA-0C73-4623-99EF-A7E570CDF28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6117c2bc604f41" /><Relationship Type="http://schemas.openxmlformats.org/officeDocument/2006/relationships/slideLayout" Target="/ppt/slideLayouts/slideLayout1.xml" Id="Rf6f842d919344e6f" /><Relationship Type="http://schemas.openxmlformats.org/officeDocument/2006/relationships/slideLayout" Target="/ppt/slideLayouts/slideLayout2.xml" Id="R8e1f07bfae6c4d1a" /><Relationship Type="http://schemas.openxmlformats.org/officeDocument/2006/relationships/slideLayout" Target="/ppt/slideLayouts/slideLayout3.xml" Id="Rf14504c317204cb5" /><Relationship Type="http://schemas.openxmlformats.org/officeDocument/2006/relationships/slideLayout" Target="/ppt/slideLayouts/slideLayout4.xml" Id="Rda191fc7e3f0483e" /><Relationship Type="http://schemas.openxmlformats.org/officeDocument/2006/relationships/slideLayout" Target="/ppt/slideLayouts/slideLayout5.xml" Id="R108072924ee24b11" /><Relationship Type="http://schemas.openxmlformats.org/officeDocument/2006/relationships/slideLayout" Target="/ppt/slideLayouts/slideLayout6.xml" Id="R01bfae9b98ac45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f842d919344e6f"/>
    <p:sldLayoutId xmlns:r="http://schemas.openxmlformats.org/officeDocument/2006/relationships" id="2147483650" r:id="R8e1f07bfae6c4d1a"/>
    <p:sldLayoutId xmlns:r="http://schemas.openxmlformats.org/officeDocument/2006/relationships" id="2147483651" r:id="Rf14504c317204cb5"/>
    <p:sldLayoutId xmlns:r="http://schemas.openxmlformats.org/officeDocument/2006/relationships" id="2147483652" r:id="Rda191fc7e3f0483e"/>
    <p:sldLayoutId xmlns:r="http://schemas.openxmlformats.org/officeDocument/2006/relationships" id="2147483653" r:id="R108072924ee24b11"/>
    <p:sldLayoutId xmlns:r="http://schemas.openxmlformats.org/officeDocument/2006/relationships" id="2147483654" r:id="R01bfae9b98ac45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ecf7b108fd4502" /><Relationship Type="http://schemas.openxmlformats.org/officeDocument/2006/relationships/notesSlide" Target="/ppt/notesSlides/notesSlide1.xml" Id="R65911f420b5541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caff6ea35d4ef3" /><Relationship Type="http://schemas.openxmlformats.org/officeDocument/2006/relationships/notesSlide" Target="/ppt/notesSlides/notesSlide2.xml" Id="Rb948ab8a6adb4611"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1" name="github-path-0">
            <a:extLst xmlns:a="http://schemas.openxmlformats.org/drawingml/2006/main">
              <a:ext uri="{FF2B5EF4-FFF2-40B4-BE49-F238E27FC236}">
                <a16:creationId xmlns:a16="http://schemas.microsoft.com/office/drawing/2014/main" id="{448FCD23-E8A5-4BDD-9570-2742A45507EF}"/>
              </a:ext>
            </a:extLst>
          </p:cNvPr>
          <p:cNvSpPr>
            <a:spLocks xmlns:a="http://schemas.openxmlformats.org/drawingml/2006/main" noGrp="1"/>
          </p:cNvSpPr>
          <p:nvPr/>
        </p:nvSpPr>
        <p:spPr>
          <a:xfrm xmlns:a="http://schemas.openxmlformats.org/drawingml/2006/main">
            <a:off x="3752850" y="265747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3813">
            <a:solidFill>
              <a:srgbClr val="23649F"/>
            </a:solidFill>
            <a:prstDash val="solid"/>
          </a:ln>
        </p:spPr>
      </p:sp>
      <p:sp>
        <p:nvSpPr>
          <p:cNvPr id="2" name="github-path-1">
            <a:extLst xmlns:a="http://schemas.openxmlformats.org/drawingml/2006/main">
              <a:ext uri="{FF2B5EF4-FFF2-40B4-BE49-F238E27FC236}">
                <a16:creationId xmlns:a16="http://schemas.microsoft.com/office/drawing/2014/main" id="{5FD67B5F-5FE0-44E8-83D1-DE3C37D66552}"/>
              </a:ext>
            </a:extLst>
          </p:cNvPr>
          <p:cNvSpPr>
            <a:spLocks xmlns:a="http://schemas.openxmlformats.org/drawingml/2006/main" noGrp="1"/>
          </p:cNvSpPr>
          <p:nvPr/>
        </p:nvSpPr>
        <p:spPr>
          <a:xfrm xmlns:a="http://schemas.openxmlformats.org/drawingml/2006/main">
            <a:off x="3752850" y="36766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3813">
            <a:solidFill>
              <a:srgbClr val="23649F"/>
            </a:solidFill>
            <a:prstDash val="solid"/>
          </a:ln>
        </p:spPr>
      </p:sp>
      <p:sp>
        <p:nvSpPr>
          <p:cNvPr id="3" name="github-path-2">
            <a:extLst xmlns:a="http://schemas.openxmlformats.org/drawingml/2006/main">
              <a:ext uri="{FF2B5EF4-FFF2-40B4-BE49-F238E27FC236}">
                <a16:creationId xmlns:a16="http://schemas.microsoft.com/office/drawing/2014/main" id="{DAEC48FF-0BD7-4EF3-84EA-D5B2ACC72316}"/>
              </a:ext>
            </a:extLst>
          </p:cNvPr>
          <p:cNvSpPr>
            <a:spLocks xmlns:a="http://schemas.openxmlformats.org/drawingml/2006/main" noGrp="1"/>
          </p:cNvSpPr>
          <p:nvPr/>
        </p:nvSpPr>
        <p:spPr>
          <a:xfrm xmlns:a="http://schemas.openxmlformats.org/drawingml/2006/main">
            <a:off x="3752850" y="46958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3813">
            <a:solidFill>
              <a:srgbClr val="23649F"/>
            </a:solidFill>
            <a:prstDash val="solid"/>
          </a:ln>
        </p:spPr>
      </p:sp>
      <p:sp>
        <p:nvSpPr>
          <p:cNvPr id="4" name="github-path-3">
            <a:extLst xmlns:a="http://schemas.openxmlformats.org/drawingml/2006/main">
              <a:ext uri="{FF2B5EF4-FFF2-40B4-BE49-F238E27FC236}">
                <a16:creationId xmlns:a16="http://schemas.microsoft.com/office/drawing/2014/main" id="{6BEACBB8-F3BC-4250-AE88-2F41BCBA63F4}"/>
              </a:ext>
            </a:extLst>
          </p:cNvPr>
          <p:cNvSpPr>
            <a:spLocks xmlns:a="http://schemas.openxmlformats.org/drawingml/2006/main" noGrp="1"/>
          </p:cNvSpPr>
          <p:nvPr/>
        </p:nvSpPr>
        <p:spPr>
          <a:xfrm xmlns:a="http://schemas.openxmlformats.org/drawingml/2006/main">
            <a:off x="3752850" y="57150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3813">
            <a:solidFill>
              <a:srgbClr val="23649F"/>
            </a:solidFill>
            <a:prstDash val="solid"/>
          </a:ln>
        </p:spPr>
      </p:sp>
      <p:sp>
        <p:nvSpPr>
          <p:cNvPr id="5" name="github-path-4">
            <a:extLst xmlns:a="http://schemas.openxmlformats.org/drawingml/2006/main">
              <a:ext uri="{FF2B5EF4-FFF2-40B4-BE49-F238E27FC236}">
                <a16:creationId xmlns:a16="http://schemas.microsoft.com/office/drawing/2014/main" id="{44F94A19-0CAF-4C4D-9A2D-0DD3A14A8882}"/>
              </a:ext>
            </a:extLst>
          </p:cNvPr>
          <p:cNvSpPr>
            <a:spLocks xmlns:a="http://schemas.openxmlformats.org/drawingml/2006/main" noGrp="1"/>
          </p:cNvSpPr>
          <p:nvPr/>
        </p:nvSpPr>
        <p:spPr>
          <a:xfrm xmlns:a="http://schemas.openxmlformats.org/drawingml/2006/main">
            <a:off x="3943350" y="2657475"/>
            <a:ext cx="9525" cy="3057525"/>
          </a:xfrm>
          <a:custGeom xmlns:a="http://schemas.openxmlformats.org/drawingml/2006/main">
            <a:pathLst>
              <a:path w="9525" h="3057525">
                <a:moveTo>
                  <a:pt x="0" y="0"/>
                </a:moveTo>
                <a:lnTo>
                  <a:pt x="0" y="3057525"/>
                </a:lnTo>
              </a:path>
            </a:pathLst>
          </a:custGeom>
          <a:noFill xmlns:a="http://schemas.openxmlformats.org/drawingml/2006/main"/>
          <a:ln xmlns:a="http://schemas.openxmlformats.org/drawingml/2006/main" w="23813">
            <a:solidFill>
              <a:srgbClr val="23649F"/>
            </a:solidFill>
            <a:prstDash val="solid"/>
          </a:ln>
        </p:spPr>
      </p:sp>
      <p:sp>
        <p:nvSpPr>
          <p:cNvPr id="6" name="github-path-5">
            <a:extLst xmlns:a="http://schemas.openxmlformats.org/drawingml/2006/main">
              <a:ext uri="{FF2B5EF4-FFF2-40B4-BE49-F238E27FC236}">
                <a16:creationId xmlns:a16="http://schemas.microsoft.com/office/drawing/2014/main" id="{BCEC4CE7-57C2-439E-ABA7-2423E72B02E9}"/>
              </a:ext>
            </a:extLst>
          </p:cNvPr>
          <p:cNvSpPr>
            <a:spLocks xmlns:a="http://schemas.openxmlformats.org/drawingml/2006/main" noGrp="1"/>
          </p:cNvSpPr>
          <p:nvPr/>
        </p:nvSpPr>
        <p:spPr>
          <a:xfrm xmlns:a="http://schemas.openxmlformats.org/drawingml/2006/main">
            <a:off x="3943350" y="3000375"/>
            <a:ext cx="266700" cy="9525"/>
          </a:xfrm>
          <a:custGeom xmlns:a="http://schemas.openxmlformats.org/drawingml/2006/main">
            <a:pathLst>
              <a:path w="266700" h="9525">
                <a:moveTo>
                  <a:pt x="0" y="0"/>
                </a:moveTo>
                <a:lnTo>
                  <a:pt x="266700" y="0"/>
                </a:lnTo>
              </a:path>
            </a:pathLst>
          </a:custGeom>
          <a:noFill xmlns:a="http://schemas.openxmlformats.org/drawingml/2006/main"/>
          <a:ln xmlns:a="http://schemas.openxmlformats.org/drawingml/2006/main" w="28575">
            <a:solidFill>
              <a:srgbClr val="23649F"/>
            </a:solidFill>
            <a:prstDash val="solid"/>
          </a:ln>
        </p:spPr>
      </p:sp>
      <p:sp>
        <p:nvSpPr>
          <p:cNvPr id="7" name="github-path-6">
            <a:extLst xmlns:a="http://schemas.openxmlformats.org/drawingml/2006/main">
              <a:ext uri="{FF2B5EF4-FFF2-40B4-BE49-F238E27FC236}">
                <a16:creationId xmlns:a16="http://schemas.microsoft.com/office/drawing/2014/main" id="{C1BBC53B-7E15-4150-B63C-18139DDD0416}"/>
              </a:ext>
            </a:extLst>
          </p:cNvPr>
          <p:cNvSpPr>
            <a:spLocks xmlns:a="http://schemas.openxmlformats.org/drawingml/2006/main" noGrp="1"/>
          </p:cNvSpPr>
          <p:nvPr/>
        </p:nvSpPr>
        <p:spPr>
          <a:xfrm xmlns:a="http://schemas.openxmlformats.org/drawingml/2006/main">
            <a:off x="4114800" y="2952750"/>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23649F"/>
          </a:solidFill>
          <a:ln xmlns:a="http://schemas.openxmlformats.org/drawingml/2006/main" w="9525">
            <a:solidFill>
              <a:srgbClr val="23649F"/>
            </a:solidFill>
            <a:prstDash val="solid"/>
          </a:ln>
        </p:spPr>
      </p:sp>
      <p:sp>
        <p:nvSpPr>
          <p:cNvPr id="8" name="github-path-7">
            <a:extLst xmlns:a="http://schemas.openxmlformats.org/drawingml/2006/main">
              <a:ext uri="{FF2B5EF4-FFF2-40B4-BE49-F238E27FC236}">
                <a16:creationId xmlns:a16="http://schemas.microsoft.com/office/drawing/2014/main" id="{94A20E5C-6E5A-41F7-9160-F502CFF10601}"/>
              </a:ext>
            </a:extLst>
          </p:cNvPr>
          <p:cNvSpPr>
            <a:spLocks xmlns:a="http://schemas.openxmlformats.org/drawingml/2006/main" noGrp="1"/>
          </p:cNvSpPr>
          <p:nvPr/>
        </p:nvSpPr>
        <p:spPr>
          <a:xfrm xmlns:a="http://schemas.openxmlformats.org/drawingml/2006/main">
            <a:off x="5638800" y="3848100"/>
            <a:ext cx="9525" cy="419100"/>
          </a:xfrm>
          <a:custGeom xmlns:a="http://schemas.openxmlformats.org/drawingml/2006/main">
            <a:pathLst>
              <a:path w="9525" h="419100">
                <a:moveTo>
                  <a:pt x="0" y="0"/>
                </a:moveTo>
                <a:lnTo>
                  <a:pt x="0" y="419100"/>
                </a:lnTo>
              </a:path>
            </a:pathLst>
          </a:custGeom>
          <a:noFill xmlns:a="http://schemas.openxmlformats.org/drawingml/2006/main"/>
          <a:ln xmlns:a="http://schemas.openxmlformats.org/drawingml/2006/main" w="28575">
            <a:solidFill>
              <a:srgbClr val="157F82"/>
            </a:solidFill>
            <a:prstDash val="solid"/>
          </a:ln>
        </p:spPr>
      </p:sp>
      <p:sp>
        <p:nvSpPr>
          <p:cNvPr id="9" name="github-path-8">
            <a:extLst xmlns:a="http://schemas.openxmlformats.org/drawingml/2006/main">
              <a:ext uri="{FF2B5EF4-FFF2-40B4-BE49-F238E27FC236}">
                <a16:creationId xmlns:a16="http://schemas.microsoft.com/office/drawing/2014/main" id="{3B56A1C2-2B9A-4DAF-AB21-6B391205F95F}"/>
              </a:ext>
            </a:extLst>
          </p:cNvPr>
          <p:cNvSpPr>
            <a:spLocks xmlns:a="http://schemas.openxmlformats.org/drawingml/2006/main" noGrp="1"/>
          </p:cNvSpPr>
          <p:nvPr/>
        </p:nvSpPr>
        <p:spPr>
          <a:xfrm xmlns:a="http://schemas.openxmlformats.org/drawingml/2006/main">
            <a:off x="5591175" y="4171950"/>
            <a:ext cx="95250" cy="95250"/>
          </a:xfrm>
          <a:custGeom xmlns:a="http://schemas.openxmlformats.org/drawingml/2006/main">
            <a:pathLst>
              <a:path w="95250" h="95250">
                <a:moveTo>
                  <a:pt x="47625" y="95250"/>
                </a:moveTo>
                <a:lnTo>
                  <a:pt x="0" y="0"/>
                </a:lnTo>
                <a:lnTo>
                  <a:pt x="95250" y="0"/>
                </a:lnTo>
                <a:close/>
              </a:path>
            </a:pathLst>
          </a:custGeom>
          <a:solidFill xmlns:a="http://schemas.openxmlformats.org/drawingml/2006/main">
            <a:srgbClr val="157F82"/>
          </a:solidFill>
          <a:ln xmlns:a="http://schemas.openxmlformats.org/drawingml/2006/main" w="9525">
            <a:solidFill>
              <a:srgbClr val="157F82"/>
            </a:solidFill>
            <a:prstDash val="solid"/>
          </a:ln>
        </p:spPr>
      </p:sp>
      <p:sp>
        <p:nvSpPr>
          <p:cNvPr id="10" name="github-path-9">
            <a:extLst xmlns:a="http://schemas.openxmlformats.org/drawingml/2006/main">
              <a:ext uri="{FF2B5EF4-FFF2-40B4-BE49-F238E27FC236}">
                <a16:creationId xmlns:a16="http://schemas.microsoft.com/office/drawing/2014/main" id="{988E3A3C-8451-4708-8097-444D4521EE6B}"/>
              </a:ext>
            </a:extLst>
          </p:cNvPr>
          <p:cNvSpPr>
            <a:spLocks xmlns:a="http://schemas.openxmlformats.org/drawingml/2006/main" noGrp="1"/>
          </p:cNvSpPr>
          <p:nvPr/>
        </p:nvSpPr>
        <p:spPr>
          <a:xfrm xmlns:a="http://schemas.openxmlformats.org/drawingml/2006/main">
            <a:off x="7067550" y="4095750"/>
            <a:ext cx="457200" cy="1085850"/>
          </a:xfrm>
          <a:custGeom xmlns:a="http://schemas.openxmlformats.org/drawingml/2006/main">
            <a:pathLst>
              <a:path w="457200" h="1085850">
                <a:moveTo>
                  <a:pt x="0" y="1085850"/>
                </a:moveTo>
                <a:lnTo>
                  <a:pt x="228600" y="1085850"/>
                </a:lnTo>
                <a:lnTo>
                  <a:pt x="228600" y="0"/>
                </a:lnTo>
                <a:lnTo>
                  <a:pt x="457200" y="0"/>
                </a:lnTo>
              </a:path>
            </a:pathLst>
          </a:custGeom>
          <a:noFill xmlns:a="http://schemas.openxmlformats.org/drawingml/2006/main"/>
          <a:ln xmlns:a="http://schemas.openxmlformats.org/drawingml/2006/main" w="28575">
            <a:solidFill>
              <a:srgbClr val="157F82"/>
            </a:solidFill>
            <a:prstDash val="solid"/>
          </a:ln>
        </p:spPr>
      </p:sp>
      <p:sp>
        <p:nvSpPr>
          <p:cNvPr id="11" name="github-path-10">
            <a:extLst xmlns:a="http://schemas.openxmlformats.org/drawingml/2006/main">
              <a:ext uri="{FF2B5EF4-FFF2-40B4-BE49-F238E27FC236}">
                <a16:creationId xmlns:a16="http://schemas.microsoft.com/office/drawing/2014/main" id="{FBAE1BDD-85E9-40B3-9EAE-D275C75FD193}"/>
              </a:ext>
            </a:extLst>
          </p:cNvPr>
          <p:cNvSpPr>
            <a:spLocks xmlns:a="http://schemas.openxmlformats.org/drawingml/2006/main" noGrp="1"/>
          </p:cNvSpPr>
          <p:nvPr/>
        </p:nvSpPr>
        <p:spPr>
          <a:xfrm xmlns:a="http://schemas.openxmlformats.org/drawingml/2006/main">
            <a:off x="7429500" y="4048125"/>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157F82"/>
          </a:solidFill>
          <a:ln xmlns:a="http://schemas.openxmlformats.org/drawingml/2006/main" w="9525">
            <a:solidFill>
              <a:srgbClr val="157F82"/>
            </a:solidFill>
            <a:prstDash val="solid"/>
          </a:ln>
        </p:spPr>
      </p:sp>
      <p:sp>
        <p:nvSpPr>
          <p:cNvPr id="12" name="github-path-11">
            <a:extLst xmlns:a="http://schemas.openxmlformats.org/drawingml/2006/main">
              <a:ext uri="{FF2B5EF4-FFF2-40B4-BE49-F238E27FC236}">
                <a16:creationId xmlns:a16="http://schemas.microsoft.com/office/drawing/2014/main" id="{6ECEA5A5-AC2A-4EC1-8073-427EE1FD5180}"/>
              </a:ext>
            </a:extLst>
          </p:cNvPr>
          <p:cNvSpPr>
            <a:spLocks xmlns:a="http://schemas.openxmlformats.org/drawingml/2006/main" noGrp="1"/>
          </p:cNvSpPr>
          <p:nvPr/>
        </p:nvSpPr>
        <p:spPr>
          <a:xfrm xmlns:a="http://schemas.openxmlformats.org/drawingml/2006/main">
            <a:off x="11201400" y="40957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6850B5"/>
            </a:solidFill>
            <a:prstDash val="solid"/>
          </a:ln>
        </p:spPr>
      </p:sp>
      <p:sp>
        <p:nvSpPr>
          <p:cNvPr id="13" name="github-path-12">
            <a:extLst xmlns:a="http://schemas.openxmlformats.org/drawingml/2006/main">
              <a:ext uri="{FF2B5EF4-FFF2-40B4-BE49-F238E27FC236}">
                <a16:creationId xmlns:a16="http://schemas.microsoft.com/office/drawing/2014/main" id="{DB6BA5CE-6D23-4D84-9642-A3F93CC9C7A7}"/>
              </a:ext>
            </a:extLst>
          </p:cNvPr>
          <p:cNvSpPr>
            <a:spLocks xmlns:a="http://schemas.openxmlformats.org/drawingml/2006/main" noGrp="1"/>
          </p:cNvSpPr>
          <p:nvPr/>
        </p:nvSpPr>
        <p:spPr>
          <a:xfrm xmlns:a="http://schemas.openxmlformats.org/drawingml/2006/main">
            <a:off x="11563350" y="4048125"/>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6850B5"/>
          </a:solidFill>
          <a:ln xmlns:a="http://schemas.openxmlformats.org/drawingml/2006/main" w="9525">
            <a:solidFill>
              <a:srgbClr val="6850B5"/>
            </a:solidFill>
            <a:prstDash val="solid"/>
          </a:ln>
        </p:spPr>
      </p:sp>
      <p:sp>
        <p:nvSpPr>
          <p:cNvPr id="14" name="github-path-13">
            <a:extLst xmlns:a="http://schemas.openxmlformats.org/drawingml/2006/main">
              <a:ext uri="{FF2B5EF4-FFF2-40B4-BE49-F238E27FC236}">
                <a16:creationId xmlns:a16="http://schemas.microsoft.com/office/drawing/2014/main" id="{F6050AA3-EDCB-4C5A-8BD5-1830DA44EB97}"/>
              </a:ext>
            </a:extLst>
          </p:cNvPr>
          <p:cNvSpPr>
            <a:spLocks xmlns:a="http://schemas.openxmlformats.org/drawingml/2006/main" noGrp="1"/>
          </p:cNvSpPr>
          <p:nvPr/>
        </p:nvSpPr>
        <p:spPr>
          <a:xfrm xmlns:a="http://schemas.openxmlformats.org/drawingml/2006/main">
            <a:off x="14497050" y="40957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C75F32"/>
            </a:solidFill>
            <a:prstDash val="solid"/>
          </a:ln>
        </p:spPr>
      </p:sp>
      <p:sp>
        <p:nvSpPr>
          <p:cNvPr id="15" name="github-path-14">
            <a:extLst xmlns:a="http://schemas.openxmlformats.org/drawingml/2006/main">
              <a:ext uri="{FF2B5EF4-FFF2-40B4-BE49-F238E27FC236}">
                <a16:creationId xmlns:a16="http://schemas.microsoft.com/office/drawing/2014/main" id="{7D187441-15D0-422A-9D3D-D4B608A2CBAF}"/>
              </a:ext>
            </a:extLst>
          </p:cNvPr>
          <p:cNvSpPr>
            <a:spLocks xmlns:a="http://schemas.openxmlformats.org/drawingml/2006/main" noGrp="1"/>
          </p:cNvSpPr>
          <p:nvPr/>
        </p:nvSpPr>
        <p:spPr>
          <a:xfrm xmlns:a="http://schemas.openxmlformats.org/drawingml/2006/main">
            <a:off x="14859000" y="4048125"/>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C75F32"/>
          </a:solidFill>
          <a:ln xmlns:a="http://schemas.openxmlformats.org/drawingml/2006/main" w="9525">
            <a:solidFill>
              <a:srgbClr val="C75F32"/>
            </a:solidFill>
            <a:prstDash val="solid"/>
          </a:ln>
        </p:spPr>
      </p:sp>
      <p:sp>
        <p:nvSpPr>
          <p:cNvPr id="16" name="github-path-15">
            <a:extLst xmlns:a="http://schemas.openxmlformats.org/drawingml/2006/main">
              <a:ext uri="{FF2B5EF4-FFF2-40B4-BE49-F238E27FC236}">
                <a16:creationId xmlns:a16="http://schemas.microsoft.com/office/drawing/2014/main" id="{CA7C91C0-5624-47A8-A569-87AC94B4BE90}"/>
              </a:ext>
            </a:extLst>
          </p:cNvPr>
          <p:cNvSpPr>
            <a:spLocks xmlns:a="http://schemas.openxmlformats.org/drawingml/2006/main" noGrp="1"/>
          </p:cNvSpPr>
          <p:nvPr/>
        </p:nvSpPr>
        <p:spPr>
          <a:xfrm xmlns:a="http://schemas.openxmlformats.org/drawingml/2006/main">
            <a:off x="5638800" y="6019800"/>
            <a:ext cx="9525" cy="1600200"/>
          </a:xfrm>
          <a:custGeom xmlns:a="http://schemas.openxmlformats.org/drawingml/2006/main">
            <a:pathLst>
              <a:path w="9525" h="1600200">
                <a:moveTo>
                  <a:pt x="0" y="0"/>
                </a:moveTo>
                <a:lnTo>
                  <a:pt x="0" y="1600200"/>
                </a:lnTo>
              </a:path>
            </a:pathLst>
          </a:custGeom>
          <a:noFill xmlns:a="http://schemas.openxmlformats.org/drawingml/2006/main"/>
          <a:ln xmlns:a="http://schemas.openxmlformats.org/drawingml/2006/main" w="28575">
            <a:solidFill>
              <a:srgbClr val="23649F"/>
            </a:solidFill>
            <a:prstDash val="solid"/>
          </a:ln>
        </p:spPr>
      </p:sp>
      <p:sp>
        <p:nvSpPr>
          <p:cNvPr id="17" name="github-path-16">
            <a:extLst xmlns:a="http://schemas.openxmlformats.org/drawingml/2006/main">
              <a:ext uri="{FF2B5EF4-FFF2-40B4-BE49-F238E27FC236}">
                <a16:creationId xmlns:a16="http://schemas.microsoft.com/office/drawing/2014/main" id="{045E23CF-547A-4E4E-B906-AEC61B2F0CB4}"/>
              </a:ext>
            </a:extLst>
          </p:cNvPr>
          <p:cNvSpPr>
            <a:spLocks xmlns:a="http://schemas.openxmlformats.org/drawingml/2006/main" noGrp="1"/>
          </p:cNvSpPr>
          <p:nvPr/>
        </p:nvSpPr>
        <p:spPr>
          <a:xfrm xmlns:a="http://schemas.openxmlformats.org/drawingml/2006/main">
            <a:off x="5591175" y="7524750"/>
            <a:ext cx="95250" cy="95250"/>
          </a:xfrm>
          <a:custGeom xmlns:a="http://schemas.openxmlformats.org/drawingml/2006/main">
            <a:pathLst>
              <a:path w="95250" h="95250">
                <a:moveTo>
                  <a:pt x="47625" y="95250"/>
                </a:moveTo>
                <a:lnTo>
                  <a:pt x="0" y="0"/>
                </a:lnTo>
                <a:lnTo>
                  <a:pt x="95250" y="0"/>
                </a:lnTo>
                <a:close/>
              </a:path>
            </a:pathLst>
          </a:custGeom>
          <a:solidFill xmlns:a="http://schemas.openxmlformats.org/drawingml/2006/main">
            <a:srgbClr val="23649F"/>
          </a:solidFill>
          <a:ln xmlns:a="http://schemas.openxmlformats.org/drawingml/2006/main" w="9525">
            <a:solidFill>
              <a:srgbClr val="23649F"/>
            </a:solidFill>
            <a:prstDash val="solid"/>
          </a:ln>
        </p:spPr>
      </p:sp>
      <p:sp>
        <p:nvSpPr>
          <p:cNvPr id="18" name="github-path-17">
            <a:extLst xmlns:a="http://schemas.openxmlformats.org/drawingml/2006/main">
              <a:ext uri="{FF2B5EF4-FFF2-40B4-BE49-F238E27FC236}">
                <a16:creationId xmlns:a16="http://schemas.microsoft.com/office/drawing/2014/main" id="{30C2FA6C-B264-4BEA-8F0B-C4F09CA1A437}"/>
              </a:ext>
            </a:extLst>
          </p:cNvPr>
          <p:cNvSpPr>
            <a:spLocks xmlns:a="http://schemas.openxmlformats.org/drawingml/2006/main" noGrp="1"/>
          </p:cNvSpPr>
          <p:nvPr/>
        </p:nvSpPr>
        <p:spPr>
          <a:xfrm xmlns:a="http://schemas.openxmlformats.org/drawingml/2006/main">
            <a:off x="7067550" y="82867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6850B5"/>
            </a:solidFill>
            <a:prstDash val="dash"/>
          </a:ln>
        </p:spPr>
      </p:sp>
      <p:sp>
        <p:nvSpPr>
          <p:cNvPr id="19" name="github-path-18">
            <a:extLst xmlns:a="http://schemas.openxmlformats.org/drawingml/2006/main">
              <a:ext uri="{FF2B5EF4-FFF2-40B4-BE49-F238E27FC236}">
                <a16:creationId xmlns:a16="http://schemas.microsoft.com/office/drawing/2014/main" id="{2F88B799-D287-44ED-A869-69D18A04EDA3}"/>
              </a:ext>
            </a:extLst>
          </p:cNvPr>
          <p:cNvSpPr>
            <a:spLocks xmlns:a="http://schemas.openxmlformats.org/drawingml/2006/main" noGrp="1"/>
          </p:cNvSpPr>
          <p:nvPr/>
        </p:nvSpPr>
        <p:spPr>
          <a:xfrm xmlns:a="http://schemas.openxmlformats.org/drawingml/2006/main">
            <a:off x="7429500" y="8239125"/>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6850B5"/>
          </a:solidFill>
          <a:ln xmlns:a="http://schemas.openxmlformats.org/drawingml/2006/main" w="9525">
            <a:solidFill>
              <a:srgbClr val="6850B5"/>
            </a:solidFill>
            <a:prstDash val="solid"/>
          </a:ln>
        </p:spPr>
      </p:sp>
      <p:sp>
        <p:nvSpPr>
          <p:cNvPr id="20" name="github-path-19">
            <a:extLst xmlns:a="http://schemas.openxmlformats.org/drawingml/2006/main">
              <a:ext uri="{FF2B5EF4-FFF2-40B4-BE49-F238E27FC236}">
                <a16:creationId xmlns:a16="http://schemas.microsoft.com/office/drawing/2014/main" id="{EFFB973F-98CE-4FE0-BF7A-680C63A606B3}"/>
              </a:ext>
            </a:extLst>
          </p:cNvPr>
          <p:cNvSpPr>
            <a:spLocks xmlns:a="http://schemas.openxmlformats.org/drawingml/2006/main" noGrp="1"/>
          </p:cNvSpPr>
          <p:nvPr/>
        </p:nvSpPr>
        <p:spPr>
          <a:xfrm xmlns:a="http://schemas.openxmlformats.org/drawingml/2006/main">
            <a:off x="11201400" y="82867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6850B5"/>
            </a:solidFill>
            <a:prstDash val="dash"/>
          </a:ln>
        </p:spPr>
      </p:sp>
      <p:sp>
        <p:nvSpPr>
          <p:cNvPr id="21" name="github-path-20">
            <a:extLst xmlns:a="http://schemas.openxmlformats.org/drawingml/2006/main">
              <a:ext uri="{FF2B5EF4-FFF2-40B4-BE49-F238E27FC236}">
                <a16:creationId xmlns:a16="http://schemas.microsoft.com/office/drawing/2014/main" id="{D43D5999-ED7D-49CD-9E74-752D0B196D4A}"/>
              </a:ext>
            </a:extLst>
          </p:cNvPr>
          <p:cNvSpPr>
            <a:spLocks xmlns:a="http://schemas.openxmlformats.org/drawingml/2006/main" noGrp="1"/>
          </p:cNvSpPr>
          <p:nvPr/>
        </p:nvSpPr>
        <p:spPr>
          <a:xfrm xmlns:a="http://schemas.openxmlformats.org/drawingml/2006/main">
            <a:off x="11563350" y="8239125"/>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6850B5"/>
          </a:solidFill>
          <a:ln xmlns:a="http://schemas.openxmlformats.org/drawingml/2006/main" w="9525">
            <a:solidFill>
              <a:srgbClr val="6850B5"/>
            </a:solidFill>
            <a:prstDash val="solid"/>
          </a:ln>
        </p:spPr>
      </p:sp>
      <p:sp>
        <p:nvSpPr>
          <p:cNvPr id="22" name="github-path-21">
            <a:extLst xmlns:a="http://schemas.openxmlformats.org/drawingml/2006/main">
              <a:ext uri="{FF2B5EF4-FFF2-40B4-BE49-F238E27FC236}">
                <a16:creationId xmlns:a16="http://schemas.microsoft.com/office/drawing/2014/main" id="{85CC176E-0DAF-4A78-B3D9-6D7B766EFD61}"/>
              </a:ext>
            </a:extLst>
          </p:cNvPr>
          <p:cNvSpPr>
            <a:spLocks xmlns:a="http://schemas.openxmlformats.org/drawingml/2006/main" noGrp="1"/>
          </p:cNvSpPr>
          <p:nvPr/>
        </p:nvSpPr>
        <p:spPr>
          <a:xfrm xmlns:a="http://schemas.openxmlformats.org/drawingml/2006/main">
            <a:off x="9363075" y="6019800"/>
            <a:ext cx="3714750" cy="1600200"/>
          </a:xfrm>
          <a:custGeom xmlns:a="http://schemas.openxmlformats.org/drawingml/2006/main">
            <a:pathLst>
              <a:path w="3714750" h="1600200">
                <a:moveTo>
                  <a:pt x="3714750" y="1600200"/>
                </a:moveTo>
                <a:lnTo>
                  <a:pt x="3714750" y="1019175"/>
                </a:lnTo>
                <a:lnTo>
                  <a:pt x="0" y="1019175"/>
                </a:lnTo>
                <a:lnTo>
                  <a:pt x="0" y="0"/>
                </a:lnTo>
              </a:path>
            </a:pathLst>
          </a:custGeom>
          <a:noFill xmlns:a="http://schemas.openxmlformats.org/drawingml/2006/main"/>
          <a:ln xmlns:a="http://schemas.openxmlformats.org/drawingml/2006/main" w="28575">
            <a:solidFill>
              <a:srgbClr val="6850B5"/>
            </a:solidFill>
            <a:prstDash val="dash"/>
          </a:ln>
        </p:spPr>
      </p:sp>
      <p:sp>
        <p:nvSpPr>
          <p:cNvPr id="23" name="github-path-22">
            <a:extLst xmlns:a="http://schemas.openxmlformats.org/drawingml/2006/main">
              <a:ext uri="{FF2B5EF4-FFF2-40B4-BE49-F238E27FC236}">
                <a16:creationId xmlns:a16="http://schemas.microsoft.com/office/drawing/2014/main" id="{3C7CD1FE-3BF4-4C3F-823C-52C07AA75BFA}"/>
              </a:ext>
            </a:extLst>
          </p:cNvPr>
          <p:cNvSpPr>
            <a:spLocks xmlns:a="http://schemas.openxmlformats.org/drawingml/2006/main" noGrp="1"/>
          </p:cNvSpPr>
          <p:nvPr/>
        </p:nvSpPr>
        <p:spPr>
          <a:xfrm xmlns:a="http://schemas.openxmlformats.org/drawingml/2006/main">
            <a:off x="9315450" y="6019800"/>
            <a:ext cx="95250" cy="95250"/>
          </a:xfrm>
          <a:custGeom xmlns:a="http://schemas.openxmlformats.org/drawingml/2006/main">
            <a:pathLst>
              <a:path w="95250" h="95250">
                <a:moveTo>
                  <a:pt x="47625" y="0"/>
                </a:moveTo>
                <a:lnTo>
                  <a:pt x="95250" y="95250"/>
                </a:lnTo>
                <a:lnTo>
                  <a:pt x="0" y="95250"/>
                </a:lnTo>
                <a:close/>
              </a:path>
            </a:pathLst>
          </a:custGeom>
          <a:solidFill xmlns:a="http://schemas.openxmlformats.org/drawingml/2006/main">
            <a:srgbClr val="6850B5"/>
          </a:solidFill>
          <a:ln xmlns:a="http://schemas.openxmlformats.org/drawingml/2006/main" w="9525">
            <a:solidFill>
              <a:srgbClr val="6850B5"/>
            </a:solidFill>
            <a:prstDash val="solid"/>
          </a:ln>
        </p:spPr>
      </p:sp>
      <p:sp>
        <p:nvSpPr>
          <p:cNvPr id="24" name="github-path-23">
            <a:extLst xmlns:a="http://schemas.openxmlformats.org/drawingml/2006/main">
              <a:ext uri="{FF2B5EF4-FFF2-40B4-BE49-F238E27FC236}">
                <a16:creationId xmlns:a16="http://schemas.microsoft.com/office/drawing/2014/main" id="{5618D1C9-0115-4A06-9383-AAD2B7796204}"/>
              </a:ext>
            </a:extLst>
          </p:cNvPr>
          <p:cNvSpPr>
            <a:spLocks xmlns:a="http://schemas.openxmlformats.org/drawingml/2006/main" noGrp="1"/>
          </p:cNvSpPr>
          <p:nvPr/>
        </p:nvSpPr>
        <p:spPr>
          <a:xfrm xmlns:a="http://schemas.openxmlformats.org/drawingml/2006/main">
            <a:off x="5638800" y="6019800"/>
            <a:ext cx="12211050" cy="3333750"/>
          </a:xfrm>
          <a:custGeom xmlns:a="http://schemas.openxmlformats.org/drawingml/2006/main">
            <a:pathLst>
              <a:path w="12211050" h="3333750">
                <a:moveTo>
                  <a:pt x="10677525" y="0"/>
                </a:moveTo>
                <a:lnTo>
                  <a:pt x="10677525" y="428625"/>
                </a:lnTo>
                <a:lnTo>
                  <a:pt x="12211050" y="428625"/>
                </a:lnTo>
                <a:lnTo>
                  <a:pt x="12211050" y="3333750"/>
                </a:lnTo>
                <a:lnTo>
                  <a:pt x="0" y="3333750"/>
                </a:lnTo>
                <a:lnTo>
                  <a:pt x="0" y="2952750"/>
                </a:lnTo>
              </a:path>
            </a:pathLst>
          </a:custGeom>
          <a:noFill xmlns:a="http://schemas.openxmlformats.org/drawingml/2006/main"/>
          <a:ln xmlns:a="http://schemas.openxmlformats.org/drawingml/2006/main" w="23813">
            <a:solidFill>
              <a:srgbClr val="7A8998"/>
            </a:solidFill>
            <a:prstDash val="dash"/>
          </a:ln>
        </p:spPr>
      </p:sp>
      <p:sp>
        <p:nvSpPr>
          <p:cNvPr id="25" name="github-path-24">
            <a:extLst xmlns:a="http://schemas.openxmlformats.org/drawingml/2006/main">
              <a:ext uri="{FF2B5EF4-FFF2-40B4-BE49-F238E27FC236}">
                <a16:creationId xmlns:a16="http://schemas.microsoft.com/office/drawing/2014/main" id="{4A87CE5C-CC68-423C-AE5B-CE2B8EB766A6}"/>
              </a:ext>
            </a:extLst>
          </p:cNvPr>
          <p:cNvSpPr>
            <a:spLocks xmlns:a="http://schemas.openxmlformats.org/drawingml/2006/main" noGrp="1"/>
          </p:cNvSpPr>
          <p:nvPr/>
        </p:nvSpPr>
        <p:spPr>
          <a:xfrm xmlns:a="http://schemas.openxmlformats.org/drawingml/2006/main">
            <a:off x="5591175" y="8972550"/>
            <a:ext cx="95250" cy="95250"/>
          </a:xfrm>
          <a:custGeom xmlns:a="http://schemas.openxmlformats.org/drawingml/2006/main">
            <a:pathLst>
              <a:path w="95250" h="95250">
                <a:moveTo>
                  <a:pt x="47625" y="0"/>
                </a:moveTo>
                <a:lnTo>
                  <a:pt x="95250" y="95250"/>
                </a:lnTo>
                <a:lnTo>
                  <a:pt x="0" y="95250"/>
                </a:lnTo>
                <a:close/>
              </a:path>
            </a:pathLst>
          </a:custGeom>
          <a:solidFill xmlns:a="http://schemas.openxmlformats.org/drawingml/2006/main">
            <a:srgbClr val="7A8998"/>
          </a:solidFill>
          <a:ln xmlns:a="http://schemas.openxmlformats.org/drawingml/2006/main" w="9525">
            <a:solidFill>
              <a:srgbClr val="7A8998"/>
            </a:solidFill>
            <a:prstDash val="solid"/>
          </a:ln>
        </p:spPr>
      </p:sp>
      <p:sp>
        <p:nvSpPr>
          <p:cNvPr id="26" name="github-text-25">
            <a:extLst xmlns:a="http://schemas.openxmlformats.org/drawingml/2006/main">
              <a:ext uri="{FF2B5EF4-FFF2-40B4-BE49-F238E27FC236}">
                <a16:creationId xmlns:a16="http://schemas.microsoft.com/office/drawing/2014/main" id="{436C7788-0717-4807-8538-E70056D9B9D0}"/>
              </a:ext>
            </a:extLst>
          </p:cNvPr>
          <p:cNvSpPr>
            <a:spLocks xmlns:a="http://schemas.openxmlformats.org/drawingml/2006/main" noGrp="1"/>
          </p:cNvSpPr>
          <p:nvPr/>
        </p:nvSpPr>
        <p:spPr>
          <a:xfrm xmlns:a="http://schemas.openxmlformats.org/drawingml/2006/main">
            <a:off x="609600" y="457200"/>
            <a:ext cx="13811250" cy="691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125" b="1">
                <a:solidFill>
                  <a:srgbClr val="142A3D"/>
                </a:solidFill>
                <a:latin typeface="DejaVu Sans"/>
                <a:ea typeface="DejaVu Sans"/>
                <a:cs typeface="DejaVu Sans"/>
              </a:defRPr>
            </a:pPr>
            <a:r>
              <a:rPr sz="4125" b="1">
                <a:solidFill>
                  <a:srgbClr val="142A3D"/>
                </a:solidFill>
                <a:latin typeface="DejaVu Sans"/>
                <a:ea typeface="DejaVu Sans"/>
                <a:cs typeface="DejaVu Sans"/>
              </a:rPr>
              <a:t>GitHub outage prediction</a:t>
            </a:r>
          </a:p>
        </p:txBody>
      </p:sp>
      <p:sp>
        <p:nvSpPr>
          <p:cNvPr id="27" name="github-text-26">
            <a:extLst xmlns:a="http://schemas.openxmlformats.org/drawingml/2006/main">
              <a:ext uri="{FF2B5EF4-FFF2-40B4-BE49-F238E27FC236}">
                <a16:creationId xmlns:a16="http://schemas.microsoft.com/office/drawing/2014/main" id="{9B0B4E0D-2E17-45D1-9B26-E8FA417EF472}"/>
              </a:ext>
            </a:extLst>
          </p:cNvPr>
          <p:cNvSpPr>
            <a:spLocks xmlns:a="http://schemas.openxmlformats.org/drawingml/2006/main" noGrp="1"/>
          </p:cNvSpPr>
          <p:nvPr/>
        </p:nvSpPr>
        <p:spPr>
          <a:xfrm xmlns:a="http://schemas.openxmlformats.org/drawingml/2006/main">
            <a:off x="609600" y="1123950"/>
            <a:ext cx="1457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46779"/>
                </a:solidFill>
                <a:latin typeface="DejaVu Sans"/>
                <a:ea typeface="DejaVu Sans"/>
                <a:cs typeface="DejaVu Sans"/>
              </a:defRPr>
            </a:pPr>
            <a:r>
              <a:rPr sz="1875" b="0">
                <a:solidFill>
                  <a:srgbClr val="546779"/>
                </a:solidFill>
                <a:latin typeface="DejaVu Sans"/>
                <a:ea typeface="DejaVu Sans"/>
                <a:cs typeface="DejaVu Sans"/>
              </a:rPr>
              <a:t>Early warning for bank access, integrations and Actions</a:t>
            </a:r>
          </a:p>
        </p:txBody>
      </p:sp>
      <p:sp>
        <p:nvSpPr>
          <p:cNvPr id="28" name="github-text-27">
            <a:extLst xmlns:a="http://schemas.openxmlformats.org/drawingml/2006/main">
              <a:ext uri="{FF2B5EF4-FFF2-40B4-BE49-F238E27FC236}">
                <a16:creationId xmlns:a16="http://schemas.microsoft.com/office/drawing/2014/main" id="{B0968936-0FF0-4576-AD5E-C313219D5A93}"/>
              </a:ext>
            </a:extLst>
          </p:cNvPr>
          <p:cNvSpPr>
            <a:spLocks xmlns:a="http://schemas.openxmlformats.org/drawingml/2006/main" noGrp="1"/>
          </p:cNvSpPr>
          <p:nvPr/>
        </p:nvSpPr>
        <p:spPr>
          <a:xfrm xmlns:a="http://schemas.openxmlformats.org/drawingml/2006/main">
            <a:off x="15144750" y="600075"/>
            <a:ext cx="25336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546779"/>
                </a:solidFill>
                <a:latin typeface="DejaVu Sans"/>
                <a:ea typeface="DejaVu Sans"/>
                <a:cs typeface="DejaVu Sans"/>
              </a:defRPr>
            </a:pPr>
            <a:r>
              <a:rPr sz="1500" b="1">
                <a:solidFill>
                  <a:srgbClr val="546779"/>
                </a:solidFill>
                <a:latin typeface="DejaVu Sans"/>
                <a:ea typeface="DejaVu Sans"/>
                <a:cs typeface="DejaVu Sans"/>
              </a:rPr>
              <a:t>PROPOSED PILOT</a:t>
            </a:r>
          </a:p>
        </p:txBody>
      </p:sp>
      <p:sp>
        <p:nvSpPr>
          <p:cNvPr id="29" name="github-path-28">
            <a:extLst xmlns:a="http://schemas.openxmlformats.org/drawingml/2006/main">
              <a:ext uri="{FF2B5EF4-FFF2-40B4-BE49-F238E27FC236}">
                <a16:creationId xmlns:a16="http://schemas.microsoft.com/office/drawing/2014/main" id="{E4162ADD-7D17-4C86-9C2D-9954B65FFC28}"/>
              </a:ext>
            </a:extLst>
          </p:cNvPr>
          <p:cNvSpPr>
            <a:spLocks xmlns:a="http://schemas.openxmlformats.org/drawingml/2006/main" noGrp="1"/>
          </p:cNvSpPr>
          <p:nvPr/>
        </p:nvSpPr>
        <p:spPr>
          <a:xfrm xmlns:a="http://schemas.openxmlformats.org/drawingml/2006/main">
            <a:off x="609600" y="1543050"/>
            <a:ext cx="17068800" cy="9525"/>
          </a:xfrm>
          <a:custGeom xmlns:a="http://schemas.openxmlformats.org/drawingml/2006/main">
            <a:pathLst>
              <a:path w="17068800" h="9525">
                <a:moveTo>
                  <a:pt x="0" y="0"/>
                </a:moveTo>
                <a:lnTo>
                  <a:pt x="17068800" y="0"/>
                </a:lnTo>
              </a:path>
            </a:pathLst>
          </a:custGeom>
          <a:noFill xmlns:a="http://schemas.openxmlformats.org/drawingml/2006/main"/>
          <a:ln xmlns:a="http://schemas.openxmlformats.org/drawingml/2006/main" w="15240">
            <a:solidFill>
              <a:srgbClr val="D7E0E9"/>
            </a:solidFill>
            <a:prstDash val="solid"/>
          </a:ln>
        </p:spPr>
      </p:sp>
      <p:sp>
        <p:nvSpPr>
          <p:cNvPr id="30" name="github-circle-29">
            <a:extLst xmlns:a="http://schemas.openxmlformats.org/drawingml/2006/main">
              <a:ext uri="{FF2B5EF4-FFF2-40B4-BE49-F238E27FC236}">
                <a16:creationId xmlns:a16="http://schemas.microsoft.com/office/drawing/2014/main" id="{0458FAE3-D0EC-41D3-A4E8-AAF236269884}"/>
              </a:ext>
            </a:extLst>
          </p:cNvPr>
          <p:cNvSpPr>
            <a:spLocks xmlns:a="http://schemas.openxmlformats.org/drawingml/2006/main" noGrp="1"/>
          </p:cNvSpPr>
          <p:nvPr/>
        </p:nvSpPr>
        <p:spPr>
          <a:xfrm xmlns:a="http://schemas.openxmlformats.org/drawingml/2006/main">
            <a:off x="609600" y="1724025"/>
            <a:ext cx="304800" cy="304800"/>
          </a:xfrm>
          <a:prstGeom xmlns:a="http://schemas.openxmlformats.org/drawingml/2006/main" prst="ellipse">
            <a:avLst/>
          </a:prstGeom>
          <a:solidFill xmlns:a="http://schemas.openxmlformats.org/drawingml/2006/main">
            <a:srgbClr val="23649F"/>
          </a:solidFill>
          <a:ln xmlns:a="http://schemas.openxmlformats.org/drawingml/2006/main" w="9525">
            <a:noFill/>
          </a:ln>
        </p:spPr>
      </p:sp>
      <p:sp>
        <p:nvSpPr>
          <p:cNvPr id="31" name="github-text-30">
            <a:extLst xmlns:a="http://schemas.openxmlformats.org/drawingml/2006/main">
              <a:ext uri="{FF2B5EF4-FFF2-40B4-BE49-F238E27FC236}">
                <a16:creationId xmlns:a16="http://schemas.microsoft.com/office/drawing/2014/main" id="{55730A77-4E9C-407C-8CE4-39EA3222E9B5}"/>
              </a:ext>
            </a:extLst>
          </p:cNvPr>
          <p:cNvSpPr>
            <a:spLocks xmlns:a="http://schemas.openxmlformats.org/drawingml/2006/main" noGrp="1"/>
          </p:cNvSpPr>
          <p:nvPr/>
        </p:nvSpPr>
        <p:spPr>
          <a:xfrm xmlns:a="http://schemas.openxmlformats.org/drawingml/2006/main">
            <a:off x="638175" y="1743075"/>
            <a:ext cx="2476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1</a:t>
            </a:r>
          </a:p>
        </p:txBody>
      </p:sp>
      <p:sp>
        <p:nvSpPr>
          <p:cNvPr id="32" name="github-text-31">
            <a:extLst xmlns:a="http://schemas.openxmlformats.org/drawingml/2006/main">
              <a:ext uri="{FF2B5EF4-FFF2-40B4-BE49-F238E27FC236}">
                <a16:creationId xmlns:a16="http://schemas.microsoft.com/office/drawing/2014/main" id="{94588AA6-C2F9-4F64-8682-C9C932B24529}"/>
              </a:ext>
            </a:extLst>
          </p:cNvPr>
          <p:cNvSpPr>
            <a:spLocks xmlns:a="http://schemas.openxmlformats.org/drawingml/2006/main" noGrp="1"/>
          </p:cNvSpPr>
          <p:nvPr/>
        </p:nvSpPr>
        <p:spPr>
          <a:xfrm xmlns:a="http://schemas.openxmlformats.org/drawingml/2006/main">
            <a:off x="1038225" y="1724025"/>
            <a:ext cx="271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23649F"/>
                </a:solidFill>
                <a:latin typeface="DejaVu Sans"/>
                <a:ea typeface="DejaVu Sans"/>
                <a:cs typeface="DejaVu Sans"/>
              </a:defRPr>
            </a:pPr>
            <a:r>
              <a:rPr sz="1875" b="1">
                <a:solidFill>
                  <a:srgbClr val="23649F"/>
                </a:solidFill>
                <a:latin typeface="DejaVu Sans"/>
                <a:ea typeface="DejaVu Sans"/>
                <a:cs typeface="DejaVu Sans"/>
              </a:rPr>
              <a:t>Signals</a:t>
            </a:r>
          </a:p>
        </p:txBody>
      </p:sp>
      <p:sp>
        <p:nvSpPr>
          <p:cNvPr id="33" name="github-circle-32">
            <a:extLst xmlns:a="http://schemas.openxmlformats.org/drawingml/2006/main">
              <a:ext uri="{FF2B5EF4-FFF2-40B4-BE49-F238E27FC236}">
                <a16:creationId xmlns:a16="http://schemas.microsoft.com/office/drawing/2014/main" id="{13F1DED3-3437-402D-AF8A-B2BA6D1CBFAA}"/>
              </a:ext>
            </a:extLst>
          </p:cNvPr>
          <p:cNvSpPr>
            <a:spLocks xmlns:a="http://schemas.openxmlformats.org/drawingml/2006/main" noGrp="1"/>
          </p:cNvSpPr>
          <p:nvPr/>
        </p:nvSpPr>
        <p:spPr>
          <a:xfrm xmlns:a="http://schemas.openxmlformats.org/drawingml/2006/main">
            <a:off x="4210050" y="1724025"/>
            <a:ext cx="304800" cy="304800"/>
          </a:xfrm>
          <a:prstGeom xmlns:a="http://schemas.openxmlformats.org/drawingml/2006/main" prst="ellipse">
            <a:avLst/>
          </a:prstGeom>
          <a:solidFill xmlns:a="http://schemas.openxmlformats.org/drawingml/2006/main">
            <a:srgbClr val="157F82"/>
          </a:solidFill>
          <a:ln xmlns:a="http://schemas.openxmlformats.org/drawingml/2006/main" w="9525">
            <a:noFill/>
          </a:ln>
        </p:spPr>
      </p:sp>
      <p:sp>
        <p:nvSpPr>
          <p:cNvPr id="34" name="github-text-33">
            <a:extLst xmlns:a="http://schemas.openxmlformats.org/drawingml/2006/main">
              <a:ext uri="{FF2B5EF4-FFF2-40B4-BE49-F238E27FC236}">
                <a16:creationId xmlns:a16="http://schemas.microsoft.com/office/drawing/2014/main" id="{1D94DA99-6359-403F-87A8-91B070F0B0F3}"/>
              </a:ext>
            </a:extLst>
          </p:cNvPr>
          <p:cNvSpPr>
            <a:spLocks xmlns:a="http://schemas.openxmlformats.org/drawingml/2006/main" noGrp="1"/>
          </p:cNvSpPr>
          <p:nvPr/>
        </p:nvSpPr>
        <p:spPr>
          <a:xfrm xmlns:a="http://schemas.openxmlformats.org/drawingml/2006/main">
            <a:off x="4238625" y="1743075"/>
            <a:ext cx="2476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2</a:t>
            </a:r>
          </a:p>
        </p:txBody>
      </p:sp>
      <p:sp>
        <p:nvSpPr>
          <p:cNvPr id="35" name="github-text-34">
            <a:extLst xmlns:a="http://schemas.openxmlformats.org/drawingml/2006/main">
              <a:ext uri="{FF2B5EF4-FFF2-40B4-BE49-F238E27FC236}">
                <a16:creationId xmlns:a16="http://schemas.microsoft.com/office/drawing/2014/main" id="{00269188-DB69-4A2F-9EBF-9EC202DD738B}"/>
              </a:ext>
            </a:extLst>
          </p:cNvPr>
          <p:cNvSpPr>
            <a:spLocks xmlns:a="http://schemas.openxmlformats.org/drawingml/2006/main" noGrp="1"/>
          </p:cNvSpPr>
          <p:nvPr/>
        </p:nvSpPr>
        <p:spPr>
          <a:xfrm xmlns:a="http://schemas.openxmlformats.org/drawingml/2006/main">
            <a:off x="4638675" y="1724025"/>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57F82"/>
                </a:solidFill>
                <a:latin typeface="DejaVu Sans"/>
                <a:ea typeface="DejaVu Sans"/>
                <a:cs typeface="DejaVu Sans"/>
              </a:defRPr>
            </a:pPr>
            <a:r>
              <a:rPr sz="1875" b="1">
                <a:solidFill>
                  <a:srgbClr val="157F82"/>
                </a:solidFill>
                <a:latin typeface="DejaVu Sans"/>
                <a:ea typeface="DejaVu Sans"/>
                <a:cs typeface="DejaVu Sans"/>
              </a:rPr>
              <a:t>Collect &amp; prepare</a:t>
            </a:r>
          </a:p>
        </p:txBody>
      </p:sp>
      <p:sp>
        <p:nvSpPr>
          <p:cNvPr id="36" name="github-circle-35">
            <a:extLst xmlns:a="http://schemas.openxmlformats.org/drawingml/2006/main">
              <a:ext uri="{FF2B5EF4-FFF2-40B4-BE49-F238E27FC236}">
                <a16:creationId xmlns:a16="http://schemas.microsoft.com/office/drawing/2014/main" id="{EC671E33-7D1A-4129-9688-1B29568D6E86}"/>
              </a:ext>
            </a:extLst>
          </p:cNvPr>
          <p:cNvSpPr>
            <a:spLocks xmlns:a="http://schemas.openxmlformats.org/drawingml/2006/main" noGrp="1"/>
          </p:cNvSpPr>
          <p:nvPr/>
        </p:nvSpPr>
        <p:spPr>
          <a:xfrm xmlns:a="http://schemas.openxmlformats.org/drawingml/2006/main">
            <a:off x="7524750" y="1724025"/>
            <a:ext cx="304800" cy="304800"/>
          </a:xfrm>
          <a:prstGeom xmlns:a="http://schemas.openxmlformats.org/drawingml/2006/main" prst="ellipse">
            <a:avLst/>
          </a:prstGeom>
          <a:solidFill xmlns:a="http://schemas.openxmlformats.org/drawingml/2006/main">
            <a:srgbClr val="6850B5"/>
          </a:solidFill>
          <a:ln xmlns:a="http://schemas.openxmlformats.org/drawingml/2006/main" w="9525">
            <a:noFill/>
          </a:ln>
        </p:spPr>
      </p:sp>
      <p:sp>
        <p:nvSpPr>
          <p:cNvPr id="37" name="github-text-36">
            <a:extLst xmlns:a="http://schemas.openxmlformats.org/drawingml/2006/main">
              <a:ext uri="{FF2B5EF4-FFF2-40B4-BE49-F238E27FC236}">
                <a16:creationId xmlns:a16="http://schemas.microsoft.com/office/drawing/2014/main" id="{E44D55C8-0701-4B79-875C-A66C389E66B9}"/>
              </a:ext>
            </a:extLst>
          </p:cNvPr>
          <p:cNvSpPr>
            <a:spLocks xmlns:a="http://schemas.openxmlformats.org/drawingml/2006/main" noGrp="1"/>
          </p:cNvSpPr>
          <p:nvPr/>
        </p:nvSpPr>
        <p:spPr>
          <a:xfrm xmlns:a="http://schemas.openxmlformats.org/drawingml/2006/main">
            <a:off x="7553325" y="1743075"/>
            <a:ext cx="2476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3</a:t>
            </a:r>
          </a:p>
        </p:txBody>
      </p:sp>
      <p:sp>
        <p:nvSpPr>
          <p:cNvPr id="38" name="github-text-37">
            <a:extLst xmlns:a="http://schemas.openxmlformats.org/drawingml/2006/main">
              <a:ext uri="{FF2B5EF4-FFF2-40B4-BE49-F238E27FC236}">
                <a16:creationId xmlns:a16="http://schemas.microsoft.com/office/drawing/2014/main" id="{1666E15B-CB92-4363-8EA1-3B184C85547C}"/>
              </a:ext>
            </a:extLst>
          </p:cNvPr>
          <p:cNvSpPr>
            <a:spLocks xmlns:a="http://schemas.openxmlformats.org/drawingml/2006/main" noGrp="1"/>
          </p:cNvSpPr>
          <p:nvPr/>
        </p:nvSpPr>
        <p:spPr>
          <a:xfrm xmlns:a="http://schemas.openxmlformats.org/drawingml/2006/main">
            <a:off x="7953375" y="1724025"/>
            <a:ext cx="3248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6850B5"/>
                </a:solidFill>
                <a:latin typeface="DejaVu Sans"/>
                <a:ea typeface="DejaVu Sans"/>
                <a:cs typeface="DejaVu Sans"/>
              </a:defRPr>
            </a:pPr>
            <a:r>
              <a:rPr sz="1875" b="1">
                <a:solidFill>
                  <a:srgbClr val="6850B5"/>
                </a:solidFill>
                <a:latin typeface="DejaVu Sans"/>
                <a:ea typeface="DejaVu Sans"/>
                <a:cs typeface="DejaVu Sans"/>
              </a:rPr>
              <a:t>ML forecast</a:t>
            </a:r>
          </a:p>
        </p:txBody>
      </p:sp>
      <p:sp>
        <p:nvSpPr>
          <p:cNvPr id="39" name="github-circle-38">
            <a:extLst xmlns:a="http://schemas.openxmlformats.org/drawingml/2006/main">
              <a:ext uri="{FF2B5EF4-FFF2-40B4-BE49-F238E27FC236}">
                <a16:creationId xmlns:a16="http://schemas.microsoft.com/office/drawing/2014/main" id="{3CDF5799-300F-4BA5-B931-3DC2A02E5A5D}"/>
              </a:ext>
            </a:extLst>
          </p:cNvPr>
          <p:cNvSpPr>
            <a:spLocks xmlns:a="http://schemas.openxmlformats.org/drawingml/2006/main" noGrp="1"/>
          </p:cNvSpPr>
          <p:nvPr/>
        </p:nvSpPr>
        <p:spPr>
          <a:xfrm xmlns:a="http://schemas.openxmlformats.org/drawingml/2006/main">
            <a:off x="11658600" y="1724025"/>
            <a:ext cx="304800" cy="304800"/>
          </a:xfrm>
          <a:prstGeom xmlns:a="http://schemas.openxmlformats.org/drawingml/2006/main" prst="ellipse">
            <a:avLst/>
          </a:prstGeom>
          <a:solidFill xmlns:a="http://schemas.openxmlformats.org/drawingml/2006/main">
            <a:srgbClr val="C75F32"/>
          </a:solidFill>
          <a:ln xmlns:a="http://schemas.openxmlformats.org/drawingml/2006/main" w="9525">
            <a:noFill/>
          </a:ln>
        </p:spPr>
      </p:sp>
      <p:sp>
        <p:nvSpPr>
          <p:cNvPr id="40" name="github-text-39">
            <a:extLst xmlns:a="http://schemas.openxmlformats.org/drawingml/2006/main">
              <a:ext uri="{FF2B5EF4-FFF2-40B4-BE49-F238E27FC236}">
                <a16:creationId xmlns:a16="http://schemas.microsoft.com/office/drawing/2014/main" id="{234F8348-F16D-4ACA-ABEE-88005BF75658}"/>
              </a:ext>
            </a:extLst>
          </p:cNvPr>
          <p:cNvSpPr>
            <a:spLocks xmlns:a="http://schemas.openxmlformats.org/drawingml/2006/main" noGrp="1"/>
          </p:cNvSpPr>
          <p:nvPr/>
        </p:nvSpPr>
        <p:spPr>
          <a:xfrm xmlns:a="http://schemas.openxmlformats.org/drawingml/2006/main">
            <a:off x="11687175" y="1743075"/>
            <a:ext cx="2476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4</a:t>
            </a:r>
          </a:p>
        </p:txBody>
      </p:sp>
      <p:sp>
        <p:nvSpPr>
          <p:cNvPr id="41" name="github-text-40">
            <a:extLst xmlns:a="http://schemas.openxmlformats.org/drawingml/2006/main">
              <a:ext uri="{FF2B5EF4-FFF2-40B4-BE49-F238E27FC236}">
                <a16:creationId xmlns:a16="http://schemas.microsoft.com/office/drawing/2014/main" id="{02317CAC-7DD0-41CE-9B8F-C10FA28989A6}"/>
              </a:ext>
            </a:extLst>
          </p:cNvPr>
          <p:cNvSpPr>
            <a:spLocks xmlns:a="http://schemas.openxmlformats.org/drawingml/2006/main" noGrp="1"/>
          </p:cNvSpPr>
          <p:nvPr/>
        </p:nvSpPr>
        <p:spPr>
          <a:xfrm xmlns:a="http://schemas.openxmlformats.org/drawingml/2006/main">
            <a:off x="12087225" y="1724025"/>
            <a:ext cx="2409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C75F32"/>
                </a:solidFill>
                <a:latin typeface="DejaVu Sans"/>
                <a:ea typeface="DejaVu Sans"/>
                <a:cs typeface="DejaVu Sans"/>
              </a:defRPr>
            </a:pPr>
            <a:r>
              <a:rPr sz="1875" b="1">
                <a:solidFill>
                  <a:srgbClr val="C75F32"/>
                </a:solidFill>
                <a:latin typeface="DejaVu Sans"/>
                <a:ea typeface="DejaVu Sans"/>
                <a:cs typeface="DejaVu Sans"/>
              </a:rPr>
              <a:t>Outage risk</a:t>
            </a:r>
          </a:p>
        </p:txBody>
      </p:sp>
      <p:sp>
        <p:nvSpPr>
          <p:cNvPr id="42" name="github-circle-41">
            <a:extLst xmlns:a="http://schemas.openxmlformats.org/drawingml/2006/main">
              <a:ext uri="{FF2B5EF4-FFF2-40B4-BE49-F238E27FC236}">
                <a16:creationId xmlns:a16="http://schemas.microsoft.com/office/drawing/2014/main" id="{9531816A-5CC1-4CEF-924F-4153534DF3DE}"/>
              </a:ext>
            </a:extLst>
          </p:cNvPr>
          <p:cNvSpPr>
            <a:spLocks xmlns:a="http://schemas.openxmlformats.org/drawingml/2006/main" noGrp="1"/>
          </p:cNvSpPr>
          <p:nvPr/>
        </p:nvSpPr>
        <p:spPr>
          <a:xfrm xmlns:a="http://schemas.openxmlformats.org/drawingml/2006/main">
            <a:off x="14954250" y="1724025"/>
            <a:ext cx="304800" cy="304800"/>
          </a:xfrm>
          <a:prstGeom xmlns:a="http://schemas.openxmlformats.org/drawingml/2006/main" prst="ellipse">
            <a:avLst/>
          </a:prstGeom>
          <a:solidFill xmlns:a="http://schemas.openxmlformats.org/drawingml/2006/main">
            <a:srgbClr val="142A3D"/>
          </a:solidFill>
          <a:ln xmlns:a="http://schemas.openxmlformats.org/drawingml/2006/main" w="9525">
            <a:noFill/>
          </a:ln>
        </p:spPr>
      </p:sp>
      <p:sp>
        <p:nvSpPr>
          <p:cNvPr id="43" name="github-text-42">
            <a:extLst xmlns:a="http://schemas.openxmlformats.org/drawingml/2006/main">
              <a:ext uri="{FF2B5EF4-FFF2-40B4-BE49-F238E27FC236}">
                <a16:creationId xmlns:a16="http://schemas.microsoft.com/office/drawing/2014/main" id="{8CF91610-2855-403C-BDAD-0E2523228C1C}"/>
              </a:ext>
            </a:extLst>
          </p:cNvPr>
          <p:cNvSpPr>
            <a:spLocks xmlns:a="http://schemas.openxmlformats.org/drawingml/2006/main" noGrp="1"/>
          </p:cNvSpPr>
          <p:nvPr/>
        </p:nvSpPr>
        <p:spPr>
          <a:xfrm xmlns:a="http://schemas.openxmlformats.org/drawingml/2006/main">
            <a:off x="14982825" y="1743075"/>
            <a:ext cx="2476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5</a:t>
            </a:r>
          </a:p>
        </p:txBody>
      </p:sp>
      <p:sp>
        <p:nvSpPr>
          <p:cNvPr id="44" name="github-text-43">
            <a:extLst xmlns:a="http://schemas.openxmlformats.org/drawingml/2006/main">
              <a:ext uri="{FF2B5EF4-FFF2-40B4-BE49-F238E27FC236}">
                <a16:creationId xmlns:a16="http://schemas.microsoft.com/office/drawing/2014/main" id="{6C88C747-8AE7-4828-9FCA-51939DD072FA}"/>
              </a:ext>
            </a:extLst>
          </p:cNvPr>
          <p:cNvSpPr>
            <a:spLocks xmlns:a="http://schemas.openxmlformats.org/drawingml/2006/main" noGrp="1"/>
          </p:cNvSpPr>
          <p:nvPr/>
        </p:nvSpPr>
        <p:spPr>
          <a:xfrm xmlns:a="http://schemas.openxmlformats.org/drawingml/2006/main">
            <a:off x="15382875" y="1724025"/>
            <a:ext cx="2295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42A3D"/>
                </a:solidFill>
                <a:latin typeface="DejaVu Sans"/>
                <a:ea typeface="DejaVu Sans"/>
                <a:cs typeface="DejaVu Sans"/>
              </a:defRPr>
            </a:pPr>
            <a:r>
              <a:rPr sz="1875" b="1">
                <a:solidFill>
                  <a:srgbClr val="142A3D"/>
                </a:solidFill>
                <a:latin typeface="DejaVu Sans"/>
                <a:ea typeface="DejaVu Sans"/>
                <a:cs typeface="DejaVu Sans"/>
              </a:rPr>
              <a:t>Respond</a:t>
            </a:r>
          </a:p>
        </p:txBody>
      </p:sp>
      <p:sp>
        <p:nvSpPr>
          <p:cNvPr id="45" name="github-rect-44">
            <a:extLst xmlns:a="http://schemas.openxmlformats.org/drawingml/2006/main">
              <a:ext uri="{FF2B5EF4-FFF2-40B4-BE49-F238E27FC236}">
                <a16:creationId xmlns:a16="http://schemas.microsoft.com/office/drawing/2014/main" id="{B7FEE05B-2732-4BD8-8B27-E13517BD8B02}"/>
              </a:ext>
            </a:extLst>
          </p:cNvPr>
          <p:cNvSpPr>
            <a:spLocks xmlns:a="http://schemas.openxmlformats.org/drawingml/2006/main" noGrp="1"/>
          </p:cNvSpPr>
          <p:nvPr/>
        </p:nvSpPr>
        <p:spPr>
          <a:xfrm xmlns:a="http://schemas.openxmlformats.org/drawingml/2006/main">
            <a:off x="609600" y="2171700"/>
            <a:ext cx="3143250" cy="962025"/>
          </a:xfrm>
          <a:prstGeom xmlns:a="http://schemas.openxmlformats.org/drawingml/2006/main" prst="roundRect">
            <a:avLst>
              <a:gd name="adj" fmla="val 9901"/>
            </a:avLst>
          </a:prstGeom>
          <a:solidFill xmlns:a="http://schemas.openxmlformats.org/drawingml/2006/main">
            <a:srgbClr val="FFFFFF"/>
          </a:solidFill>
          <a:ln xmlns:a="http://schemas.openxmlformats.org/drawingml/2006/main" w="14288">
            <a:solidFill>
              <a:srgbClr val="D7E0E9"/>
            </a:solidFill>
          </a:ln>
        </p:spPr>
      </p:sp>
      <p:sp>
        <p:nvSpPr>
          <p:cNvPr id="46" name="github-rect-45">
            <a:extLst xmlns:a="http://schemas.openxmlformats.org/drawingml/2006/main">
              <a:ext uri="{FF2B5EF4-FFF2-40B4-BE49-F238E27FC236}">
                <a16:creationId xmlns:a16="http://schemas.microsoft.com/office/drawing/2014/main" id="{898D0FF1-E3D7-4CF8-AB8A-00AB579DB898}"/>
              </a:ext>
            </a:extLst>
          </p:cNvPr>
          <p:cNvSpPr>
            <a:spLocks xmlns:a="http://schemas.openxmlformats.org/drawingml/2006/main" noGrp="1"/>
          </p:cNvSpPr>
          <p:nvPr/>
        </p:nvSpPr>
        <p:spPr>
          <a:xfrm xmlns:a="http://schemas.openxmlformats.org/drawingml/2006/main">
            <a:off x="609600" y="2171700"/>
            <a:ext cx="47625" cy="962025"/>
          </a:xfrm>
          <a:prstGeom xmlns:a="http://schemas.openxmlformats.org/drawingml/2006/main" prst="roundRect">
            <a:avLst>
              <a:gd name="adj" fmla="val 0"/>
            </a:avLst>
          </a:prstGeom>
          <a:solidFill xmlns:a="http://schemas.openxmlformats.org/drawingml/2006/main">
            <a:srgbClr val="23649F"/>
          </a:solidFill>
          <a:ln xmlns:a="http://schemas.openxmlformats.org/drawingml/2006/main" w="0">
            <a:noFill/>
          </a:ln>
        </p:spPr>
      </p:sp>
      <p:sp>
        <p:nvSpPr>
          <p:cNvPr id="47" name="github-text-46">
            <a:extLst xmlns:a="http://schemas.openxmlformats.org/drawingml/2006/main">
              <a:ext uri="{FF2B5EF4-FFF2-40B4-BE49-F238E27FC236}">
                <a16:creationId xmlns:a16="http://schemas.microsoft.com/office/drawing/2014/main" id="{2FEFDD8A-EE6D-47C8-A69F-C8A3B2376F72}"/>
              </a:ext>
            </a:extLst>
          </p:cNvPr>
          <p:cNvSpPr>
            <a:spLocks xmlns:a="http://schemas.openxmlformats.org/drawingml/2006/main" noGrp="1"/>
          </p:cNvSpPr>
          <p:nvPr/>
        </p:nvSpPr>
        <p:spPr>
          <a:xfrm xmlns:a="http://schemas.openxmlformats.org/drawingml/2006/main">
            <a:off x="790575" y="2295525"/>
            <a:ext cx="281940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42A3D"/>
                </a:solidFill>
                <a:latin typeface="DejaVu Sans"/>
                <a:ea typeface="DejaVu Sans"/>
                <a:cs typeface="DejaVu Sans"/>
              </a:defRPr>
            </a:pPr>
            <a:r>
              <a:rPr sz="1725" b="1">
                <a:solidFill>
                  <a:srgbClr val="142A3D"/>
                </a:solidFill>
                <a:latin typeface="DejaVu Sans"/>
                <a:ea typeface="DejaVu Sans"/>
                <a:cs typeface="DejaVu Sans"/>
              </a:rPr>
              <a:t>Git + API probes</a:t>
            </a:r>
          </a:p>
        </p:txBody>
      </p:sp>
      <p:sp>
        <p:nvSpPr>
          <p:cNvPr id="48" name="github-text-47">
            <a:extLst xmlns:a="http://schemas.openxmlformats.org/drawingml/2006/main">
              <a:ext uri="{FF2B5EF4-FFF2-40B4-BE49-F238E27FC236}">
                <a16:creationId xmlns:a16="http://schemas.microsoft.com/office/drawing/2014/main" id="{1045F2EA-D6D8-4761-840A-AA06EDC061FA}"/>
              </a:ext>
            </a:extLst>
          </p:cNvPr>
          <p:cNvSpPr>
            <a:spLocks xmlns:a="http://schemas.openxmlformats.org/drawingml/2006/main" noGrp="1"/>
          </p:cNvSpPr>
          <p:nvPr/>
        </p:nvSpPr>
        <p:spPr>
          <a:xfrm xmlns:a="http://schemas.openxmlformats.org/drawingml/2006/main">
            <a:off x="790575" y="2609850"/>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API and git ls-remote latency</a:t>
            </a:r>
          </a:p>
        </p:txBody>
      </p:sp>
      <p:sp>
        <p:nvSpPr>
          <p:cNvPr id="49" name="github-text-48">
            <a:extLst xmlns:a="http://schemas.openxmlformats.org/drawingml/2006/main">
              <a:ext uri="{FF2B5EF4-FFF2-40B4-BE49-F238E27FC236}">
                <a16:creationId xmlns:a16="http://schemas.microsoft.com/office/drawing/2014/main" id="{57C8ED12-1364-4F1B-BB42-E79F649976E3}"/>
              </a:ext>
            </a:extLst>
          </p:cNvPr>
          <p:cNvSpPr>
            <a:spLocks xmlns:a="http://schemas.openxmlformats.org/drawingml/2006/main" noGrp="1"/>
          </p:cNvSpPr>
          <p:nvPr/>
        </p:nvSpPr>
        <p:spPr>
          <a:xfrm xmlns:a="http://schemas.openxmlformats.org/drawingml/2006/main">
            <a:off x="790575" y="2857500"/>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DNS / TLS / proxy timing</a:t>
            </a:r>
          </a:p>
        </p:txBody>
      </p:sp>
      <p:sp>
        <p:nvSpPr>
          <p:cNvPr id="50" name="github-rect-49">
            <a:extLst xmlns:a="http://schemas.openxmlformats.org/drawingml/2006/main">
              <a:ext uri="{FF2B5EF4-FFF2-40B4-BE49-F238E27FC236}">
                <a16:creationId xmlns:a16="http://schemas.microsoft.com/office/drawing/2014/main" id="{AE1A7C93-DC0E-4A6C-9DA2-4EDDDAFE15D5}"/>
              </a:ext>
            </a:extLst>
          </p:cNvPr>
          <p:cNvSpPr>
            <a:spLocks xmlns:a="http://schemas.openxmlformats.org/drawingml/2006/main" noGrp="1"/>
          </p:cNvSpPr>
          <p:nvPr/>
        </p:nvSpPr>
        <p:spPr>
          <a:xfrm xmlns:a="http://schemas.openxmlformats.org/drawingml/2006/main">
            <a:off x="609600" y="3190875"/>
            <a:ext cx="3143250" cy="962025"/>
          </a:xfrm>
          <a:prstGeom xmlns:a="http://schemas.openxmlformats.org/drawingml/2006/main" prst="roundRect">
            <a:avLst>
              <a:gd name="adj" fmla="val 9901"/>
            </a:avLst>
          </a:prstGeom>
          <a:solidFill xmlns:a="http://schemas.openxmlformats.org/drawingml/2006/main">
            <a:srgbClr val="FFFFFF"/>
          </a:solidFill>
          <a:ln xmlns:a="http://schemas.openxmlformats.org/drawingml/2006/main" w="14288">
            <a:solidFill>
              <a:srgbClr val="D7E0E9"/>
            </a:solidFill>
          </a:ln>
        </p:spPr>
      </p:sp>
      <p:sp>
        <p:nvSpPr>
          <p:cNvPr id="51" name="github-rect-50">
            <a:extLst xmlns:a="http://schemas.openxmlformats.org/drawingml/2006/main">
              <a:ext uri="{FF2B5EF4-FFF2-40B4-BE49-F238E27FC236}">
                <a16:creationId xmlns:a16="http://schemas.microsoft.com/office/drawing/2014/main" id="{38957E84-18AA-4255-85F4-D45A10730673}"/>
              </a:ext>
            </a:extLst>
          </p:cNvPr>
          <p:cNvSpPr>
            <a:spLocks xmlns:a="http://schemas.openxmlformats.org/drawingml/2006/main" noGrp="1"/>
          </p:cNvSpPr>
          <p:nvPr/>
        </p:nvSpPr>
        <p:spPr>
          <a:xfrm xmlns:a="http://schemas.openxmlformats.org/drawingml/2006/main">
            <a:off x="609600" y="3190875"/>
            <a:ext cx="47625" cy="962025"/>
          </a:xfrm>
          <a:prstGeom xmlns:a="http://schemas.openxmlformats.org/drawingml/2006/main" prst="roundRect">
            <a:avLst>
              <a:gd name="adj" fmla="val 0"/>
            </a:avLst>
          </a:prstGeom>
          <a:solidFill xmlns:a="http://schemas.openxmlformats.org/drawingml/2006/main">
            <a:srgbClr val="23649F"/>
          </a:solidFill>
          <a:ln xmlns:a="http://schemas.openxmlformats.org/drawingml/2006/main" w="0">
            <a:noFill/>
          </a:ln>
        </p:spPr>
      </p:sp>
      <p:sp>
        <p:nvSpPr>
          <p:cNvPr id="52" name="github-text-51">
            <a:extLst xmlns:a="http://schemas.openxmlformats.org/drawingml/2006/main">
              <a:ext uri="{FF2B5EF4-FFF2-40B4-BE49-F238E27FC236}">
                <a16:creationId xmlns:a16="http://schemas.microsoft.com/office/drawing/2014/main" id="{56372C1A-37E6-4FD1-863B-2FC72C97781F}"/>
              </a:ext>
            </a:extLst>
          </p:cNvPr>
          <p:cNvSpPr>
            <a:spLocks xmlns:a="http://schemas.openxmlformats.org/drawingml/2006/main" noGrp="1"/>
          </p:cNvSpPr>
          <p:nvPr/>
        </p:nvSpPr>
        <p:spPr>
          <a:xfrm xmlns:a="http://schemas.openxmlformats.org/drawingml/2006/main">
            <a:off x="790575" y="3314700"/>
            <a:ext cx="281940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42A3D"/>
                </a:solidFill>
                <a:latin typeface="DejaVu Sans"/>
                <a:ea typeface="DejaVu Sans"/>
                <a:cs typeface="DejaVu Sans"/>
              </a:defRPr>
            </a:pPr>
            <a:r>
              <a:rPr sz="1725" b="1">
                <a:solidFill>
                  <a:srgbClr val="142A3D"/>
                </a:solidFill>
                <a:latin typeface="DejaVu Sans"/>
                <a:ea typeface="DejaVu Sans"/>
                <a:cs typeface="DejaVu Sans"/>
              </a:rPr>
              <a:t>Integration metrics</a:t>
            </a:r>
          </a:p>
        </p:txBody>
      </p:sp>
      <p:sp>
        <p:nvSpPr>
          <p:cNvPr id="53" name="github-text-52">
            <a:extLst xmlns:a="http://schemas.openxmlformats.org/drawingml/2006/main">
              <a:ext uri="{FF2B5EF4-FFF2-40B4-BE49-F238E27FC236}">
                <a16:creationId xmlns:a16="http://schemas.microsoft.com/office/drawing/2014/main" id="{9E75854C-017E-4EC4-B2AB-601510C53ED8}"/>
              </a:ext>
            </a:extLst>
          </p:cNvPr>
          <p:cNvSpPr>
            <a:spLocks xmlns:a="http://schemas.openxmlformats.org/drawingml/2006/main" noGrp="1"/>
          </p:cNvSpPr>
          <p:nvPr/>
        </p:nvSpPr>
        <p:spPr>
          <a:xfrm xmlns:a="http://schemas.openxmlformats.org/drawingml/2006/main">
            <a:off x="790575" y="3629025"/>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API quota, reset, call rate</a:t>
            </a:r>
          </a:p>
        </p:txBody>
      </p:sp>
      <p:sp>
        <p:nvSpPr>
          <p:cNvPr id="54" name="github-text-53">
            <a:extLst xmlns:a="http://schemas.openxmlformats.org/drawingml/2006/main">
              <a:ext uri="{FF2B5EF4-FFF2-40B4-BE49-F238E27FC236}">
                <a16:creationId xmlns:a16="http://schemas.microsoft.com/office/drawing/2014/main" id="{75C5B184-4495-48B2-A36B-41B0D96C446A}"/>
              </a:ext>
            </a:extLst>
          </p:cNvPr>
          <p:cNvSpPr>
            <a:spLocks xmlns:a="http://schemas.openxmlformats.org/drawingml/2006/main" noGrp="1"/>
          </p:cNvSpPr>
          <p:nvPr/>
        </p:nvSpPr>
        <p:spPr>
          <a:xfrm xmlns:a="http://schemas.openxmlformats.org/drawingml/2006/main">
            <a:off x="790575" y="3876675"/>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Token renewal and failures</a:t>
            </a:r>
          </a:p>
        </p:txBody>
      </p:sp>
      <p:sp>
        <p:nvSpPr>
          <p:cNvPr id="55" name="github-rect-54">
            <a:extLst xmlns:a="http://schemas.openxmlformats.org/drawingml/2006/main">
              <a:ext uri="{FF2B5EF4-FFF2-40B4-BE49-F238E27FC236}">
                <a16:creationId xmlns:a16="http://schemas.microsoft.com/office/drawing/2014/main" id="{5272D028-AC50-4C24-894F-9AD3435458D0}"/>
              </a:ext>
            </a:extLst>
          </p:cNvPr>
          <p:cNvSpPr>
            <a:spLocks xmlns:a="http://schemas.openxmlformats.org/drawingml/2006/main" noGrp="1"/>
          </p:cNvSpPr>
          <p:nvPr/>
        </p:nvSpPr>
        <p:spPr>
          <a:xfrm xmlns:a="http://schemas.openxmlformats.org/drawingml/2006/main">
            <a:off x="609600" y="4210050"/>
            <a:ext cx="3143250" cy="962025"/>
          </a:xfrm>
          <a:prstGeom xmlns:a="http://schemas.openxmlformats.org/drawingml/2006/main" prst="roundRect">
            <a:avLst>
              <a:gd name="adj" fmla="val 9901"/>
            </a:avLst>
          </a:prstGeom>
          <a:solidFill xmlns:a="http://schemas.openxmlformats.org/drawingml/2006/main">
            <a:srgbClr val="FFFFFF"/>
          </a:solidFill>
          <a:ln xmlns:a="http://schemas.openxmlformats.org/drawingml/2006/main" w="14288">
            <a:solidFill>
              <a:srgbClr val="D7E0E9"/>
            </a:solidFill>
          </a:ln>
        </p:spPr>
      </p:sp>
      <p:sp>
        <p:nvSpPr>
          <p:cNvPr id="56" name="github-rect-55">
            <a:extLst xmlns:a="http://schemas.openxmlformats.org/drawingml/2006/main">
              <a:ext uri="{FF2B5EF4-FFF2-40B4-BE49-F238E27FC236}">
                <a16:creationId xmlns:a16="http://schemas.microsoft.com/office/drawing/2014/main" id="{8371ED04-9BDF-4FFF-B599-F9114BD44B5A}"/>
              </a:ext>
            </a:extLst>
          </p:cNvPr>
          <p:cNvSpPr>
            <a:spLocks xmlns:a="http://schemas.openxmlformats.org/drawingml/2006/main" noGrp="1"/>
          </p:cNvSpPr>
          <p:nvPr/>
        </p:nvSpPr>
        <p:spPr>
          <a:xfrm xmlns:a="http://schemas.openxmlformats.org/drawingml/2006/main">
            <a:off x="609600" y="4210050"/>
            <a:ext cx="47625" cy="962025"/>
          </a:xfrm>
          <a:prstGeom xmlns:a="http://schemas.openxmlformats.org/drawingml/2006/main" prst="roundRect">
            <a:avLst>
              <a:gd name="adj" fmla="val 0"/>
            </a:avLst>
          </a:prstGeom>
          <a:solidFill xmlns:a="http://schemas.openxmlformats.org/drawingml/2006/main">
            <a:srgbClr val="23649F"/>
          </a:solidFill>
          <a:ln xmlns:a="http://schemas.openxmlformats.org/drawingml/2006/main" w="0">
            <a:noFill/>
          </a:ln>
        </p:spPr>
      </p:sp>
      <p:sp>
        <p:nvSpPr>
          <p:cNvPr id="57" name="github-text-56">
            <a:extLst xmlns:a="http://schemas.openxmlformats.org/drawingml/2006/main">
              <a:ext uri="{FF2B5EF4-FFF2-40B4-BE49-F238E27FC236}">
                <a16:creationId xmlns:a16="http://schemas.microsoft.com/office/drawing/2014/main" id="{BB6D7CA4-12ED-4B67-8F82-FF8714B459FA}"/>
              </a:ext>
            </a:extLst>
          </p:cNvPr>
          <p:cNvSpPr>
            <a:spLocks xmlns:a="http://schemas.openxmlformats.org/drawingml/2006/main" noGrp="1"/>
          </p:cNvSpPr>
          <p:nvPr/>
        </p:nvSpPr>
        <p:spPr>
          <a:xfrm xmlns:a="http://schemas.openxmlformats.org/drawingml/2006/main">
            <a:off x="790575" y="4333875"/>
            <a:ext cx="281940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42A3D"/>
                </a:solidFill>
                <a:latin typeface="DejaVu Sans"/>
                <a:ea typeface="DejaVu Sans"/>
                <a:cs typeface="DejaVu Sans"/>
              </a:defRPr>
            </a:pPr>
            <a:r>
              <a:rPr sz="1725" b="1">
                <a:solidFill>
                  <a:srgbClr val="142A3D"/>
                </a:solidFill>
                <a:latin typeface="DejaVu Sans"/>
                <a:ea typeface="DejaVu Sans"/>
                <a:cs typeface="DejaVu Sans"/>
              </a:rPr>
              <a:t>Actions + ARC metrics</a:t>
            </a:r>
          </a:p>
        </p:txBody>
      </p:sp>
      <p:sp>
        <p:nvSpPr>
          <p:cNvPr id="58" name="github-text-57">
            <a:extLst xmlns:a="http://schemas.openxmlformats.org/drawingml/2006/main">
              <a:ext uri="{FF2B5EF4-FFF2-40B4-BE49-F238E27FC236}">
                <a16:creationId xmlns:a16="http://schemas.microsoft.com/office/drawing/2014/main" id="{4E4D1C08-DBC7-435A-8161-B565354FCB17}"/>
              </a:ext>
            </a:extLst>
          </p:cNvPr>
          <p:cNvSpPr>
            <a:spLocks xmlns:a="http://schemas.openxmlformats.org/drawingml/2006/main" noGrp="1"/>
          </p:cNvSpPr>
          <p:nvPr/>
        </p:nvSpPr>
        <p:spPr>
          <a:xfrm xmlns:a="http://schemas.openxmlformats.org/drawingml/2006/main">
            <a:off x="790575" y="4648200"/>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Queue age and startup time</a:t>
            </a:r>
          </a:p>
        </p:txBody>
      </p:sp>
      <p:sp>
        <p:nvSpPr>
          <p:cNvPr id="59" name="github-text-58">
            <a:extLst xmlns:a="http://schemas.openxmlformats.org/drawingml/2006/main">
              <a:ext uri="{FF2B5EF4-FFF2-40B4-BE49-F238E27FC236}">
                <a16:creationId xmlns:a16="http://schemas.microsoft.com/office/drawing/2014/main" id="{F4B5012C-109A-417F-97D1-6F14D7DD267E}"/>
              </a:ext>
            </a:extLst>
          </p:cNvPr>
          <p:cNvSpPr>
            <a:spLocks xmlns:a="http://schemas.openxmlformats.org/drawingml/2006/main" noGrp="1"/>
          </p:cNvSpPr>
          <p:nvPr/>
        </p:nvSpPr>
        <p:spPr>
          <a:xfrm xmlns:a="http://schemas.openxmlformats.org/drawingml/2006/main">
            <a:off x="790575" y="4895850"/>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DEV / UAT / PRD capacity</a:t>
            </a:r>
          </a:p>
        </p:txBody>
      </p:sp>
      <p:sp>
        <p:nvSpPr>
          <p:cNvPr id="60" name="github-rect-59">
            <a:extLst xmlns:a="http://schemas.openxmlformats.org/drawingml/2006/main">
              <a:ext uri="{FF2B5EF4-FFF2-40B4-BE49-F238E27FC236}">
                <a16:creationId xmlns:a16="http://schemas.microsoft.com/office/drawing/2014/main" id="{AB0F93D2-3D47-4E47-A3A3-D1D2B81E6E55}"/>
              </a:ext>
            </a:extLst>
          </p:cNvPr>
          <p:cNvSpPr>
            <a:spLocks xmlns:a="http://schemas.openxmlformats.org/drawingml/2006/main" noGrp="1"/>
          </p:cNvSpPr>
          <p:nvPr/>
        </p:nvSpPr>
        <p:spPr>
          <a:xfrm xmlns:a="http://schemas.openxmlformats.org/drawingml/2006/main">
            <a:off x="609600" y="5229225"/>
            <a:ext cx="3143250" cy="962025"/>
          </a:xfrm>
          <a:prstGeom xmlns:a="http://schemas.openxmlformats.org/drawingml/2006/main" prst="roundRect">
            <a:avLst>
              <a:gd name="adj" fmla="val 9901"/>
            </a:avLst>
          </a:prstGeom>
          <a:solidFill xmlns:a="http://schemas.openxmlformats.org/drawingml/2006/main">
            <a:srgbClr val="FFFFFF"/>
          </a:solidFill>
          <a:ln xmlns:a="http://schemas.openxmlformats.org/drawingml/2006/main" w="14288">
            <a:solidFill>
              <a:srgbClr val="D7E0E9"/>
            </a:solidFill>
          </a:ln>
        </p:spPr>
      </p:sp>
      <p:sp>
        <p:nvSpPr>
          <p:cNvPr id="61" name="github-rect-60">
            <a:extLst xmlns:a="http://schemas.openxmlformats.org/drawingml/2006/main">
              <a:ext uri="{FF2B5EF4-FFF2-40B4-BE49-F238E27FC236}">
                <a16:creationId xmlns:a16="http://schemas.microsoft.com/office/drawing/2014/main" id="{06FA3D99-D91B-4D57-B0D9-0F72530ABD0B}"/>
              </a:ext>
            </a:extLst>
          </p:cNvPr>
          <p:cNvSpPr>
            <a:spLocks xmlns:a="http://schemas.openxmlformats.org/drawingml/2006/main" noGrp="1"/>
          </p:cNvSpPr>
          <p:nvPr/>
        </p:nvSpPr>
        <p:spPr>
          <a:xfrm xmlns:a="http://schemas.openxmlformats.org/drawingml/2006/main">
            <a:off x="609600" y="5229225"/>
            <a:ext cx="47625" cy="962025"/>
          </a:xfrm>
          <a:prstGeom xmlns:a="http://schemas.openxmlformats.org/drawingml/2006/main" prst="roundRect">
            <a:avLst>
              <a:gd name="adj" fmla="val 0"/>
            </a:avLst>
          </a:prstGeom>
          <a:solidFill xmlns:a="http://schemas.openxmlformats.org/drawingml/2006/main">
            <a:srgbClr val="23649F"/>
          </a:solidFill>
          <a:ln xmlns:a="http://schemas.openxmlformats.org/drawingml/2006/main" w="0">
            <a:noFill/>
          </a:ln>
        </p:spPr>
      </p:sp>
      <p:sp>
        <p:nvSpPr>
          <p:cNvPr id="62" name="github-text-61">
            <a:extLst xmlns:a="http://schemas.openxmlformats.org/drawingml/2006/main">
              <a:ext uri="{FF2B5EF4-FFF2-40B4-BE49-F238E27FC236}">
                <a16:creationId xmlns:a16="http://schemas.microsoft.com/office/drawing/2014/main" id="{58FDDEA0-4B48-4933-B5B9-9CC4FEC6E046}"/>
              </a:ext>
            </a:extLst>
          </p:cNvPr>
          <p:cNvSpPr>
            <a:spLocks xmlns:a="http://schemas.openxmlformats.org/drawingml/2006/main" noGrp="1"/>
          </p:cNvSpPr>
          <p:nvPr/>
        </p:nvSpPr>
        <p:spPr>
          <a:xfrm xmlns:a="http://schemas.openxmlformats.org/drawingml/2006/main">
            <a:off x="790575" y="5353050"/>
            <a:ext cx="281940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42A3D"/>
                </a:solidFill>
                <a:latin typeface="DejaVu Sans"/>
                <a:ea typeface="DejaVu Sans"/>
                <a:cs typeface="DejaVu Sans"/>
              </a:defRPr>
            </a:pPr>
            <a:r>
              <a:rPr sz="1725" b="1">
                <a:solidFill>
                  <a:srgbClr val="142A3D"/>
                </a:solidFill>
                <a:latin typeface="DejaVu Sans"/>
                <a:ea typeface="DejaVu Sans"/>
                <a:cs typeface="DejaVu Sans"/>
              </a:rPr>
              <a:t>Changes + network</a:t>
            </a:r>
          </a:p>
        </p:txBody>
      </p:sp>
      <p:sp>
        <p:nvSpPr>
          <p:cNvPr id="63" name="github-text-62">
            <a:extLst xmlns:a="http://schemas.openxmlformats.org/drawingml/2006/main">
              <a:ext uri="{FF2B5EF4-FFF2-40B4-BE49-F238E27FC236}">
                <a16:creationId xmlns:a16="http://schemas.microsoft.com/office/drawing/2014/main" id="{94C18804-02FA-4BF7-9C63-A82B69F84278}"/>
              </a:ext>
            </a:extLst>
          </p:cNvPr>
          <p:cNvSpPr>
            <a:spLocks xmlns:a="http://schemas.openxmlformats.org/drawingml/2006/main" noGrp="1"/>
          </p:cNvSpPr>
          <p:nvPr/>
        </p:nvSpPr>
        <p:spPr>
          <a:xfrm xmlns:a="http://schemas.openxmlformats.org/drawingml/2006/main">
            <a:off x="790575" y="5667375"/>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Rollouts and secret rotation</a:t>
            </a:r>
          </a:p>
        </p:txBody>
      </p:sp>
      <p:sp>
        <p:nvSpPr>
          <p:cNvPr id="64" name="github-text-63">
            <a:extLst xmlns:a="http://schemas.openxmlformats.org/drawingml/2006/main">
              <a:ext uri="{FF2B5EF4-FFF2-40B4-BE49-F238E27FC236}">
                <a16:creationId xmlns:a16="http://schemas.microsoft.com/office/drawing/2014/main" id="{FADB6C48-7607-48D3-8437-72A31E029E97}"/>
              </a:ext>
            </a:extLst>
          </p:cNvPr>
          <p:cNvSpPr>
            <a:spLocks xmlns:a="http://schemas.openxmlformats.org/drawingml/2006/main" noGrp="1"/>
          </p:cNvSpPr>
          <p:nvPr/>
        </p:nvSpPr>
        <p:spPr>
          <a:xfrm xmlns:a="http://schemas.openxmlformats.org/drawingml/2006/main">
            <a:off x="790575" y="5915025"/>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Network route and IdP health</a:t>
            </a:r>
          </a:p>
        </p:txBody>
      </p:sp>
      <p:sp>
        <p:nvSpPr>
          <p:cNvPr id="65" name="github-rect-64">
            <a:extLst xmlns:a="http://schemas.openxmlformats.org/drawingml/2006/main">
              <a:ext uri="{FF2B5EF4-FFF2-40B4-BE49-F238E27FC236}">
                <a16:creationId xmlns:a16="http://schemas.microsoft.com/office/drawing/2014/main" id="{D2FF5F6B-9495-4121-8FFC-A176F4B4FA32}"/>
              </a:ext>
            </a:extLst>
          </p:cNvPr>
          <p:cNvSpPr>
            <a:spLocks xmlns:a="http://schemas.openxmlformats.org/drawingml/2006/main" noGrp="1"/>
          </p:cNvSpPr>
          <p:nvPr/>
        </p:nvSpPr>
        <p:spPr>
          <a:xfrm xmlns:a="http://schemas.openxmlformats.org/drawingml/2006/main">
            <a:off x="4210050" y="2171700"/>
            <a:ext cx="2857500" cy="16764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14288">
            <a:solidFill>
              <a:srgbClr val="D7E0E9"/>
            </a:solidFill>
          </a:ln>
        </p:spPr>
      </p:sp>
      <p:sp>
        <p:nvSpPr>
          <p:cNvPr id="66" name="github-text-65">
            <a:extLst xmlns:a="http://schemas.openxmlformats.org/drawingml/2006/main">
              <a:ext uri="{FF2B5EF4-FFF2-40B4-BE49-F238E27FC236}">
                <a16:creationId xmlns:a16="http://schemas.microsoft.com/office/drawing/2014/main" id="{84E928A3-CD30-4C13-A96D-C2A461A76610}"/>
              </a:ext>
            </a:extLst>
          </p:cNvPr>
          <p:cNvSpPr>
            <a:spLocks xmlns:a="http://schemas.openxmlformats.org/drawingml/2006/main" noGrp="1"/>
          </p:cNvSpPr>
          <p:nvPr/>
        </p:nvSpPr>
        <p:spPr>
          <a:xfrm xmlns:a="http://schemas.openxmlformats.org/drawingml/2006/main">
            <a:off x="4429125" y="2362200"/>
            <a:ext cx="241935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42A3D"/>
                </a:solidFill>
                <a:latin typeface="DejaVu Sans"/>
                <a:ea typeface="DejaVu Sans"/>
                <a:cs typeface="DejaVu Sans"/>
              </a:defRPr>
            </a:pPr>
            <a:r>
              <a:rPr sz="1950" b="1">
                <a:solidFill>
                  <a:srgbClr val="142A3D"/>
                </a:solidFill>
                <a:latin typeface="DejaVu Sans"/>
                <a:ea typeface="DejaVu Sans"/>
                <a:cs typeface="DejaVu Sans"/>
              </a:rPr>
              <a:t>Metric collection</a:t>
            </a:r>
          </a:p>
        </p:txBody>
      </p:sp>
      <p:sp>
        <p:nvSpPr>
          <p:cNvPr id="67" name="github-text-66">
            <a:extLst xmlns:a="http://schemas.openxmlformats.org/drawingml/2006/main">
              <a:ext uri="{FF2B5EF4-FFF2-40B4-BE49-F238E27FC236}">
                <a16:creationId xmlns:a16="http://schemas.microsoft.com/office/drawing/2014/main" id="{BC7162DD-7883-4639-A7CC-615E209486EC}"/>
              </a:ext>
            </a:extLst>
          </p:cNvPr>
          <p:cNvSpPr>
            <a:spLocks xmlns:a="http://schemas.openxmlformats.org/drawingml/2006/main" noGrp="1"/>
          </p:cNvSpPr>
          <p:nvPr/>
        </p:nvSpPr>
        <p:spPr>
          <a:xfrm xmlns:a="http://schemas.openxmlformats.org/drawingml/2006/main">
            <a:off x="4429125" y="2790825"/>
            <a:ext cx="24193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46779"/>
                </a:solidFill>
                <a:latin typeface="DejaVu Sans"/>
                <a:ea typeface="DejaVu Sans"/>
                <a:cs typeface="DejaVu Sans"/>
              </a:defRPr>
            </a:pPr>
            <a:r>
              <a:rPr sz="1650" b="0">
                <a:solidFill>
                  <a:srgbClr val="546779"/>
                </a:solidFill>
                <a:latin typeface="DejaVu Sans"/>
                <a:ea typeface="DejaVu Sans"/>
                <a:cs typeface="DejaVu Sans"/>
              </a:rPr>
              <a:t>Prometheus + logs</a:t>
            </a:r>
          </a:p>
        </p:txBody>
      </p:sp>
      <p:sp>
        <p:nvSpPr>
          <p:cNvPr id="68" name="github-text-67">
            <a:extLst xmlns:a="http://schemas.openxmlformats.org/drawingml/2006/main">
              <a:ext uri="{FF2B5EF4-FFF2-40B4-BE49-F238E27FC236}">
                <a16:creationId xmlns:a16="http://schemas.microsoft.com/office/drawing/2014/main" id="{DBC6FA9F-E742-494F-AC78-7B4CA3CEABC3}"/>
              </a:ext>
            </a:extLst>
          </p:cNvPr>
          <p:cNvSpPr>
            <a:spLocks xmlns:a="http://schemas.openxmlformats.org/drawingml/2006/main" noGrp="1"/>
          </p:cNvSpPr>
          <p:nvPr/>
        </p:nvSpPr>
        <p:spPr>
          <a:xfrm xmlns:a="http://schemas.openxmlformats.org/drawingml/2006/main">
            <a:off x="4429125" y="3105150"/>
            <a:ext cx="24193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46779"/>
                </a:solidFill>
                <a:latin typeface="DejaVu Sans"/>
                <a:ea typeface="DejaVu Sans"/>
                <a:cs typeface="DejaVu Sans"/>
              </a:defRPr>
            </a:pPr>
            <a:r>
              <a:rPr sz="1650" b="0">
                <a:solidFill>
                  <a:srgbClr val="546779"/>
                </a:solidFill>
                <a:latin typeface="DejaVu Sans"/>
                <a:ea typeface="DejaVu Sans"/>
                <a:cs typeface="DejaVu Sans"/>
              </a:rPr>
              <a:t>Scrapers + probes</a:t>
            </a:r>
          </a:p>
        </p:txBody>
      </p:sp>
      <p:sp>
        <p:nvSpPr>
          <p:cNvPr id="69" name="github-text-68">
            <a:extLst xmlns:a="http://schemas.openxmlformats.org/drawingml/2006/main">
              <a:ext uri="{FF2B5EF4-FFF2-40B4-BE49-F238E27FC236}">
                <a16:creationId xmlns:a16="http://schemas.microsoft.com/office/drawing/2014/main" id="{30735007-FF1B-401F-B731-835D3C8314A1}"/>
              </a:ext>
            </a:extLst>
          </p:cNvPr>
          <p:cNvSpPr>
            <a:spLocks xmlns:a="http://schemas.openxmlformats.org/drawingml/2006/main" noGrp="1"/>
          </p:cNvSpPr>
          <p:nvPr/>
        </p:nvSpPr>
        <p:spPr>
          <a:xfrm xmlns:a="http://schemas.openxmlformats.org/drawingml/2006/main">
            <a:off x="4429125" y="3419475"/>
            <a:ext cx="24193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46779"/>
                </a:solidFill>
                <a:latin typeface="DejaVu Sans"/>
                <a:ea typeface="DejaVu Sans"/>
                <a:cs typeface="DejaVu Sans"/>
              </a:defRPr>
            </a:pPr>
            <a:r>
              <a:rPr sz="1650" b="0">
                <a:solidFill>
                  <a:srgbClr val="546779"/>
                </a:solidFill>
                <a:latin typeface="DejaVu Sans"/>
                <a:ea typeface="DejaVu Sans"/>
                <a:cs typeface="DejaVu Sans"/>
              </a:rPr>
              <a:t>Data freshness checks</a:t>
            </a:r>
          </a:p>
        </p:txBody>
      </p:sp>
      <p:sp>
        <p:nvSpPr>
          <p:cNvPr id="70" name="github-text-69">
            <a:extLst xmlns:a="http://schemas.openxmlformats.org/drawingml/2006/main">
              <a:ext uri="{FF2B5EF4-FFF2-40B4-BE49-F238E27FC236}">
                <a16:creationId xmlns:a16="http://schemas.microsoft.com/office/drawing/2014/main" id="{596BCDE6-2225-4E0E-9ABF-284EF083C856}"/>
              </a:ext>
            </a:extLst>
          </p:cNvPr>
          <p:cNvSpPr>
            <a:spLocks xmlns:a="http://schemas.openxmlformats.org/drawingml/2006/main" noGrp="1"/>
          </p:cNvSpPr>
          <p:nvPr/>
        </p:nvSpPr>
        <p:spPr>
          <a:xfrm xmlns:a="http://schemas.openxmlformats.org/drawingml/2006/main">
            <a:off x="5829300" y="3981450"/>
            <a:ext cx="1238250" cy="2137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46779"/>
                </a:solidFill>
                <a:latin typeface="DejaVu Sans"/>
                <a:ea typeface="DejaVu Sans"/>
                <a:cs typeface="DejaVu Sans"/>
              </a:defRPr>
            </a:pPr>
            <a:r>
              <a:rPr sz="1275" b="0">
                <a:solidFill>
                  <a:srgbClr val="546779"/>
                </a:solidFill>
                <a:latin typeface="DejaVu Sans"/>
                <a:ea typeface="DejaVu Sans"/>
                <a:cs typeface="DejaVu Sans"/>
              </a:rPr>
              <a:t>Every minute</a:t>
            </a:r>
          </a:p>
        </p:txBody>
      </p:sp>
      <p:sp>
        <p:nvSpPr>
          <p:cNvPr id="71" name="github-rect-70">
            <a:extLst xmlns:a="http://schemas.openxmlformats.org/drawingml/2006/main">
              <a:ext uri="{FF2B5EF4-FFF2-40B4-BE49-F238E27FC236}">
                <a16:creationId xmlns:a16="http://schemas.microsoft.com/office/drawing/2014/main" id="{97ED5132-A11A-4C39-BAC8-F1542C341D35}"/>
              </a:ext>
            </a:extLst>
          </p:cNvPr>
          <p:cNvSpPr>
            <a:spLocks xmlns:a="http://schemas.openxmlformats.org/drawingml/2006/main" noGrp="1"/>
          </p:cNvSpPr>
          <p:nvPr/>
        </p:nvSpPr>
        <p:spPr>
          <a:xfrm xmlns:a="http://schemas.openxmlformats.org/drawingml/2006/main">
            <a:off x="4210050" y="4362450"/>
            <a:ext cx="2857500" cy="165735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14288">
            <a:solidFill>
              <a:srgbClr val="D7E0E9"/>
            </a:solidFill>
          </a:ln>
        </p:spPr>
      </p:sp>
      <p:sp>
        <p:nvSpPr>
          <p:cNvPr id="72" name="github-text-71">
            <a:extLst xmlns:a="http://schemas.openxmlformats.org/drawingml/2006/main">
              <a:ext uri="{FF2B5EF4-FFF2-40B4-BE49-F238E27FC236}">
                <a16:creationId xmlns:a16="http://schemas.microsoft.com/office/drawing/2014/main" id="{928FF3B5-2039-4E06-9F89-048767990581}"/>
              </a:ext>
            </a:extLst>
          </p:cNvPr>
          <p:cNvSpPr>
            <a:spLocks xmlns:a="http://schemas.openxmlformats.org/drawingml/2006/main" noGrp="1"/>
          </p:cNvSpPr>
          <p:nvPr/>
        </p:nvSpPr>
        <p:spPr>
          <a:xfrm xmlns:a="http://schemas.openxmlformats.org/drawingml/2006/main">
            <a:off x="4429125" y="4552950"/>
            <a:ext cx="241935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42A3D"/>
                </a:solidFill>
                <a:latin typeface="DejaVu Sans"/>
                <a:ea typeface="DejaVu Sans"/>
                <a:cs typeface="DejaVu Sans"/>
              </a:defRPr>
            </a:pPr>
            <a:r>
              <a:rPr sz="1950" b="1">
                <a:solidFill>
                  <a:srgbClr val="142A3D"/>
                </a:solidFill>
                <a:latin typeface="DejaVu Sans"/>
                <a:ea typeface="DejaVu Sans"/>
                <a:cs typeface="DejaVu Sans"/>
              </a:rPr>
              <a:t>Rolling features</a:t>
            </a:r>
          </a:p>
        </p:txBody>
      </p:sp>
      <p:sp>
        <p:nvSpPr>
          <p:cNvPr id="73" name="github-text-72">
            <a:extLst xmlns:a="http://schemas.openxmlformats.org/drawingml/2006/main">
              <a:ext uri="{FF2B5EF4-FFF2-40B4-BE49-F238E27FC236}">
                <a16:creationId xmlns:a16="http://schemas.microsoft.com/office/drawing/2014/main" id="{68532B1F-6F64-4452-8506-2CC0BFD26AFF}"/>
              </a:ext>
            </a:extLst>
          </p:cNvPr>
          <p:cNvSpPr>
            <a:spLocks xmlns:a="http://schemas.openxmlformats.org/drawingml/2006/main" noGrp="1"/>
          </p:cNvSpPr>
          <p:nvPr/>
        </p:nvSpPr>
        <p:spPr>
          <a:xfrm xmlns:a="http://schemas.openxmlformats.org/drawingml/2006/main">
            <a:off x="4429125" y="4972050"/>
            <a:ext cx="24193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5 / 15 / 60-min windows</a:t>
            </a:r>
          </a:p>
        </p:txBody>
      </p:sp>
      <p:sp>
        <p:nvSpPr>
          <p:cNvPr id="74" name="github-text-73">
            <a:extLst xmlns:a="http://schemas.openxmlformats.org/drawingml/2006/main">
              <a:ext uri="{FF2B5EF4-FFF2-40B4-BE49-F238E27FC236}">
                <a16:creationId xmlns:a16="http://schemas.microsoft.com/office/drawing/2014/main" id="{FC47739B-F6BF-4404-A9D6-0E14F8BA2BA0}"/>
              </a:ext>
            </a:extLst>
          </p:cNvPr>
          <p:cNvSpPr>
            <a:spLocks xmlns:a="http://schemas.openxmlformats.org/drawingml/2006/main" noGrp="1"/>
          </p:cNvSpPr>
          <p:nvPr/>
        </p:nvSpPr>
        <p:spPr>
          <a:xfrm xmlns:a="http://schemas.openxmlformats.org/drawingml/2006/main">
            <a:off x="4429125" y="5286375"/>
            <a:ext cx="24193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p95, trend, seasonality</a:t>
            </a:r>
          </a:p>
        </p:txBody>
      </p:sp>
      <p:sp>
        <p:nvSpPr>
          <p:cNvPr id="75" name="github-text-74">
            <a:extLst xmlns:a="http://schemas.openxmlformats.org/drawingml/2006/main">
              <a:ext uri="{FF2B5EF4-FFF2-40B4-BE49-F238E27FC236}">
                <a16:creationId xmlns:a16="http://schemas.microsoft.com/office/drawing/2014/main" id="{96228FC8-921D-4045-9A81-B39B3D5820B9}"/>
              </a:ext>
            </a:extLst>
          </p:cNvPr>
          <p:cNvSpPr>
            <a:spLocks xmlns:a="http://schemas.openxmlformats.org/drawingml/2006/main" noGrp="1"/>
          </p:cNvSpPr>
          <p:nvPr/>
        </p:nvSpPr>
        <p:spPr>
          <a:xfrm xmlns:a="http://schemas.openxmlformats.org/drawingml/2006/main">
            <a:off x="4429125" y="5600700"/>
            <a:ext cx="24193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Per app / route / group</a:t>
            </a:r>
          </a:p>
        </p:txBody>
      </p:sp>
      <p:sp>
        <p:nvSpPr>
          <p:cNvPr id="76" name="github-rect-75">
            <a:extLst xmlns:a="http://schemas.openxmlformats.org/drawingml/2006/main">
              <a:ext uri="{FF2B5EF4-FFF2-40B4-BE49-F238E27FC236}">
                <a16:creationId xmlns:a16="http://schemas.microsoft.com/office/drawing/2014/main" id="{CA572522-21A0-474B-98B6-0E7AB8601B98}"/>
              </a:ext>
            </a:extLst>
          </p:cNvPr>
          <p:cNvSpPr>
            <a:spLocks xmlns:a="http://schemas.openxmlformats.org/drawingml/2006/main" noGrp="1"/>
          </p:cNvSpPr>
          <p:nvPr/>
        </p:nvSpPr>
        <p:spPr>
          <a:xfrm xmlns:a="http://schemas.openxmlformats.org/drawingml/2006/main">
            <a:off x="7524750" y="2171700"/>
            <a:ext cx="3676650" cy="3848100"/>
          </a:xfrm>
          <a:prstGeom xmlns:a="http://schemas.openxmlformats.org/drawingml/2006/main" prst="roundRect">
            <a:avLst>
              <a:gd name="adj" fmla="val 3109"/>
            </a:avLst>
          </a:prstGeom>
          <a:solidFill xmlns:a="http://schemas.openxmlformats.org/drawingml/2006/main">
            <a:srgbClr val="F2EFFB"/>
          </a:solidFill>
          <a:ln xmlns:a="http://schemas.openxmlformats.org/drawingml/2006/main" w="14288">
            <a:solidFill>
              <a:srgbClr val="D6CDED"/>
            </a:solidFill>
          </a:ln>
        </p:spPr>
      </p:sp>
      <p:sp>
        <p:nvSpPr>
          <p:cNvPr id="77" name="github-text-76">
            <a:extLst xmlns:a="http://schemas.openxmlformats.org/drawingml/2006/main">
              <a:ext uri="{FF2B5EF4-FFF2-40B4-BE49-F238E27FC236}">
                <a16:creationId xmlns:a16="http://schemas.microsoft.com/office/drawing/2014/main" id="{5C764A4C-51D3-4C60-859D-40D82CF1878E}"/>
              </a:ext>
            </a:extLst>
          </p:cNvPr>
          <p:cNvSpPr>
            <a:spLocks xmlns:a="http://schemas.openxmlformats.org/drawingml/2006/main" noGrp="1"/>
          </p:cNvSpPr>
          <p:nvPr/>
        </p:nvSpPr>
        <p:spPr>
          <a:xfrm xmlns:a="http://schemas.openxmlformats.org/drawingml/2006/main">
            <a:off x="7781925" y="2381250"/>
            <a:ext cx="3162300" cy="377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6850B5"/>
                </a:solidFill>
                <a:latin typeface="DejaVu Sans"/>
                <a:ea typeface="DejaVu Sans"/>
                <a:cs typeface="DejaVu Sans"/>
              </a:defRPr>
            </a:pPr>
            <a:r>
              <a:rPr sz="2250" b="1">
                <a:solidFill>
                  <a:srgbClr val="6850B5"/>
                </a:solidFill>
                <a:latin typeface="DejaVu Sans"/>
                <a:ea typeface="DejaVu Sans"/>
                <a:cs typeface="DejaVu Sans"/>
              </a:rPr>
              <a:t>ML forecasting</a:t>
            </a:r>
          </a:p>
        </p:txBody>
      </p:sp>
      <p:sp>
        <p:nvSpPr>
          <p:cNvPr id="78" name="github-text-77">
            <a:extLst xmlns:a="http://schemas.openxmlformats.org/drawingml/2006/main">
              <a:ext uri="{FF2B5EF4-FFF2-40B4-BE49-F238E27FC236}">
                <a16:creationId xmlns:a16="http://schemas.microsoft.com/office/drawing/2014/main" id="{179DC084-D840-4790-9D34-BA1E7BB006C5}"/>
              </a:ext>
            </a:extLst>
          </p:cNvPr>
          <p:cNvSpPr>
            <a:spLocks xmlns:a="http://schemas.openxmlformats.org/drawingml/2006/main" noGrp="1"/>
          </p:cNvSpPr>
          <p:nvPr/>
        </p:nvSpPr>
        <p:spPr>
          <a:xfrm xmlns:a="http://schemas.openxmlformats.org/drawingml/2006/main">
            <a:off x="7781925" y="2790825"/>
            <a:ext cx="316230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850B5"/>
                </a:solidFill>
                <a:latin typeface="DejaVu Sans"/>
                <a:ea typeface="DejaVu Sans"/>
                <a:cs typeface="DejaVu Sans"/>
              </a:defRPr>
            </a:pPr>
            <a:r>
              <a:rPr sz="1575" b="0">
                <a:solidFill>
                  <a:srgbClr val="6850B5"/>
                </a:solidFill>
                <a:latin typeface="DejaVu Sans"/>
                <a:ea typeface="DejaVu Sans"/>
                <a:cs typeface="DejaVu Sans"/>
              </a:rPr>
              <a:t>Live inference on GKE</a:t>
            </a:r>
          </a:p>
        </p:txBody>
      </p:sp>
      <p:sp>
        <p:nvSpPr>
          <p:cNvPr id="79" name="github-text-78">
            <a:extLst xmlns:a="http://schemas.openxmlformats.org/drawingml/2006/main">
              <a:ext uri="{FF2B5EF4-FFF2-40B4-BE49-F238E27FC236}">
                <a16:creationId xmlns:a16="http://schemas.microsoft.com/office/drawing/2014/main" id="{B10F4247-9AD8-4DE6-91D0-5ADE2F8F3462}"/>
              </a:ext>
            </a:extLst>
          </p:cNvPr>
          <p:cNvSpPr>
            <a:spLocks xmlns:a="http://schemas.openxmlformats.org/drawingml/2006/main" noGrp="1"/>
          </p:cNvSpPr>
          <p:nvPr/>
        </p:nvSpPr>
        <p:spPr>
          <a:xfrm xmlns:a="http://schemas.openxmlformats.org/drawingml/2006/main">
            <a:off x="7781925" y="3171825"/>
            <a:ext cx="316230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42A3D"/>
                </a:solidFill>
                <a:latin typeface="DejaVu Sans"/>
                <a:ea typeface="DejaVu Sans"/>
                <a:cs typeface="DejaVu Sans"/>
              </a:defRPr>
            </a:pPr>
            <a:r>
              <a:rPr sz="1650" b="0">
                <a:solidFill>
                  <a:srgbClr val="142A3D"/>
                </a:solidFill>
                <a:latin typeface="DejaVu Sans"/>
                <a:ea typeface="DejaVu Sans"/>
                <a:cs typeface="DejaVu Sans"/>
              </a:rPr>
              <a:t>Forecast latency and demand</a:t>
            </a:r>
          </a:p>
        </p:txBody>
      </p:sp>
      <p:sp>
        <p:nvSpPr>
          <p:cNvPr id="80" name="github-text-79">
            <a:extLst xmlns:a="http://schemas.openxmlformats.org/drawingml/2006/main">
              <a:ext uri="{FF2B5EF4-FFF2-40B4-BE49-F238E27FC236}">
                <a16:creationId xmlns:a16="http://schemas.microsoft.com/office/drawing/2014/main" id="{355B9D88-63C1-49FC-9BA8-F0C42C250A2F}"/>
              </a:ext>
            </a:extLst>
          </p:cNvPr>
          <p:cNvSpPr>
            <a:spLocks xmlns:a="http://schemas.openxmlformats.org/drawingml/2006/main" noGrp="1"/>
          </p:cNvSpPr>
          <p:nvPr/>
        </p:nvSpPr>
        <p:spPr>
          <a:xfrm xmlns:a="http://schemas.openxmlformats.org/drawingml/2006/main">
            <a:off x="7781925" y="3457575"/>
            <a:ext cx="316230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42A3D"/>
                </a:solidFill>
                <a:latin typeface="DejaVu Sans"/>
                <a:ea typeface="DejaVu Sans"/>
                <a:cs typeface="DejaVu Sans"/>
              </a:defRPr>
            </a:pPr>
            <a:r>
              <a:rPr sz="1650" b="0">
                <a:solidFill>
                  <a:srgbClr val="142A3D"/>
                </a:solidFill>
                <a:latin typeface="DejaVu Sans"/>
                <a:ea typeface="DejaVu Sans"/>
                <a:cs typeface="DejaVu Sans"/>
              </a:rPr>
              <a:t>15 / 30 / 60-min horizons</a:t>
            </a:r>
          </a:p>
        </p:txBody>
      </p:sp>
      <p:sp>
        <p:nvSpPr>
          <p:cNvPr id="81" name="github-text-80">
            <a:extLst xmlns:a="http://schemas.openxmlformats.org/drawingml/2006/main">
              <a:ext uri="{FF2B5EF4-FFF2-40B4-BE49-F238E27FC236}">
                <a16:creationId xmlns:a16="http://schemas.microsoft.com/office/drawing/2014/main" id="{409F670F-B444-4953-81CA-B0C2526437C6}"/>
              </a:ext>
            </a:extLst>
          </p:cNvPr>
          <p:cNvSpPr>
            <a:spLocks xmlns:a="http://schemas.openxmlformats.org/drawingml/2006/main" noGrp="1"/>
          </p:cNvSpPr>
          <p:nvPr/>
        </p:nvSpPr>
        <p:spPr>
          <a:xfrm xmlns:a="http://schemas.openxmlformats.org/drawingml/2006/main">
            <a:off x="7781925" y="3781425"/>
            <a:ext cx="3162300"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546779"/>
                </a:solidFill>
                <a:latin typeface="DejaVu Sans"/>
                <a:ea typeface="DejaVu Sans"/>
                <a:cs typeface="DejaVu Sans"/>
              </a:defRPr>
            </a:pPr>
            <a:r>
              <a:rPr sz="1350" b="1">
                <a:solidFill>
                  <a:srgbClr val="546779"/>
                </a:solidFill>
                <a:latin typeface="DejaVu Sans"/>
                <a:ea typeface="DejaVu Sans"/>
                <a:cs typeface="DejaVu Sans"/>
              </a:rPr>
              <a:t>Git latency p95 (s)</a:t>
            </a:r>
          </a:p>
        </p:txBody>
      </p:sp>
      <p:sp>
        <p:nvSpPr>
          <p:cNvPr id="82" name="github-path-81">
            <a:extLst xmlns:a="http://schemas.openxmlformats.org/drawingml/2006/main">
              <a:ext uri="{FF2B5EF4-FFF2-40B4-BE49-F238E27FC236}">
                <a16:creationId xmlns:a16="http://schemas.microsoft.com/office/drawing/2014/main" id="{F76A9464-2CD0-49F9-B39B-1C762575221F}"/>
              </a:ext>
            </a:extLst>
          </p:cNvPr>
          <p:cNvSpPr>
            <a:spLocks xmlns:a="http://schemas.openxmlformats.org/drawingml/2006/main" noGrp="1"/>
          </p:cNvSpPr>
          <p:nvPr/>
        </p:nvSpPr>
        <p:spPr>
          <a:xfrm xmlns:a="http://schemas.openxmlformats.org/drawingml/2006/main">
            <a:off x="9144000" y="4178808"/>
            <a:ext cx="1676400" cy="356616"/>
          </a:xfrm>
          <a:custGeom xmlns:a="http://schemas.openxmlformats.org/drawingml/2006/main">
            <a:pathLst>
              <a:path w="1676400" h="356616">
                <a:moveTo>
                  <a:pt x="0" y="338328"/>
                </a:moveTo>
                <a:lnTo>
                  <a:pt x="558800" y="225552"/>
                </a:lnTo>
                <a:lnTo>
                  <a:pt x="1117600" y="109728"/>
                </a:lnTo>
                <a:lnTo>
                  <a:pt x="1676400" y="0"/>
                </a:lnTo>
                <a:lnTo>
                  <a:pt x="1676400" y="158496"/>
                </a:lnTo>
                <a:lnTo>
                  <a:pt x="1117600" y="231648"/>
                </a:lnTo>
                <a:lnTo>
                  <a:pt x="558800" y="304800"/>
                </a:lnTo>
                <a:lnTo>
                  <a:pt x="0" y="356616"/>
                </a:lnTo>
                <a:close/>
              </a:path>
            </a:pathLst>
          </a:custGeom>
          <a:solidFill xmlns:a="http://schemas.openxmlformats.org/drawingml/2006/main">
            <a:srgbClr val="D9D0F3"/>
          </a:solidFill>
          <a:ln xmlns:a="http://schemas.openxmlformats.org/drawingml/2006/main" w="0">
            <a:noFill/>
            <a:prstDash val="solid"/>
          </a:ln>
        </p:spPr>
      </p:sp>
      <p:sp>
        <p:nvSpPr>
          <p:cNvPr id="83" name="github-path-82">
            <a:extLst xmlns:a="http://schemas.openxmlformats.org/drawingml/2006/main">
              <a:ext uri="{FF2B5EF4-FFF2-40B4-BE49-F238E27FC236}">
                <a16:creationId xmlns:a16="http://schemas.microsoft.com/office/drawing/2014/main" id="{0342BBD0-0080-4151-928A-4370058D6A07}"/>
              </a:ext>
            </a:extLst>
          </p:cNvPr>
          <p:cNvSpPr>
            <a:spLocks xmlns:a="http://schemas.openxmlformats.org/drawingml/2006/main" noGrp="1"/>
          </p:cNvSpPr>
          <p:nvPr/>
        </p:nvSpPr>
        <p:spPr>
          <a:xfrm xmlns:a="http://schemas.openxmlformats.org/drawingml/2006/main">
            <a:off x="8267700" y="4419600"/>
            <a:ext cx="2552700" cy="9525"/>
          </a:xfrm>
          <a:custGeom xmlns:a="http://schemas.openxmlformats.org/drawingml/2006/main">
            <a:pathLst>
              <a:path w="2552700" h="9525">
                <a:moveTo>
                  <a:pt x="0" y="0"/>
                </a:moveTo>
                <a:lnTo>
                  <a:pt x="2552700" y="0"/>
                </a:lnTo>
              </a:path>
            </a:pathLst>
          </a:custGeom>
          <a:noFill xmlns:a="http://schemas.openxmlformats.org/drawingml/2006/main"/>
          <a:ln xmlns:a="http://schemas.openxmlformats.org/drawingml/2006/main" w="19050">
            <a:solidFill>
              <a:srgbClr val="C75F32"/>
            </a:solidFill>
            <a:prstDash val="dash"/>
          </a:ln>
        </p:spPr>
      </p:sp>
      <p:sp>
        <p:nvSpPr>
          <p:cNvPr id="84" name="github-path-83">
            <a:extLst xmlns:a="http://schemas.openxmlformats.org/drawingml/2006/main">
              <a:ext uri="{FF2B5EF4-FFF2-40B4-BE49-F238E27FC236}">
                <a16:creationId xmlns:a16="http://schemas.microsoft.com/office/drawing/2014/main" id="{3E3DCF11-6A6A-4E8F-B01D-205621552E00}"/>
              </a:ext>
            </a:extLst>
          </p:cNvPr>
          <p:cNvSpPr>
            <a:spLocks xmlns:a="http://schemas.openxmlformats.org/drawingml/2006/main" noGrp="1"/>
          </p:cNvSpPr>
          <p:nvPr/>
        </p:nvSpPr>
        <p:spPr>
          <a:xfrm xmlns:a="http://schemas.openxmlformats.org/drawingml/2006/main">
            <a:off x="8267700" y="4114800"/>
            <a:ext cx="2552700" cy="914400"/>
          </a:xfrm>
          <a:custGeom xmlns:a="http://schemas.openxmlformats.org/drawingml/2006/main">
            <a:pathLst>
              <a:path w="2552700" h="914400">
                <a:moveTo>
                  <a:pt x="0" y="0"/>
                </a:moveTo>
                <a:lnTo>
                  <a:pt x="0" y="914400"/>
                </a:lnTo>
                <a:lnTo>
                  <a:pt x="2552700" y="914400"/>
                </a:lnTo>
              </a:path>
            </a:pathLst>
          </a:custGeom>
          <a:noFill xmlns:a="http://schemas.openxmlformats.org/drawingml/2006/main"/>
          <a:ln xmlns:a="http://schemas.openxmlformats.org/drawingml/2006/main" w="14288">
            <a:solidFill>
              <a:srgbClr val="ACB9C8"/>
            </a:solidFill>
            <a:prstDash val="solid"/>
          </a:ln>
        </p:spPr>
      </p:sp>
      <p:sp>
        <p:nvSpPr>
          <p:cNvPr id="85" name="github-path-84">
            <a:extLst xmlns:a="http://schemas.openxmlformats.org/drawingml/2006/main">
              <a:ext uri="{FF2B5EF4-FFF2-40B4-BE49-F238E27FC236}">
                <a16:creationId xmlns:a16="http://schemas.microsoft.com/office/drawing/2014/main" id="{AA8E6988-D15B-4B5D-A68F-29401146C4FB}"/>
              </a:ext>
            </a:extLst>
          </p:cNvPr>
          <p:cNvSpPr>
            <a:spLocks xmlns:a="http://schemas.openxmlformats.org/drawingml/2006/main" noGrp="1"/>
          </p:cNvSpPr>
          <p:nvPr/>
        </p:nvSpPr>
        <p:spPr>
          <a:xfrm xmlns:a="http://schemas.openxmlformats.org/drawingml/2006/main">
            <a:off x="9144000" y="4114800"/>
            <a:ext cx="9525" cy="914400"/>
          </a:xfrm>
          <a:custGeom xmlns:a="http://schemas.openxmlformats.org/drawingml/2006/main">
            <a:pathLst>
              <a:path w="9525" h="914400">
                <a:moveTo>
                  <a:pt x="0" y="0"/>
                </a:moveTo>
                <a:lnTo>
                  <a:pt x="0" y="914400"/>
                </a:lnTo>
              </a:path>
            </a:pathLst>
          </a:custGeom>
          <a:noFill xmlns:a="http://schemas.openxmlformats.org/drawingml/2006/main"/>
          <a:ln xmlns:a="http://schemas.openxmlformats.org/drawingml/2006/main" w="14288">
            <a:solidFill>
              <a:srgbClr val="A79ABE"/>
            </a:solidFill>
            <a:prstDash val="dash"/>
          </a:ln>
        </p:spPr>
      </p:sp>
      <p:sp>
        <p:nvSpPr>
          <p:cNvPr id="86" name="github-path-85">
            <a:extLst xmlns:a="http://schemas.openxmlformats.org/drawingml/2006/main">
              <a:ext uri="{FF2B5EF4-FFF2-40B4-BE49-F238E27FC236}">
                <a16:creationId xmlns:a16="http://schemas.microsoft.com/office/drawing/2014/main" id="{B3031278-470D-4186-885A-E05D5378B2C7}"/>
              </a:ext>
            </a:extLst>
          </p:cNvPr>
          <p:cNvSpPr>
            <a:spLocks xmlns:a="http://schemas.openxmlformats.org/drawingml/2006/main" noGrp="1"/>
          </p:cNvSpPr>
          <p:nvPr/>
        </p:nvSpPr>
        <p:spPr>
          <a:xfrm xmlns:a="http://schemas.openxmlformats.org/drawingml/2006/main">
            <a:off x="8267700" y="4526280"/>
            <a:ext cx="876300" cy="265176"/>
          </a:xfrm>
          <a:custGeom xmlns:a="http://schemas.openxmlformats.org/drawingml/2006/main">
            <a:pathLst>
              <a:path w="876300" h="265176">
                <a:moveTo>
                  <a:pt x="0" y="259080"/>
                </a:moveTo>
                <a:lnTo>
                  <a:pt x="125186" y="243840"/>
                </a:lnTo>
                <a:lnTo>
                  <a:pt x="250371" y="265176"/>
                </a:lnTo>
                <a:lnTo>
                  <a:pt x="375557" y="173736"/>
                </a:lnTo>
                <a:lnTo>
                  <a:pt x="500743" y="143256"/>
                </a:lnTo>
                <a:lnTo>
                  <a:pt x="625929" y="112776"/>
                </a:lnTo>
                <a:lnTo>
                  <a:pt x="751114" y="54864"/>
                </a:lnTo>
                <a:lnTo>
                  <a:pt x="876300" y="0"/>
                </a:lnTo>
              </a:path>
            </a:pathLst>
          </a:custGeom>
          <a:noFill xmlns:a="http://schemas.openxmlformats.org/drawingml/2006/main"/>
          <a:ln xmlns:a="http://schemas.openxmlformats.org/drawingml/2006/main" w="36195">
            <a:solidFill>
              <a:srgbClr val="23649F"/>
            </a:solidFill>
            <a:prstDash val="solid"/>
          </a:ln>
        </p:spPr>
      </p:sp>
      <p:sp>
        <p:nvSpPr>
          <p:cNvPr id="87" name="github-path-86">
            <a:extLst xmlns:a="http://schemas.openxmlformats.org/drawingml/2006/main">
              <a:ext uri="{FF2B5EF4-FFF2-40B4-BE49-F238E27FC236}">
                <a16:creationId xmlns:a16="http://schemas.microsoft.com/office/drawing/2014/main" id="{92EFEB98-49F7-48BD-A5F6-C98E28DD2B86}"/>
              </a:ext>
            </a:extLst>
          </p:cNvPr>
          <p:cNvSpPr>
            <a:spLocks xmlns:a="http://schemas.openxmlformats.org/drawingml/2006/main" noGrp="1"/>
          </p:cNvSpPr>
          <p:nvPr/>
        </p:nvSpPr>
        <p:spPr>
          <a:xfrm xmlns:a="http://schemas.openxmlformats.org/drawingml/2006/main">
            <a:off x="9144000" y="4258056"/>
            <a:ext cx="1676400" cy="268224"/>
          </a:xfrm>
          <a:custGeom xmlns:a="http://schemas.openxmlformats.org/drawingml/2006/main">
            <a:pathLst>
              <a:path w="1676400" h="268224">
                <a:moveTo>
                  <a:pt x="0" y="268224"/>
                </a:moveTo>
                <a:lnTo>
                  <a:pt x="558800" y="185928"/>
                </a:lnTo>
                <a:lnTo>
                  <a:pt x="1117600" y="91440"/>
                </a:lnTo>
                <a:lnTo>
                  <a:pt x="1676400" y="0"/>
                </a:lnTo>
              </a:path>
            </a:pathLst>
          </a:custGeom>
          <a:noFill xmlns:a="http://schemas.openxmlformats.org/drawingml/2006/main"/>
          <a:ln xmlns:a="http://schemas.openxmlformats.org/drawingml/2006/main" w="36195">
            <a:solidFill>
              <a:srgbClr val="6850B5"/>
            </a:solidFill>
            <a:prstDash val="dash"/>
          </a:ln>
        </p:spPr>
      </p:sp>
      <p:sp>
        <p:nvSpPr>
          <p:cNvPr id="88" name="github-circle-87">
            <a:extLst xmlns:a="http://schemas.openxmlformats.org/drawingml/2006/main">
              <a:ext uri="{FF2B5EF4-FFF2-40B4-BE49-F238E27FC236}">
                <a16:creationId xmlns:a16="http://schemas.microsoft.com/office/drawing/2014/main" id="{BC1AFE81-3CCF-4199-BC35-2DDE5517D80C}"/>
              </a:ext>
            </a:extLst>
          </p:cNvPr>
          <p:cNvSpPr>
            <a:spLocks xmlns:a="http://schemas.openxmlformats.org/drawingml/2006/main" noGrp="1"/>
          </p:cNvSpPr>
          <p:nvPr/>
        </p:nvSpPr>
        <p:spPr>
          <a:xfrm xmlns:a="http://schemas.openxmlformats.org/drawingml/2006/main">
            <a:off x="9105900" y="4488180"/>
            <a:ext cx="76200" cy="76200"/>
          </a:xfrm>
          <a:prstGeom xmlns:a="http://schemas.openxmlformats.org/drawingml/2006/main" prst="ellipse">
            <a:avLst/>
          </a:prstGeom>
          <a:solidFill xmlns:a="http://schemas.openxmlformats.org/drawingml/2006/main">
            <a:srgbClr val="6850B5"/>
          </a:solidFill>
          <a:ln xmlns:a="http://schemas.openxmlformats.org/drawingml/2006/main" w="9525">
            <a:noFill/>
          </a:ln>
        </p:spPr>
      </p:sp>
      <p:sp>
        <p:nvSpPr>
          <p:cNvPr id="89" name="github-text-88">
            <a:extLst xmlns:a="http://schemas.openxmlformats.org/drawingml/2006/main">
              <a:ext uri="{FF2B5EF4-FFF2-40B4-BE49-F238E27FC236}">
                <a16:creationId xmlns:a16="http://schemas.microsoft.com/office/drawing/2014/main" id="{4D48C350-7C6D-47FF-8F68-1B7FB3811EC2}"/>
              </a:ext>
            </a:extLst>
          </p:cNvPr>
          <p:cNvSpPr>
            <a:spLocks xmlns:a="http://schemas.openxmlformats.org/drawingml/2006/main" noGrp="1"/>
          </p:cNvSpPr>
          <p:nvPr/>
        </p:nvSpPr>
        <p:spPr>
          <a:xfrm xmlns:a="http://schemas.openxmlformats.org/drawingml/2006/main">
            <a:off x="7781925" y="4029075"/>
            <a:ext cx="428625"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46779"/>
                </a:solidFill>
                <a:latin typeface="DejaVu Sans"/>
                <a:ea typeface="DejaVu Sans"/>
                <a:cs typeface="DejaVu Sans"/>
              </a:defRPr>
            </a:pPr>
            <a:r>
              <a:rPr sz="1200" b="0">
                <a:solidFill>
                  <a:srgbClr val="546779"/>
                </a:solidFill>
                <a:latin typeface="DejaVu Sans"/>
                <a:ea typeface="DejaVu Sans"/>
                <a:cs typeface="DejaVu Sans"/>
              </a:rPr>
              <a:t>3</a:t>
            </a:r>
          </a:p>
        </p:txBody>
      </p:sp>
      <p:sp>
        <p:nvSpPr>
          <p:cNvPr id="90" name="github-text-89">
            <a:extLst xmlns:a="http://schemas.openxmlformats.org/drawingml/2006/main">
              <a:ext uri="{FF2B5EF4-FFF2-40B4-BE49-F238E27FC236}">
                <a16:creationId xmlns:a16="http://schemas.microsoft.com/office/drawing/2014/main" id="{2927DB4F-BA53-4CE7-999D-7B26FF9D9D7F}"/>
              </a:ext>
            </a:extLst>
          </p:cNvPr>
          <p:cNvSpPr>
            <a:spLocks xmlns:a="http://schemas.openxmlformats.org/drawingml/2006/main" noGrp="1"/>
          </p:cNvSpPr>
          <p:nvPr/>
        </p:nvSpPr>
        <p:spPr>
          <a:xfrm xmlns:a="http://schemas.openxmlformats.org/drawingml/2006/main">
            <a:off x="7781925" y="4905375"/>
            <a:ext cx="428625"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46779"/>
                </a:solidFill>
                <a:latin typeface="DejaVu Sans"/>
                <a:ea typeface="DejaVu Sans"/>
                <a:cs typeface="DejaVu Sans"/>
              </a:defRPr>
            </a:pPr>
            <a:r>
              <a:rPr sz="1200" b="0">
                <a:solidFill>
                  <a:srgbClr val="546779"/>
                </a:solidFill>
                <a:latin typeface="DejaVu Sans"/>
                <a:ea typeface="DejaVu Sans"/>
                <a:cs typeface="DejaVu Sans"/>
              </a:rPr>
              <a:t>0</a:t>
            </a:r>
          </a:p>
        </p:txBody>
      </p:sp>
      <p:sp>
        <p:nvSpPr>
          <p:cNvPr id="91" name="github-text-90">
            <a:extLst xmlns:a="http://schemas.openxmlformats.org/drawingml/2006/main">
              <a:ext uri="{FF2B5EF4-FFF2-40B4-BE49-F238E27FC236}">
                <a16:creationId xmlns:a16="http://schemas.microsoft.com/office/drawing/2014/main" id="{BF2AB7E3-A144-4F28-BEF8-3CB7920501DC}"/>
              </a:ext>
            </a:extLst>
          </p:cNvPr>
          <p:cNvSpPr>
            <a:spLocks xmlns:a="http://schemas.openxmlformats.org/drawingml/2006/main" noGrp="1"/>
          </p:cNvSpPr>
          <p:nvPr/>
        </p:nvSpPr>
        <p:spPr>
          <a:xfrm xmlns:a="http://schemas.openxmlformats.org/drawingml/2006/main">
            <a:off x="8362950" y="4181475"/>
            <a:ext cx="1905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C75F32"/>
                </a:solidFill>
                <a:latin typeface="DejaVu Sans"/>
                <a:ea typeface="DejaVu Sans"/>
                <a:cs typeface="DejaVu Sans"/>
              </a:defRPr>
            </a:pPr>
            <a:r>
              <a:rPr sz="1200" b="1">
                <a:solidFill>
                  <a:srgbClr val="C75F32"/>
                </a:solidFill>
                <a:latin typeface="DejaVu Sans"/>
                <a:ea typeface="DejaVu Sans"/>
                <a:cs typeface="DejaVu Sans"/>
              </a:rPr>
              <a:t>SLO 2 s</a:t>
            </a:r>
          </a:p>
        </p:txBody>
      </p:sp>
      <p:sp>
        <p:nvSpPr>
          <p:cNvPr id="92" name="github-text-91">
            <a:extLst xmlns:a="http://schemas.openxmlformats.org/drawingml/2006/main">
              <a:ext uri="{FF2B5EF4-FFF2-40B4-BE49-F238E27FC236}">
                <a16:creationId xmlns:a16="http://schemas.microsoft.com/office/drawing/2014/main" id="{D377AE3D-DE7C-4526-BF87-3F48F8803A2A}"/>
              </a:ext>
            </a:extLst>
          </p:cNvPr>
          <p:cNvSpPr>
            <a:spLocks xmlns:a="http://schemas.openxmlformats.org/drawingml/2006/main" noGrp="1"/>
          </p:cNvSpPr>
          <p:nvPr/>
        </p:nvSpPr>
        <p:spPr>
          <a:xfrm xmlns:a="http://schemas.openxmlformats.org/drawingml/2006/main">
            <a:off x="8267700" y="5133975"/>
            <a:ext cx="523875"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46779"/>
                </a:solidFill>
                <a:latin typeface="DejaVu Sans"/>
                <a:ea typeface="DejaVu Sans"/>
                <a:cs typeface="DejaVu Sans"/>
              </a:defRPr>
            </a:pPr>
            <a:r>
              <a:rPr sz="1200" b="0">
                <a:solidFill>
                  <a:srgbClr val="546779"/>
                </a:solidFill>
                <a:latin typeface="DejaVu Sans"/>
                <a:ea typeface="DejaVu Sans"/>
                <a:cs typeface="DejaVu Sans"/>
              </a:rPr>
              <a:t>Past</a:t>
            </a:r>
          </a:p>
        </p:txBody>
      </p:sp>
      <p:sp>
        <p:nvSpPr>
          <p:cNvPr id="93" name="github-text-92">
            <a:extLst xmlns:a="http://schemas.openxmlformats.org/drawingml/2006/main">
              <a:ext uri="{FF2B5EF4-FFF2-40B4-BE49-F238E27FC236}">
                <a16:creationId xmlns:a16="http://schemas.microsoft.com/office/drawing/2014/main" id="{370CD6D9-52C2-4A96-A89E-DD93A087D760}"/>
              </a:ext>
            </a:extLst>
          </p:cNvPr>
          <p:cNvSpPr>
            <a:spLocks xmlns:a="http://schemas.openxmlformats.org/drawingml/2006/main" noGrp="1"/>
          </p:cNvSpPr>
          <p:nvPr/>
        </p:nvSpPr>
        <p:spPr>
          <a:xfrm xmlns:a="http://schemas.openxmlformats.org/drawingml/2006/main">
            <a:off x="8934450" y="5133975"/>
            <a:ext cx="4953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546779"/>
                </a:solidFill>
                <a:latin typeface="DejaVu Sans"/>
                <a:ea typeface="DejaVu Sans"/>
                <a:cs typeface="DejaVu Sans"/>
              </a:defRPr>
            </a:pPr>
            <a:r>
              <a:rPr sz="1200" b="0">
                <a:solidFill>
                  <a:srgbClr val="546779"/>
                </a:solidFill>
                <a:latin typeface="DejaVu Sans"/>
                <a:ea typeface="DejaVu Sans"/>
                <a:cs typeface="DejaVu Sans"/>
              </a:rPr>
              <a:t>Now</a:t>
            </a:r>
          </a:p>
        </p:txBody>
      </p:sp>
      <p:sp>
        <p:nvSpPr>
          <p:cNvPr id="94" name="github-text-93">
            <a:extLst xmlns:a="http://schemas.openxmlformats.org/drawingml/2006/main">
              <a:ext uri="{FF2B5EF4-FFF2-40B4-BE49-F238E27FC236}">
                <a16:creationId xmlns:a16="http://schemas.microsoft.com/office/drawing/2014/main" id="{DD3901BF-406E-4785-B3A2-7A21AF83522C}"/>
              </a:ext>
            </a:extLst>
          </p:cNvPr>
          <p:cNvSpPr>
            <a:spLocks xmlns:a="http://schemas.openxmlformats.org/drawingml/2006/main" noGrp="1"/>
          </p:cNvSpPr>
          <p:nvPr/>
        </p:nvSpPr>
        <p:spPr>
          <a:xfrm xmlns:a="http://schemas.openxmlformats.org/drawingml/2006/main">
            <a:off x="10020300" y="5133975"/>
            <a:ext cx="8001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46779"/>
                </a:solidFill>
                <a:latin typeface="DejaVu Sans"/>
                <a:ea typeface="DejaVu Sans"/>
                <a:cs typeface="DejaVu Sans"/>
              </a:defRPr>
            </a:pPr>
            <a:r>
              <a:rPr sz="1200" b="0">
                <a:solidFill>
                  <a:srgbClr val="546779"/>
                </a:solidFill>
                <a:latin typeface="DejaVu Sans"/>
                <a:ea typeface="DejaVu Sans"/>
                <a:cs typeface="DejaVu Sans"/>
              </a:rPr>
              <a:t>+30 min</a:t>
            </a:r>
          </a:p>
        </p:txBody>
      </p:sp>
      <p:sp>
        <p:nvSpPr>
          <p:cNvPr id="95" name="github-path-94">
            <a:extLst xmlns:a="http://schemas.openxmlformats.org/drawingml/2006/main">
              <a:ext uri="{FF2B5EF4-FFF2-40B4-BE49-F238E27FC236}">
                <a16:creationId xmlns:a16="http://schemas.microsoft.com/office/drawing/2014/main" id="{0BB7BD46-5A54-4358-8E7A-AC5D2786080C}"/>
              </a:ext>
            </a:extLst>
          </p:cNvPr>
          <p:cNvSpPr>
            <a:spLocks xmlns:a="http://schemas.openxmlformats.org/drawingml/2006/main" noGrp="1"/>
          </p:cNvSpPr>
          <p:nvPr/>
        </p:nvSpPr>
        <p:spPr>
          <a:xfrm xmlns:a="http://schemas.openxmlformats.org/drawingml/2006/main">
            <a:off x="7781925" y="5524500"/>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28575">
            <a:solidFill>
              <a:srgbClr val="23649F"/>
            </a:solidFill>
            <a:prstDash val="solid"/>
          </a:ln>
        </p:spPr>
      </p:sp>
      <p:sp>
        <p:nvSpPr>
          <p:cNvPr id="96" name="github-text-95">
            <a:extLst xmlns:a="http://schemas.openxmlformats.org/drawingml/2006/main">
              <a:ext uri="{FF2B5EF4-FFF2-40B4-BE49-F238E27FC236}">
                <a16:creationId xmlns:a16="http://schemas.microsoft.com/office/drawing/2014/main" id="{04328681-E7FB-4041-A970-00316B8282E1}"/>
              </a:ext>
            </a:extLst>
          </p:cNvPr>
          <p:cNvSpPr>
            <a:spLocks xmlns:a="http://schemas.openxmlformats.org/drawingml/2006/main" noGrp="1"/>
          </p:cNvSpPr>
          <p:nvPr/>
        </p:nvSpPr>
        <p:spPr>
          <a:xfrm xmlns:a="http://schemas.openxmlformats.org/drawingml/2006/main">
            <a:off x="8077200" y="5410200"/>
            <a:ext cx="1095375"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46779"/>
                </a:solidFill>
                <a:latin typeface="DejaVu Sans"/>
                <a:ea typeface="DejaVu Sans"/>
                <a:cs typeface="DejaVu Sans"/>
              </a:defRPr>
            </a:pPr>
            <a:r>
              <a:rPr sz="1350" b="0">
                <a:solidFill>
                  <a:srgbClr val="546779"/>
                </a:solidFill>
                <a:latin typeface="DejaVu Sans"/>
                <a:ea typeface="DejaVu Sans"/>
                <a:cs typeface="DejaVu Sans"/>
              </a:rPr>
              <a:t>Observed</a:t>
            </a:r>
          </a:p>
        </p:txBody>
      </p:sp>
      <p:sp>
        <p:nvSpPr>
          <p:cNvPr id="97" name="github-path-96">
            <a:extLst xmlns:a="http://schemas.openxmlformats.org/drawingml/2006/main">
              <a:ext uri="{FF2B5EF4-FFF2-40B4-BE49-F238E27FC236}">
                <a16:creationId xmlns:a16="http://schemas.microsoft.com/office/drawing/2014/main" id="{29963008-72EA-4C22-8F7C-78C33001A4F9}"/>
              </a:ext>
            </a:extLst>
          </p:cNvPr>
          <p:cNvSpPr>
            <a:spLocks xmlns:a="http://schemas.openxmlformats.org/drawingml/2006/main" noGrp="1"/>
          </p:cNvSpPr>
          <p:nvPr/>
        </p:nvSpPr>
        <p:spPr>
          <a:xfrm xmlns:a="http://schemas.openxmlformats.org/drawingml/2006/main">
            <a:off x="9229725" y="5524500"/>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28575">
            <a:solidFill>
              <a:srgbClr val="6850B5"/>
            </a:solidFill>
            <a:prstDash val="dash"/>
          </a:ln>
        </p:spPr>
      </p:sp>
      <p:sp>
        <p:nvSpPr>
          <p:cNvPr id="98" name="github-text-97">
            <a:extLst xmlns:a="http://schemas.openxmlformats.org/drawingml/2006/main">
              <a:ext uri="{FF2B5EF4-FFF2-40B4-BE49-F238E27FC236}">
                <a16:creationId xmlns:a16="http://schemas.microsoft.com/office/drawing/2014/main" id="{08D85558-843F-4A67-AA9A-70C0E5F9AFEE}"/>
              </a:ext>
            </a:extLst>
          </p:cNvPr>
          <p:cNvSpPr>
            <a:spLocks xmlns:a="http://schemas.openxmlformats.org/drawingml/2006/main" noGrp="1"/>
          </p:cNvSpPr>
          <p:nvPr/>
        </p:nvSpPr>
        <p:spPr>
          <a:xfrm xmlns:a="http://schemas.openxmlformats.org/drawingml/2006/main">
            <a:off x="9515475" y="5410200"/>
            <a:ext cx="1514475"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46779"/>
                </a:solidFill>
                <a:latin typeface="DejaVu Sans"/>
                <a:ea typeface="DejaVu Sans"/>
                <a:cs typeface="DejaVu Sans"/>
              </a:defRPr>
            </a:pPr>
            <a:r>
              <a:rPr sz="1350" b="0">
                <a:solidFill>
                  <a:srgbClr val="546779"/>
                </a:solidFill>
                <a:latin typeface="DejaVu Sans"/>
                <a:ea typeface="DejaVu Sans"/>
                <a:cs typeface="DejaVu Sans"/>
              </a:rPr>
              <a:t>Forecast + band</a:t>
            </a:r>
          </a:p>
        </p:txBody>
      </p:sp>
      <p:sp>
        <p:nvSpPr>
          <p:cNvPr id="99" name="github-text-98">
            <a:extLst xmlns:a="http://schemas.openxmlformats.org/drawingml/2006/main">
              <a:ext uri="{FF2B5EF4-FFF2-40B4-BE49-F238E27FC236}">
                <a16:creationId xmlns:a16="http://schemas.microsoft.com/office/drawing/2014/main" id="{C09CB9C2-DF11-470B-9BFB-71E9F197EB23}"/>
              </a:ext>
            </a:extLst>
          </p:cNvPr>
          <p:cNvSpPr>
            <a:spLocks xmlns:a="http://schemas.openxmlformats.org/drawingml/2006/main" noGrp="1"/>
          </p:cNvSpPr>
          <p:nvPr/>
        </p:nvSpPr>
        <p:spPr>
          <a:xfrm xmlns:a="http://schemas.openxmlformats.org/drawingml/2006/main">
            <a:off x="7781925" y="5743575"/>
            <a:ext cx="3171825"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850B5"/>
                </a:solidFill>
                <a:latin typeface="DejaVu Sans"/>
                <a:ea typeface="DejaVu Sans"/>
                <a:cs typeface="DejaVu Sans"/>
              </a:defRPr>
            </a:pPr>
            <a:r>
              <a:rPr sz="1350" b="0">
                <a:solidFill>
                  <a:srgbClr val="6850B5"/>
                </a:solidFill>
                <a:latin typeface="DejaVu Sans"/>
                <a:ea typeface="DejaVu Sans"/>
                <a:cs typeface="DejaVu Sans"/>
              </a:rPr>
              <a:t>Quota / expiry rules add evidence</a:t>
            </a:r>
          </a:p>
        </p:txBody>
      </p:sp>
      <p:sp>
        <p:nvSpPr>
          <p:cNvPr id="100" name="github-rect-99">
            <a:extLst xmlns:a="http://schemas.openxmlformats.org/drawingml/2006/main">
              <a:ext uri="{FF2B5EF4-FFF2-40B4-BE49-F238E27FC236}">
                <a16:creationId xmlns:a16="http://schemas.microsoft.com/office/drawing/2014/main" id="{0A9AE330-3CB6-4EEB-BA0D-7E4E7ED414DB}"/>
              </a:ext>
            </a:extLst>
          </p:cNvPr>
          <p:cNvSpPr>
            <a:spLocks xmlns:a="http://schemas.openxmlformats.org/drawingml/2006/main" noGrp="1"/>
          </p:cNvSpPr>
          <p:nvPr/>
        </p:nvSpPr>
        <p:spPr>
          <a:xfrm xmlns:a="http://schemas.openxmlformats.org/drawingml/2006/main">
            <a:off x="11658600" y="2171700"/>
            <a:ext cx="2838450" cy="3848100"/>
          </a:xfrm>
          <a:prstGeom xmlns:a="http://schemas.openxmlformats.org/drawingml/2006/main" prst="roundRect">
            <a:avLst>
              <a:gd name="adj" fmla="val 4027"/>
            </a:avLst>
          </a:prstGeom>
          <a:solidFill xmlns:a="http://schemas.openxmlformats.org/drawingml/2006/main">
            <a:srgbClr val="FFFFFF"/>
          </a:solidFill>
          <a:ln xmlns:a="http://schemas.openxmlformats.org/drawingml/2006/main" w="14288">
            <a:solidFill>
              <a:srgbClr val="D7E0E9"/>
            </a:solidFill>
          </a:ln>
        </p:spPr>
      </p:sp>
      <p:sp>
        <p:nvSpPr>
          <p:cNvPr id="101" name="github-rect-100">
            <a:extLst xmlns:a="http://schemas.openxmlformats.org/drawingml/2006/main">
              <a:ext uri="{FF2B5EF4-FFF2-40B4-BE49-F238E27FC236}">
                <a16:creationId xmlns:a16="http://schemas.microsoft.com/office/drawing/2014/main" id="{6F92A213-D46D-4B57-8B52-F877D0C43894}"/>
              </a:ext>
            </a:extLst>
          </p:cNvPr>
          <p:cNvSpPr>
            <a:spLocks xmlns:a="http://schemas.openxmlformats.org/drawingml/2006/main" noGrp="1"/>
          </p:cNvSpPr>
          <p:nvPr/>
        </p:nvSpPr>
        <p:spPr>
          <a:xfrm xmlns:a="http://schemas.openxmlformats.org/drawingml/2006/main">
            <a:off x="11658600" y="2171700"/>
            <a:ext cx="2838450" cy="47625"/>
          </a:xfrm>
          <a:prstGeom xmlns:a="http://schemas.openxmlformats.org/drawingml/2006/main" prst="roundRect">
            <a:avLst>
              <a:gd name="adj" fmla="val 0"/>
            </a:avLst>
          </a:prstGeom>
          <a:solidFill xmlns:a="http://schemas.openxmlformats.org/drawingml/2006/main">
            <a:srgbClr val="C75F32"/>
          </a:solidFill>
          <a:ln xmlns:a="http://schemas.openxmlformats.org/drawingml/2006/main" w="0">
            <a:noFill/>
          </a:ln>
        </p:spPr>
      </p:sp>
      <p:sp>
        <p:nvSpPr>
          <p:cNvPr id="102" name="github-text-101">
            <a:extLst xmlns:a="http://schemas.openxmlformats.org/drawingml/2006/main">
              <a:ext uri="{FF2B5EF4-FFF2-40B4-BE49-F238E27FC236}">
                <a16:creationId xmlns:a16="http://schemas.microsoft.com/office/drawing/2014/main" id="{33476394-34A4-4511-9F1F-D66515AE2367}"/>
              </a:ext>
            </a:extLst>
          </p:cNvPr>
          <p:cNvSpPr>
            <a:spLocks xmlns:a="http://schemas.openxmlformats.org/drawingml/2006/main" noGrp="1"/>
          </p:cNvSpPr>
          <p:nvPr/>
        </p:nvSpPr>
        <p:spPr>
          <a:xfrm xmlns:a="http://schemas.openxmlformats.org/drawingml/2006/main">
            <a:off x="11887200" y="2371725"/>
            <a:ext cx="2381250" cy="339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42A3D"/>
                </a:solidFill>
                <a:latin typeface="DejaVu Sans"/>
                <a:ea typeface="DejaVu Sans"/>
                <a:cs typeface="DejaVu Sans"/>
              </a:defRPr>
            </a:pPr>
            <a:r>
              <a:rPr sz="2025" b="1">
                <a:solidFill>
                  <a:srgbClr val="142A3D"/>
                </a:solidFill>
                <a:latin typeface="DejaVu Sans"/>
                <a:ea typeface="DejaVu Sans"/>
                <a:cs typeface="DejaVu Sans"/>
              </a:rPr>
              <a:t>Risk evaluation</a:t>
            </a:r>
          </a:p>
        </p:txBody>
      </p:sp>
      <p:sp>
        <p:nvSpPr>
          <p:cNvPr id="103" name="github-text-102">
            <a:extLst xmlns:a="http://schemas.openxmlformats.org/drawingml/2006/main">
              <a:ext uri="{FF2B5EF4-FFF2-40B4-BE49-F238E27FC236}">
                <a16:creationId xmlns:a16="http://schemas.microsoft.com/office/drawing/2014/main" id="{D980CD12-CDA6-4226-811A-37E2A34213C4}"/>
              </a:ext>
            </a:extLst>
          </p:cNvPr>
          <p:cNvSpPr>
            <a:spLocks xmlns:a="http://schemas.openxmlformats.org/drawingml/2006/main" noGrp="1"/>
          </p:cNvSpPr>
          <p:nvPr/>
        </p:nvSpPr>
        <p:spPr>
          <a:xfrm xmlns:a="http://schemas.openxmlformats.org/drawingml/2006/main">
            <a:off x="11887200" y="2781300"/>
            <a:ext cx="2381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API quota interruption</a:t>
            </a:r>
          </a:p>
        </p:txBody>
      </p:sp>
      <p:sp>
        <p:nvSpPr>
          <p:cNvPr id="104" name="github-text-103">
            <a:extLst xmlns:a="http://schemas.openxmlformats.org/drawingml/2006/main">
              <a:ext uri="{FF2B5EF4-FFF2-40B4-BE49-F238E27FC236}">
                <a16:creationId xmlns:a16="http://schemas.microsoft.com/office/drawing/2014/main" id="{DE46B1B4-081F-438C-B3EE-EE5E4693237C}"/>
              </a:ext>
            </a:extLst>
          </p:cNvPr>
          <p:cNvSpPr>
            <a:spLocks xmlns:a="http://schemas.openxmlformats.org/drawingml/2006/main" noGrp="1"/>
          </p:cNvSpPr>
          <p:nvPr/>
        </p:nvSpPr>
        <p:spPr>
          <a:xfrm xmlns:a="http://schemas.openxmlformats.org/drawingml/2006/main">
            <a:off x="11887200" y="3076575"/>
            <a:ext cx="2381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Git access degradation</a:t>
            </a:r>
          </a:p>
        </p:txBody>
      </p:sp>
      <p:sp>
        <p:nvSpPr>
          <p:cNvPr id="105" name="github-text-104">
            <a:extLst xmlns:a="http://schemas.openxmlformats.org/drawingml/2006/main">
              <a:ext uri="{FF2B5EF4-FFF2-40B4-BE49-F238E27FC236}">
                <a16:creationId xmlns:a16="http://schemas.microsoft.com/office/drawing/2014/main" id="{A56025EE-1E30-41FE-9115-271E28A5FD99}"/>
              </a:ext>
            </a:extLst>
          </p:cNvPr>
          <p:cNvSpPr>
            <a:spLocks xmlns:a="http://schemas.openxmlformats.org/drawingml/2006/main" noGrp="1"/>
          </p:cNvSpPr>
          <p:nvPr/>
        </p:nvSpPr>
        <p:spPr>
          <a:xfrm xmlns:a="http://schemas.openxmlformats.org/drawingml/2006/main">
            <a:off x="11887200" y="3371850"/>
            <a:ext cx="2381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Actions backlog</a:t>
            </a:r>
          </a:p>
        </p:txBody>
      </p:sp>
      <p:sp>
        <p:nvSpPr>
          <p:cNvPr id="106" name="github-text-105">
            <a:extLst xmlns:a="http://schemas.openxmlformats.org/drawingml/2006/main">
              <a:ext uri="{FF2B5EF4-FFF2-40B4-BE49-F238E27FC236}">
                <a16:creationId xmlns:a16="http://schemas.microsoft.com/office/drawing/2014/main" id="{66E8BE5D-6182-44BE-A4FB-E17E30202489}"/>
              </a:ext>
            </a:extLst>
          </p:cNvPr>
          <p:cNvSpPr>
            <a:spLocks xmlns:a="http://schemas.openxmlformats.org/drawingml/2006/main" noGrp="1"/>
          </p:cNvSpPr>
          <p:nvPr/>
        </p:nvSpPr>
        <p:spPr>
          <a:xfrm xmlns:a="http://schemas.openxmlformats.org/drawingml/2006/main">
            <a:off x="11887200" y="3800475"/>
            <a:ext cx="23812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C75F32"/>
                </a:solidFill>
                <a:latin typeface="DejaVu Sans"/>
                <a:ea typeface="DejaVu Sans"/>
                <a:cs typeface="DejaVu Sans"/>
              </a:defRPr>
            </a:pPr>
            <a:r>
              <a:rPr sz="1725" b="1">
                <a:solidFill>
                  <a:srgbClr val="C75F32"/>
                </a:solidFill>
                <a:latin typeface="DejaVu Sans"/>
                <a:ea typeface="DejaVu Sans"/>
                <a:cs typeface="DejaVu Sans"/>
              </a:rPr>
              <a:t>Warning gate</a:t>
            </a:r>
          </a:p>
        </p:txBody>
      </p:sp>
      <p:sp>
        <p:nvSpPr>
          <p:cNvPr id="107" name="github-text-106">
            <a:extLst xmlns:a="http://schemas.openxmlformats.org/drawingml/2006/main">
              <a:ext uri="{FF2B5EF4-FFF2-40B4-BE49-F238E27FC236}">
                <a16:creationId xmlns:a16="http://schemas.microsoft.com/office/drawing/2014/main" id="{E06D4443-4B00-4FA1-9F2C-41561CC583CA}"/>
              </a:ext>
            </a:extLst>
          </p:cNvPr>
          <p:cNvSpPr>
            <a:spLocks xmlns:a="http://schemas.openxmlformats.org/drawingml/2006/main" noGrp="1"/>
          </p:cNvSpPr>
          <p:nvPr/>
        </p:nvSpPr>
        <p:spPr>
          <a:xfrm xmlns:a="http://schemas.openxmlformats.org/drawingml/2006/main">
            <a:off x="11887200" y="4152900"/>
            <a:ext cx="2381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Fresh + persistent signal</a:t>
            </a:r>
          </a:p>
        </p:txBody>
      </p:sp>
      <p:sp>
        <p:nvSpPr>
          <p:cNvPr id="108" name="github-text-107">
            <a:extLst xmlns:a="http://schemas.openxmlformats.org/drawingml/2006/main">
              <a:ext uri="{FF2B5EF4-FFF2-40B4-BE49-F238E27FC236}">
                <a16:creationId xmlns:a16="http://schemas.microsoft.com/office/drawing/2014/main" id="{C477FA55-57E0-4157-B45F-66123BF1CD67}"/>
              </a:ext>
            </a:extLst>
          </p:cNvPr>
          <p:cNvSpPr>
            <a:spLocks xmlns:a="http://schemas.openxmlformats.org/drawingml/2006/main" noGrp="1"/>
          </p:cNvSpPr>
          <p:nvPr/>
        </p:nvSpPr>
        <p:spPr>
          <a:xfrm xmlns:a="http://schemas.openxmlformats.org/drawingml/2006/main">
            <a:off x="11887200" y="4419600"/>
            <a:ext cx="2381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Corroborating evidence</a:t>
            </a:r>
          </a:p>
        </p:txBody>
      </p:sp>
      <p:sp>
        <p:nvSpPr>
          <p:cNvPr id="109" name="github-text-108">
            <a:extLst xmlns:a="http://schemas.openxmlformats.org/drawingml/2006/main">
              <a:ext uri="{FF2B5EF4-FFF2-40B4-BE49-F238E27FC236}">
                <a16:creationId xmlns:a16="http://schemas.microsoft.com/office/drawing/2014/main" id="{75BC3BE9-3D63-40F2-9939-D17CC1EA3111}"/>
              </a:ext>
            </a:extLst>
          </p:cNvPr>
          <p:cNvSpPr>
            <a:spLocks xmlns:a="http://schemas.openxmlformats.org/drawingml/2006/main" noGrp="1"/>
          </p:cNvSpPr>
          <p:nvPr/>
        </p:nvSpPr>
        <p:spPr>
          <a:xfrm xmlns:a="http://schemas.openxmlformats.org/drawingml/2006/main">
            <a:off x="11887200" y="4686300"/>
            <a:ext cx="2381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Time to potential impact</a:t>
            </a:r>
          </a:p>
        </p:txBody>
      </p:sp>
      <p:sp>
        <p:nvSpPr>
          <p:cNvPr id="110" name="github-rect-109">
            <a:extLst xmlns:a="http://schemas.openxmlformats.org/drawingml/2006/main">
              <a:ext uri="{FF2B5EF4-FFF2-40B4-BE49-F238E27FC236}">
                <a16:creationId xmlns:a16="http://schemas.microsoft.com/office/drawing/2014/main" id="{7E41B6A2-9813-4273-9978-C86FCF1E8CB0}"/>
              </a:ext>
            </a:extLst>
          </p:cNvPr>
          <p:cNvSpPr>
            <a:spLocks xmlns:a="http://schemas.openxmlformats.org/drawingml/2006/main" noGrp="1"/>
          </p:cNvSpPr>
          <p:nvPr/>
        </p:nvSpPr>
        <p:spPr>
          <a:xfrm xmlns:a="http://schemas.openxmlformats.org/drawingml/2006/main">
            <a:off x="11858625" y="5076825"/>
            <a:ext cx="2438400" cy="762000"/>
          </a:xfrm>
          <a:prstGeom xmlns:a="http://schemas.openxmlformats.org/drawingml/2006/main" prst="roundRect">
            <a:avLst>
              <a:gd name="adj" fmla="val 8750"/>
            </a:avLst>
          </a:prstGeom>
          <a:solidFill xmlns:a="http://schemas.openxmlformats.org/drawingml/2006/main">
            <a:srgbClr val="FFF1E7"/>
          </a:solidFill>
          <a:ln xmlns:a="http://schemas.openxmlformats.org/drawingml/2006/main" w="0">
            <a:noFill/>
          </a:ln>
        </p:spPr>
      </p:sp>
      <p:sp>
        <p:nvSpPr>
          <p:cNvPr id="111" name="github-text-110">
            <a:extLst xmlns:a="http://schemas.openxmlformats.org/drawingml/2006/main">
              <a:ext uri="{FF2B5EF4-FFF2-40B4-BE49-F238E27FC236}">
                <a16:creationId xmlns:a16="http://schemas.microsoft.com/office/drawing/2014/main" id="{D22B50B0-492B-4D52-8F24-277C60DC9D2D}"/>
              </a:ext>
            </a:extLst>
          </p:cNvPr>
          <p:cNvSpPr>
            <a:spLocks xmlns:a="http://schemas.openxmlformats.org/drawingml/2006/main" noGrp="1"/>
          </p:cNvSpPr>
          <p:nvPr/>
        </p:nvSpPr>
        <p:spPr>
          <a:xfrm xmlns:a="http://schemas.openxmlformats.org/drawingml/2006/main">
            <a:off x="12001500" y="5162550"/>
            <a:ext cx="2152650" cy="1885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C75F32"/>
                </a:solidFill>
                <a:latin typeface="DejaVu Sans"/>
                <a:ea typeface="DejaVu Sans"/>
                <a:cs typeface="DejaVu Sans"/>
              </a:defRPr>
            </a:pPr>
            <a:r>
              <a:rPr sz="1125" b="1">
                <a:solidFill>
                  <a:srgbClr val="C75F32"/>
                </a:solidFill>
                <a:latin typeface="DejaVu Sans"/>
                <a:ea typeface="DejaVu Sans"/>
                <a:cs typeface="DejaVu Sans"/>
              </a:rPr>
              <a:t>ILLUSTRATIVE WARNING</a:t>
            </a:r>
          </a:p>
        </p:txBody>
      </p:sp>
      <p:sp>
        <p:nvSpPr>
          <p:cNvPr id="112" name="github-text-111">
            <a:extLst xmlns:a="http://schemas.openxmlformats.org/drawingml/2006/main">
              <a:ext uri="{FF2B5EF4-FFF2-40B4-BE49-F238E27FC236}">
                <a16:creationId xmlns:a16="http://schemas.microsoft.com/office/drawing/2014/main" id="{74FB2547-6EA0-43E5-BDCE-CC60EBD7ED6E}"/>
              </a:ext>
            </a:extLst>
          </p:cNvPr>
          <p:cNvSpPr>
            <a:spLocks xmlns:a="http://schemas.openxmlformats.org/drawingml/2006/main" noGrp="1"/>
          </p:cNvSpPr>
          <p:nvPr/>
        </p:nvSpPr>
        <p:spPr>
          <a:xfrm xmlns:a="http://schemas.openxmlformats.org/drawingml/2006/main">
            <a:off x="12001500" y="5381625"/>
            <a:ext cx="21526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42A3D"/>
                </a:solidFill>
                <a:latin typeface="DejaVu Sans"/>
                <a:ea typeface="DejaVu Sans"/>
                <a:cs typeface="DejaVu Sans"/>
              </a:defRPr>
            </a:pPr>
            <a:r>
              <a:rPr sz="1500" b="1">
                <a:solidFill>
                  <a:srgbClr val="142A3D"/>
                </a:solidFill>
                <a:latin typeface="DejaVu Sans"/>
                <a:ea typeface="DejaVu Sans"/>
                <a:cs typeface="DejaVu Sans"/>
              </a:rPr>
              <a:t>Git SLO at risk</a:t>
            </a:r>
          </a:p>
        </p:txBody>
      </p:sp>
      <p:sp>
        <p:nvSpPr>
          <p:cNvPr id="113" name="github-text-112">
            <a:extLst xmlns:a="http://schemas.openxmlformats.org/drawingml/2006/main">
              <a:ext uri="{FF2B5EF4-FFF2-40B4-BE49-F238E27FC236}">
                <a16:creationId xmlns:a16="http://schemas.microsoft.com/office/drawing/2014/main" id="{1A470CD6-8F5A-4C98-82EE-883264A990F6}"/>
              </a:ext>
            </a:extLst>
          </p:cNvPr>
          <p:cNvSpPr>
            <a:spLocks xmlns:a="http://schemas.openxmlformats.org/drawingml/2006/main" noGrp="1"/>
          </p:cNvSpPr>
          <p:nvPr/>
        </p:nvSpPr>
        <p:spPr>
          <a:xfrm xmlns:a="http://schemas.openxmlformats.org/drawingml/2006/main">
            <a:off x="12001500" y="5619750"/>
            <a:ext cx="21526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42A3D"/>
                </a:solidFill>
                <a:latin typeface="DejaVu Sans"/>
                <a:ea typeface="DejaVu Sans"/>
                <a:cs typeface="DejaVu Sans"/>
              </a:defRPr>
            </a:pPr>
            <a:r>
              <a:rPr sz="1500" b="1">
                <a:solidFill>
                  <a:srgbClr val="142A3D"/>
                </a:solidFill>
                <a:latin typeface="DejaVu Sans"/>
                <a:ea typeface="DejaVu Sans"/>
                <a:cs typeface="DejaVu Sans"/>
              </a:rPr>
              <a:t>within 30 minutes</a:t>
            </a:r>
          </a:p>
        </p:txBody>
      </p:sp>
      <p:sp>
        <p:nvSpPr>
          <p:cNvPr id="114" name="github-rect-113">
            <a:extLst xmlns:a="http://schemas.openxmlformats.org/drawingml/2006/main">
              <a:ext uri="{FF2B5EF4-FFF2-40B4-BE49-F238E27FC236}">
                <a16:creationId xmlns:a16="http://schemas.microsoft.com/office/drawing/2014/main" id="{7F19E409-597F-4AD7-8ECF-3F27B3FC763F}"/>
              </a:ext>
            </a:extLst>
          </p:cNvPr>
          <p:cNvSpPr>
            <a:spLocks xmlns:a="http://schemas.openxmlformats.org/drawingml/2006/main" noGrp="1"/>
          </p:cNvSpPr>
          <p:nvPr/>
        </p:nvSpPr>
        <p:spPr>
          <a:xfrm xmlns:a="http://schemas.openxmlformats.org/drawingml/2006/main">
            <a:off x="14954250" y="2171700"/>
            <a:ext cx="2724150" cy="3848100"/>
          </a:xfrm>
          <a:prstGeom xmlns:a="http://schemas.openxmlformats.org/drawingml/2006/main" prst="roundRect">
            <a:avLst>
              <a:gd name="adj" fmla="val 4196"/>
            </a:avLst>
          </a:prstGeom>
          <a:solidFill xmlns:a="http://schemas.openxmlformats.org/drawingml/2006/main">
            <a:srgbClr val="142E43"/>
          </a:solidFill>
          <a:ln xmlns:a="http://schemas.openxmlformats.org/drawingml/2006/main" w="14288">
            <a:solidFill>
              <a:srgbClr val="142E43"/>
            </a:solidFill>
          </a:ln>
        </p:spPr>
      </p:sp>
      <p:sp>
        <p:nvSpPr>
          <p:cNvPr id="115" name="github-text-114">
            <a:extLst xmlns:a="http://schemas.openxmlformats.org/drawingml/2006/main">
              <a:ext uri="{FF2B5EF4-FFF2-40B4-BE49-F238E27FC236}">
                <a16:creationId xmlns:a16="http://schemas.microsoft.com/office/drawing/2014/main" id="{C9F3D6CD-BC10-4BE3-8E1E-34041F32334B}"/>
              </a:ext>
            </a:extLst>
          </p:cNvPr>
          <p:cNvSpPr>
            <a:spLocks xmlns:a="http://schemas.openxmlformats.org/drawingml/2006/main" noGrp="1"/>
          </p:cNvSpPr>
          <p:nvPr/>
        </p:nvSpPr>
        <p:spPr>
          <a:xfrm xmlns:a="http://schemas.openxmlformats.org/drawingml/2006/main">
            <a:off x="15201900" y="2390775"/>
            <a:ext cx="2228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Grafana + alerts</a:t>
            </a:r>
          </a:p>
        </p:txBody>
      </p:sp>
      <p:sp>
        <p:nvSpPr>
          <p:cNvPr id="116" name="github-text-115">
            <a:extLst xmlns:a="http://schemas.openxmlformats.org/drawingml/2006/main">
              <a:ext uri="{FF2B5EF4-FFF2-40B4-BE49-F238E27FC236}">
                <a16:creationId xmlns:a16="http://schemas.microsoft.com/office/drawing/2014/main" id="{FD9D3390-E98A-4F66-B35D-1A6731CE91F8}"/>
              </a:ext>
            </a:extLst>
          </p:cNvPr>
          <p:cNvSpPr>
            <a:spLocks xmlns:a="http://schemas.openxmlformats.org/drawingml/2006/main" noGrp="1"/>
          </p:cNvSpPr>
          <p:nvPr/>
        </p:nvSpPr>
        <p:spPr>
          <a:xfrm xmlns:a="http://schemas.openxmlformats.org/drawingml/2006/main">
            <a:off x="15201900" y="2847975"/>
            <a:ext cx="22288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DFE9F2"/>
                </a:solidFill>
                <a:latin typeface="DejaVu Sans"/>
                <a:ea typeface="DejaVu Sans"/>
                <a:cs typeface="DejaVu Sans"/>
              </a:defRPr>
            </a:pPr>
            <a:r>
              <a:rPr sz="1650" b="0">
                <a:solidFill>
                  <a:srgbClr val="DFE9F2"/>
                </a:solidFill>
                <a:latin typeface="DejaVu Sans"/>
                <a:ea typeface="DejaVu Sans"/>
                <a:cs typeface="DejaVu Sans"/>
              </a:rPr>
              <a:t>Forecast window</a:t>
            </a:r>
          </a:p>
        </p:txBody>
      </p:sp>
      <p:sp>
        <p:nvSpPr>
          <p:cNvPr id="117" name="github-text-116">
            <a:extLst xmlns:a="http://schemas.openxmlformats.org/drawingml/2006/main">
              <a:ext uri="{FF2B5EF4-FFF2-40B4-BE49-F238E27FC236}">
                <a16:creationId xmlns:a16="http://schemas.microsoft.com/office/drawing/2014/main" id="{CB319818-159C-4419-8E91-E122AFC38067}"/>
              </a:ext>
            </a:extLst>
          </p:cNvPr>
          <p:cNvSpPr>
            <a:spLocks xmlns:a="http://schemas.openxmlformats.org/drawingml/2006/main" noGrp="1"/>
          </p:cNvSpPr>
          <p:nvPr/>
        </p:nvSpPr>
        <p:spPr>
          <a:xfrm xmlns:a="http://schemas.openxmlformats.org/drawingml/2006/main">
            <a:off x="15201900" y="3171825"/>
            <a:ext cx="22288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DFE9F2"/>
                </a:solidFill>
                <a:latin typeface="DejaVu Sans"/>
                <a:ea typeface="DejaVu Sans"/>
                <a:cs typeface="DejaVu Sans"/>
              </a:defRPr>
            </a:pPr>
            <a:r>
              <a:rPr sz="1650" b="0">
                <a:solidFill>
                  <a:srgbClr val="DFE9F2"/>
                </a:solidFill>
                <a:latin typeface="DejaVu Sans"/>
                <a:ea typeface="DejaVu Sans"/>
                <a:cs typeface="DejaVu Sans"/>
              </a:rPr>
              <a:t>Affected operation</a:t>
            </a:r>
          </a:p>
        </p:txBody>
      </p:sp>
      <p:sp>
        <p:nvSpPr>
          <p:cNvPr id="118" name="github-text-117">
            <a:extLst xmlns:a="http://schemas.openxmlformats.org/drawingml/2006/main">
              <a:ext uri="{FF2B5EF4-FFF2-40B4-BE49-F238E27FC236}">
                <a16:creationId xmlns:a16="http://schemas.microsoft.com/office/drawing/2014/main" id="{8B0152F2-6F89-467E-9B26-797B8ACC399F}"/>
              </a:ext>
            </a:extLst>
          </p:cNvPr>
          <p:cNvSpPr>
            <a:spLocks xmlns:a="http://schemas.openxmlformats.org/drawingml/2006/main" noGrp="1"/>
          </p:cNvSpPr>
          <p:nvPr/>
        </p:nvSpPr>
        <p:spPr>
          <a:xfrm xmlns:a="http://schemas.openxmlformats.org/drawingml/2006/main">
            <a:off x="15201900" y="3495675"/>
            <a:ext cx="22288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DFE9F2"/>
                </a:solidFill>
                <a:latin typeface="DejaVu Sans"/>
                <a:ea typeface="DejaVu Sans"/>
                <a:cs typeface="DejaVu Sans"/>
              </a:defRPr>
            </a:pPr>
            <a:r>
              <a:rPr sz="1650" b="0">
                <a:solidFill>
                  <a:srgbClr val="DFE9F2"/>
                </a:solidFill>
                <a:latin typeface="DejaVu Sans"/>
                <a:ea typeface="DejaVu Sans"/>
                <a:cs typeface="DejaVu Sans"/>
              </a:rPr>
              <a:t>Evidence and owner</a:t>
            </a:r>
          </a:p>
        </p:txBody>
      </p:sp>
      <p:sp>
        <p:nvSpPr>
          <p:cNvPr id="119" name="github-path-118">
            <a:extLst xmlns:a="http://schemas.openxmlformats.org/drawingml/2006/main">
              <a:ext uri="{FF2B5EF4-FFF2-40B4-BE49-F238E27FC236}">
                <a16:creationId xmlns:a16="http://schemas.microsoft.com/office/drawing/2014/main" id="{E4B2BBD4-3686-4626-8C53-EC066A34EE1F}"/>
              </a:ext>
            </a:extLst>
          </p:cNvPr>
          <p:cNvSpPr>
            <a:spLocks xmlns:a="http://schemas.openxmlformats.org/drawingml/2006/main" noGrp="1"/>
          </p:cNvSpPr>
          <p:nvPr/>
        </p:nvSpPr>
        <p:spPr>
          <a:xfrm xmlns:a="http://schemas.openxmlformats.org/drawingml/2006/main">
            <a:off x="15201900" y="3924300"/>
            <a:ext cx="2228850" cy="9525"/>
          </a:xfrm>
          <a:custGeom xmlns:a="http://schemas.openxmlformats.org/drawingml/2006/main">
            <a:pathLst>
              <a:path w="2228850" h="9525">
                <a:moveTo>
                  <a:pt x="0" y="0"/>
                </a:moveTo>
                <a:lnTo>
                  <a:pt x="2228850" y="0"/>
                </a:lnTo>
              </a:path>
            </a:pathLst>
          </a:custGeom>
          <a:noFill xmlns:a="http://schemas.openxmlformats.org/drawingml/2006/main"/>
          <a:ln xmlns:a="http://schemas.openxmlformats.org/drawingml/2006/main" w="12383">
            <a:solidFill>
              <a:srgbClr val="3E5366"/>
            </a:solidFill>
            <a:prstDash val="solid"/>
          </a:ln>
        </p:spPr>
      </p:sp>
      <p:sp>
        <p:nvSpPr>
          <p:cNvPr id="120" name="github-text-119">
            <a:extLst xmlns:a="http://schemas.openxmlformats.org/drawingml/2006/main">
              <a:ext uri="{FF2B5EF4-FFF2-40B4-BE49-F238E27FC236}">
                <a16:creationId xmlns:a16="http://schemas.microsoft.com/office/drawing/2014/main" id="{62DD127E-7964-4AAD-9C62-292F126284BA}"/>
              </a:ext>
            </a:extLst>
          </p:cNvPr>
          <p:cNvSpPr>
            <a:spLocks xmlns:a="http://schemas.openxmlformats.org/drawingml/2006/main" noGrp="1"/>
          </p:cNvSpPr>
          <p:nvPr/>
        </p:nvSpPr>
        <p:spPr>
          <a:xfrm xmlns:a="http://schemas.openxmlformats.org/drawingml/2006/main">
            <a:off x="15201900" y="4105275"/>
            <a:ext cx="22288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On-call response</a:t>
            </a:r>
          </a:p>
        </p:txBody>
      </p:sp>
      <p:sp>
        <p:nvSpPr>
          <p:cNvPr id="121" name="github-text-120">
            <a:extLst xmlns:a="http://schemas.openxmlformats.org/drawingml/2006/main">
              <a:ext uri="{FF2B5EF4-FFF2-40B4-BE49-F238E27FC236}">
                <a16:creationId xmlns:a16="http://schemas.microsoft.com/office/drawing/2014/main" id="{E11476DE-EBFC-4E9F-A309-1346F268F11E}"/>
              </a:ext>
            </a:extLst>
          </p:cNvPr>
          <p:cNvSpPr>
            <a:spLocks xmlns:a="http://schemas.openxmlformats.org/drawingml/2006/main" noGrp="1"/>
          </p:cNvSpPr>
          <p:nvPr/>
        </p:nvSpPr>
        <p:spPr>
          <a:xfrm xmlns:a="http://schemas.openxmlformats.org/drawingml/2006/main">
            <a:off x="15201900" y="4486275"/>
            <a:ext cx="22288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DFE9F2"/>
                </a:solidFill>
                <a:latin typeface="DejaVu Sans"/>
                <a:ea typeface="DejaVu Sans"/>
                <a:cs typeface="DejaVu Sans"/>
              </a:defRPr>
            </a:pPr>
            <a:r>
              <a:rPr sz="1500" b="0">
                <a:solidFill>
                  <a:srgbClr val="DFE9F2"/>
                </a:solidFill>
                <a:latin typeface="DejaVu Sans"/>
                <a:ea typeface="DejaVu Sans"/>
                <a:cs typeface="DejaVu Sans"/>
              </a:rPr>
              <a:t>Check route / auth</a:t>
            </a:r>
          </a:p>
        </p:txBody>
      </p:sp>
      <p:sp>
        <p:nvSpPr>
          <p:cNvPr id="122" name="github-text-121">
            <a:extLst xmlns:a="http://schemas.openxmlformats.org/drawingml/2006/main">
              <a:ext uri="{FF2B5EF4-FFF2-40B4-BE49-F238E27FC236}">
                <a16:creationId xmlns:a16="http://schemas.microsoft.com/office/drawing/2014/main" id="{873B0477-EE10-4AF9-A563-5F7F9C728902}"/>
              </a:ext>
            </a:extLst>
          </p:cNvPr>
          <p:cNvSpPr>
            <a:spLocks xmlns:a="http://schemas.openxmlformats.org/drawingml/2006/main" noGrp="1"/>
          </p:cNvSpPr>
          <p:nvPr/>
        </p:nvSpPr>
        <p:spPr>
          <a:xfrm xmlns:a="http://schemas.openxmlformats.org/drawingml/2006/main">
            <a:off x="15201900" y="4781550"/>
            <a:ext cx="22288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DFE9F2"/>
                </a:solidFill>
                <a:latin typeface="DejaVu Sans"/>
                <a:ea typeface="DejaVu Sans"/>
                <a:cs typeface="DejaVu Sans"/>
              </a:defRPr>
            </a:pPr>
            <a:r>
              <a:rPr sz="1500" b="0">
                <a:solidFill>
                  <a:srgbClr val="DFE9F2"/>
                </a:solidFill>
                <a:latin typeface="DejaVu Sans"/>
                <a:ea typeface="DejaVu Sans"/>
                <a:cs typeface="DejaVu Sans"/>
              </a:rPr>
              <a:t>Throttle polling / cache</a:t>
            </a:r>
          </a:p>
        </p:txBody>
      </p:sp>
      <p:sp>
        <p:nvSpPr>
          <p:cNvPr id="123" name="github-text-122">
            <a:extLst xmlns:a="http://schemas.openxmlformats.org/drawingml/2006/main">
              <a:ext uri="{FF2B5EF4-FFF2-40B4-BE49-F238E27FC236}">
                <a16:creationId xmlns:a16="http://schemas.microsoft.com/office/drawing/2014/main" id="{82FC786A-0F62-4D63-A242-436D82CA3E49}"/>
              </a:ext>
            </a:extLst>
          </p:cNvPr>
          <p:cNvSpPr>
            <a:spLocks xmlns:a="http://schemas.openxmlformats.org/drawingml/2006/main" noGrp="1"/>
          </p:cNvSpPr>
          <p:nvPr/>
        </p:nvSpPr>
        <p:spPr>
          <a:xfrm xmlns:a="http://schemas.openxmlformats.org/drawingml/2006/main">
            <a:off x="15201900" y="5076825"/>
            <a:ext cx="22288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DFE9F2"/>
                </a:solidFill>
                <a:latin typeface="DejaVu Sans"/>
                <a:ea typeface="DejaVu Sans"/>
                <a:cs typeface="DejaVu Sans"/>
              </a:defRPr>
            </a:pPr>
            <a:r>
              <a:rPr sz="1500" b="0">
                <a:solidFill>
                  <a:srgbClr val="DFE9F2"/>
                </a:solidFill>
                <a:latin typeface="DejaVu Sans"/>
                <a:ea typeface="DejaVu Sans"/>
                <a:cs typeface="DejaVu Sans"/>
              </a:rPr>
              <a:t>Restore access / scale</a:t>
            </a:r>
          </a:p>
        </p:txBody>
      </p:sp>
      <p:sp>
        <p:nvSpPr>
          <p:cNvPr id="124" name="github-text-123">
            <a:extLst xmlns:a="http://schemas.openxmlformats.org/drawingml/2006/main">
              <a:ext uri="{FF2B5EF4-FFF2-40B4-BE49-F238E27FC236}">
                <a16:creationId xmlns:a16="http://schemas.microsoft.com/office/drawing/2014/main" id="{690A28C5-DF00-44C2-90A0-30FF2BEADDD8}"/>
              </a:ext>
            </a:extLst>
          </p:cNvPr>
          <p:cNvSpPr>
            <a:spLocks xmlns:a="http://schemas.openxmlformats.org/drawingml/2006/main" noGrp="1"/>
          </p:cNvSpPr>
          <p:nvPr/>
        </p:nvSpPr>
        <p:spPr>
          <a:xfrm xmlns:a="http://schemas.openxmlformats.org/drawingml/2006/main">
            <a:off x="15201900" y="5629275"/>
            <a:ext cx="2228850"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B3CADB"/>
                </a:solidFill>
                <a:latin typeface="DejaVu Sans"/>
                <a:ea typeface="DejaVu Sans"/>
                <a:cs typeface="DejaVu Sans"/>
              </a:defRPr>
            </a:pPr>
            <a:r>
              <a:rPr sz="1350" b="0">
                <a:solidFill>
                  <a:srgbClr val="B3CADB"/>
                </a:solidFill>
                <a:latin typeface="DejaVu Sans"/>
                <a:ea typeface="DejaVu Sans"/>
                <a:cs typeface="DejaVu Sans"/>
              </a:rPr>
              <a:t>Use an approved runbook</a:t>
            </a:r>
          </a:p>
        </p:txBody>
      </p:sp>
      <p:sp>
        <p:nvSpPr>
          <p:cNvPr id="125" name="github-text-124">
            <a:extLst xmlns:a="http://schemas.openxmlformats.org/drawingml/2006/main">
              <a:ext uri="{FF2B5EF4-FFF2-40B4-BE49-F238E27FC236}">
                <a16:creationId xmlns:a16="http://schemas.microsoft.com/office/drawing/2014/main" id="{451D5CFE-F5B4-4ED2-851E-3B98BDBF5F80}"/>
              </a:ext>
            </a:extLst>
          </p:cNvPr>
          <p:cNvSpPr>
            <a:spLocks xmlns:a="http://schemas.openxmlformats.org/drawingml/2006/main" noGrp="1"/>
          </p:cNvSpPr>
          <p:nvPr/>
        </p:nvSpPr>
        <p:spPr>
          <a:xfrm xmlns:a="http://schemas.openxmlformats.org/drawingml/2006/main">
            <a:off x="609600" y="6791325"/>
            <a:ext cx="32385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546779"/>
                </a:solidFill>
                <a:latin typeface="DejaVu Sans"/>
                <a:ea typeface="DejaVu Sans"/>
                <a:cs typeface="DejaVu Sans"/>
              </a:defRPr>
            </a:pPr>
            <a:r>
              <a:rPr sz="1500" b="1">
                <a:solidFill>
                  <a:srgbClr val="546779"/>
                </a:solidFill>
                <a:latin typeface="DejaVu Sans"/>
                <a:ea typeface="DejaVu Sans"/>
                <a:cs typeface="DejaVu Sans"/>
              </a:rPr>
              <a:t>HISTORY &amp; LEARNING</a:t>
            </a:r>
          </a:p>
        </p:txBody>
      </p:sp>
      <p:sp>
        <p:nvSpPr>
          <p:cNvPr id="126" name="github-text-125">
            <a:extLst xmlns:a="http://schemas.openxmlformats.org/drawingml/2006/main">
              <a:ext uri="{FF2B5EF4-FFF2-40B4-BE49-F238E27FC236}">
                <a16:creationId xmlns:a16="http://schemas.microsoft.com/office/drawing/2014/main" id="{0D8BD5E8-7B4E-4122-B75A-8197479599A0}"/>
              </a:ext>
            </a:extLst>
          </p:cNvPr>
          <p:cNvSpPr>
            <a:spLocks xmlns:a="http://schemas.openxmlformats.org/drawingml/2006/main" noGrp="1"/>
          </p:cNvSpPr>
          <p:nvPr/>
        </p:nvSpPr>
        <p:spPr>
          <a:xfrm xmlns:a="http://schemas.openxmlformats.org/drawingml/2006/main">
            <a:off x="5810250" y="6724650"/>
            <a:ext cx="1809750"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23649F"/>
                </a:solidFill>
                <a:latin typeface="DejaVu Sans"/>
                <a:ea typeface="DejaVu Sans"/>
                <a:cs typeface="DejaVu Sans"/>
              </a:defRPr>
            </a:pPr>
            <a:r>
              <a:rPr sz="1350" b="0">
                <a:solidFill>
                  <a:srgbClr val="23649F"/>
                </a:solidFill>
                <a:latin typeface="DejaVu Sans"/>
                <a:ea typeface="DejaVu Sans"/>
                <a:cs typeface="DejaVu Sans"/>
              </a:rPr>
              <a:t>Async feature export</a:t>
            </a:r>
          </a:p>
        </p:txBody>
      </p:sp>
      <p:sp>
        <p:nvSpPr>
          <p:cNvPr id="127" name="github-text-126">
            <a:extLst xmlns:a="http://schemas.openxmlformats.org/drawingml/2006/main">
              <a:ext uri="{FF2B5EF4-FFF2-40B4-BE49-F238E27FC236}">
                <a16:creationId xmlns:a16="http://schemas.microsoft.com/office/drawing/2014/main" id="{3FCF5151-953F-4FD6-A804-1EE7A95C040D}"/>
              </a:ext>
            </a:extLst>
          </p:cNvPr>
          <p:cNvSpPr>
            <a:spLocks xmlns:a="http://schemas.openxmlformats.org/drawingml/2006/main" noGrp="1"/>
          </p:cNvSpPr>
          <p:nvPr/>
        </p:nvSpPr>
        <p:spPr>
          <a:xfrm xmlns:a="http://schemas.openxmlformats.org/drawingml/2006/main">
            <a:off x="9620250" y="6743700"/>
            <a:ext cx="3143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6850B5"/>
                </a:solidFill>
                <a:latin typeface="DejaVu Sans"/>
                <a:ea typeface="DejaVu Sans"/>
                <a:cs typeface="DejaVu Sans"/>
              </a:defRPr>
            </a:pPr>
            <a:r>
              <a:rPr sz="1500" b="1">
                <a:solidFill>
                  <a:srgbClr val="6850B5"/>
                </a:solidFill>
                <a:latin typeface="DejaVu Sans"/>
                <a:ea typeface="DejaVu Sans"/>
                <a:cs typeface="DejaVu Sans"/>
              </a:rPr>
              <a:t>Validated model</a:t>
            </a:r>
          </a:p>
        </p:txBody>
      </p:sp>
      <p:sp>
        <p:nvSpPr>
          <p:cNvPr id="128" name="github-rect-127">
            <a:extLst xmlns:a="http://schemas.openxmlformats.org/drawingml/2006/main">
              <a:ext uri="{FF2B5EF4-FFF2-40B4-BE49-F238E27FC236}">
                <a16:creationId xmlns:a16="http://schemas.microsoft.com/office/drawing/2014/main" id="{6D0D32D5-5E72-471C-9F62-6DD530BAD88D}"/>
              </a:ext>
            </a:extLst>
          </p:cNvPr>
          <p:cNvSpPr>
            <a:spLocks xmlns:a="http://schemas.openxmlformats.org/drawingml/2006/main" noGrp="1"/>
          </p:cNvSpPr>
          <p:nvPr/>
        </p:nvSpPr>
        <p:spPr>
          <a:xfrm xmlns:a="http://schemas.openxmlformats.org/drawingml/2006/main">
            <a:off x="4210050" y="7620000"/>
            <a:ext cx="28575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14288">
            <a:solidFill>
              <a:srgbClr val="D7E0E9"/>
            </a:solidFill>
          </a:ln>
        </p:spPr>
      </p:sp>
      <p:sp>
        <p:nvSpPr>
          <p:cNvPr id="129" name="github-text-128">
            <a:extLst xmlns:a="http://schemas.openxmlformats.org/drawingml/2006/main">
              <a:ext uri="{FF2B5EF4-FFF2-40B4-BE49-F238E27FC236}">
                <a16:creationId xmlns:a16="http://schemas.microsoft.com/office/drawing/2014/main" id="{DF05294E-880B-4C8D-B5ED-DD29079E440F}"/>
              </a:ext>
            </a:extLst>
          </p:cNvPr>
          <p:cNvSpPr>
            <a:spLocks xmlns:a="http://schemas.openxmlformats.org/drawingml/2006/main" noGrp="1"/>
          </p:cNvSpPr>
          <p:nvPr/>
        </p:nvSpPr>
        <p:spPr>
          <a:xfrm xmlns:a="http://schemas.openxmlformats.org/drawingml/2006/main">
            <a:off x="4429125" y="7800975"/>
            <a:ext cx="241935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42A3D"/>
                </a:solidFill>
                <a:latin typeface="DejaVu Sans"/>
                <a:ea typeface="DejaVu Sans"/>
                <a:cs typeface="DejaVu Sans"/>
              </a:defRPr>
            </a:pPr>
            <a:r>
              <a:rPr sz="1950" b="1">
                <a:solidFill>
                  <a:srgbClr val="142A3D"/>
                </a:solidFill>
                <a:latin typeface="DejaVu Sans"/>
                <a:ea typeface="DejaVu Sans"/>
                <a:cs typeface="DejaVu Sans"/>
              </a:rPr>
              <a:t>BigQuery history</a:t>
            </a:r>
          </a:p>
        </p:txBody>
      </p:sp>
      <p:sp>
        <p:nvSpPr>
          <p:cNvPr id="130" name="github-text-129">
            <a:extLst xmlns:a="http://schemas.openxmlformats.org/drawingml/2006/main">
              <a:ext uri="{FF2B5EF4-FFF2-40B4-BE49-F238E27FC236}">
                <a16:creationId xmlns:a16="http://schemas.microsoft.com/office/drawing/2014/main" id="{11DEF46B-DCDB-463C-A396-B3ECF81DCF2B}"/>
              </a:ext>
            </a:extLst>
          </p:cNvPr>
          <p:cNvSpPr>
            <a:spLocks xmlns:a="http://schemas.openxmlformats.org/drawingml/2006/main" noGrp="1"/>
          </p:cNvSpPr>
          <p:nvPr/>
        </p:nvSpPr>
        <p:spPr>
          <a:xfrm xmlns:a="http://schemas.openxmlformats.org/drawingml/2006/main">
            <a:off x="4429125" y="8201025"/>
            <a:ext cx="24193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Features + incidents</a:t>
            </a:r>
          </a:p>
        </p:txBody>
      </p:sp>
      <p:sp>
        <p:nvSpPr>
          <p:cNvPr id="131" name="github-text-130">
            <a:extLst xmlns:a="http://schemas.openxmlformats.org/drawingml/2006/main">
              <a:ext uri="{FF2B5EF4-FFF2-40B4-BE49-F238E27FC236}">
                <a16:creationId xmlns:a16="http://schemas.microsoft.com/office/drawing/2014/main" id="{767DB4DB-346A-4339-8039-5F11A759B94C}"/>
              </a:ext>
            </a:extLst>
          </p:cNvPr>
          <p:cNvSpPr>
            <a:spLocks xmlns:a="http://schemas.openxmlformats.org/drawingml/2006/main" noGrp="1"/>
          </p:cNvSpPr>
          <p:nvPr/>
        </p:nvSpPr>
        <p:spPr>
          <a:xfrm xmlns:a="http://schemas.openxmlformats.org/drawingml/2006/main">
            <a:off x="4429125" y="8505825"/>
            <a:ext cx="24193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Event &amp; ingestion times</a:t>
            </a:r>
          </a:p>
        </p:txBody>
      </p:sp>
      <p:sp>
        <p:nvSpPr>
          <p:cNvPr id="132" name="github-rect-131">
            <a:extLst xmlns:a="http://schemas.openxmlformats.org/drawingml/2006/main">
              <a:ext uri="{FF2B5EF4-FFF2-40B4-BE49-F238E27FC236}">
                <a16:creationId xmlns:a16="http://schemas.microsoft.com/office/drawing/2014/main" id="{912D6CDD-9A51-4DA8-8BA2-0A2005ED8B17}"/>
              </a:ext>
            </a:extLst>
          </p:cNvPr>
          <p:cNvSpPr>
            <a:spLocks xmlns:a="http://schemas.openxmlformats.org/drawingml/2006/main" noGrp="1"/>
          </p:cNvSpPr>
          <p:nvPr/>
        </p:nvSpPr>
        <p:spPr>
          <a:xfrm xmlns:a="http://schemas.openxmlformats.org/drawingml/2006/main">
            <a:off x="7524750" y="7620000"/>
            <a:ext cx="36766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14288">
            <a:solidFill>
              <a:srgbClr val="D6CDED"/>
            </a:solidFill>
          </a:ln>
        </p:spPr>
      </p:sp>
      <p:sp>
        <p:nvSpPr>
          <p:cNvPr id="133" name="github-text-132">
            <a:extLst xmlns:a="http://schemas.openxmlformats.org/drawingml/2006/main">
              <a:ext uri="{FF2B5EF4-FFF2-40B4-BE49-F238E27FC236}">
                <a16:creationId xmlns:a16="http://schemas.microsoft.com/office/drawing/2014/main" id="{66BC5231-B3A3-4E9F-B653-D24CC02D6433}"/>
              </a:ext>
            </a:extLst>
          </p:cNvPr>
          <p:cNvSpPr>
            <a:spLocks xmlns:a="http://schemas.openxmlformats.org/drawingml/2006/main" noGrp="1"/>
          </p:cNvSpPr>
          <p:nvPr/>
        </p:nvSpPr>
        <p:spPr>
          <a:xfrm xmlns:a="http://schemas.openxmlformats.org/drawingml/2006/main">
            <a:off x="7781925" y="7800975"/>
            <a:ext cx="316230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42A3D"/>
                </a:solidFill>
                <a:latin typeface="DejaVu Sans"/>
                <a:ea typeface="DejaVu Sans"/>
                <a:cs typeface="DejaVu Sans"/>
              </a:defRPr>
            </a:pPr>
            <a:r>
              <a:rPr sz="1950" b="1">
                <a:solidFill>
                  <a:srgbClr val="142A3D"/>
                </a:solidFill>
                <a:latin typeface="DejaVu Sans"/>
                <a:ea typeface="DejaVu Sans"/>
                <a:cs typeface="DejaVu Sans"/>
              </a:rPr>
              <a:t>Cloud Run training job</a:t>
            </a:r>
          </a:p>
        </p:txBody>
      </p:sp>
      <p:sp>
        <p:nvSpPr>
          <p:cNvPr id="134" name="github-text-133">
            <a:extLst xmlns:a="http://schemas.openxmlformats.org/drawingml/2006/main">
              <a:ext uri="{FF2B5EF4-FFF2-40B4-BE49-F238E27FC236}">
                <a16:creationId xmlns:a16="http://schemas.microsoft.com/office/drawing/2014/main" id="{E224D912-7CE8-48E5-84B0-B8F80A691945}"/>
              </a:ext>
            </a:extLst>
          </p:cNvPr>
          <p:cNvSpPr>
            <a:spLocks xmlns:a="http://schemas.openxmlformats.org/drawingml/2006/main" noGrp="1"/>
          </p:cNvSpPr>
          <p:nvPr/>
        </p:nvSpPr>
        <p:spPr>
          <a:xfrm xmlns:a="http://schemas.openxmlformats.org/drawingml/2006/main">
            <a:off x="7781925" y="8181975"/>
            <a:ext cx="316230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Train on earlier windows</a:t>
            </a:r>
          </a:p>
        </p:txBody>
      </p:sp>
      <p:sp>
        <p:nvSpPr>
          <p:cNvPr id="135" name="github-text-134">
            <a:extLst xmlns:a="http://schemas.openxmlformats.org/drawingml/2006/main">
              <a:ext uri="{FF2B5EF4-FFF2-40B4-BE49-F238E27FC236}">
                <a16:creationId xmlns:a16="http://schemas.microsoft.com/office/drawing/2014/main" id="{4A1E9053-2595-4145-858B-85695451F3B5}"/>
              </a:ext>
            </a:extLst>
          </p:cNvPr>
          <p:cNvSpPr>
            <a:spLocks xmlns:a="http://schemas.openxmlformats.org/drawingml/2006/main" noGrp="1"/>
          </p:cNvSpPr>
          <p:nvPr/>
        </p:nvSpPr>
        <p:spPr>
          <a:xfrm xmlns:a="http://schemas.openxmlformats.org/drawingml/2006/main">
            <a:off x="7781925" y="8429625"/>
            <a:ext cx="316230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Test on later incidents</a:t>
            </a:r>
          </a:p>
        </p:txBody>
      </p:sp>
      <p:sp>
        <p:nvSpPr>
          <p:cNvPr id="136" name="github-text-135">
            <a:extLst xmlns:a="http://schemas.openxmlformats.org/drawingml/2006/main">
              <a:ext uri="{FF2B5EF4-FFF2-40B4-BE49-F238E27FC236}">
                <a16:creationId xmlns:a16="http://schemas.microsoft.com/office/drawing/2014/main" id="{77A9278C-312F-4EAE-9660-079E2FB35447}"/>
              </a:ext>
            </a:extLst>
          </p:cNvPr>
          <p:cNvSpPr>
            <a:spLocks xmlns:a="http://schemas.openxmlformats.org/drawingml/2006/main" noGrp="1"/>
          </p:cNvSpPr>
          <p:nvPr/>
        </p:nvSpPr>
        <p:spPr>
          <a:xfrm xmlns:a="http://schemas.openxmlformats.org/drawingml/2006/main">
            <a:off x="7781925" y="8677275"/>
            <a:ext cx="316230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Compare with baseline alerts</a:t>
            </a:r>
          </a:p>
        </p:txBody>
      </p:sp>
      <p:sp>
        <p:nvSpPr>
          <p:cNvPr id="137" name="github-rect-136">
            <a:extLst xmlns:a="http://schemas.openxmlformats.org/drawingml/2006/main">
              <a:ext uri="{FF2B5EF4-FFF2-40B4-BE49-F238E27FC236}">
                <a16:creationId xmlns:a16="http://schemas.microsoft.com/office/drawing/2014/main" id="{75A7BBC5-C287-4DBD-AB22-EAC86688EE91}"/>
              </a:ext>
            </a:extLst>
          </p:cNvPr>
          <p:cNvSpPr>
            <a:spLocks xmlns:a="http://schemas.openxmlformats.org/drawingml/2006/main" noGrp="1"/>
          </p:cNvSpPr>
          <p:nvPr/>
        </p:nvSpPr>
        <p:spPr>
          <a:xfrm xmlns:a="http://schemas.openxmlformats.org/drawingml/2006/main">
            <a:off x="11658600" y="7620000"/>
            <a:ext cx="28384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14288">
            <a:solidFill>
              <a:srgbClr val="D6CDED"/>
            </a:solidFill>
          </a:ln>
        </p:spPr>
      </p:sp>
      <p:sp>
        <p:nvSpPr>
          <p:cNvPr id="138" name="github-text-137">
            <a:extLst xmlns:a="http://schemas.openxmlformats.org/drawingml/2006/main">
              <a:ext uri="{FF2B5EF4-FFF2-40B4-BE49-F238E27FC236}">
                <a16:creationId xmlns:a16="http://schemas.microsoft.com/office/drawing/2014/main" id="{31A987F8-5F0E-41D2-95F0-69D958359001}"/>
              </a:ext>
            </a:extLst>
          </p:cNvPr>
          <p:cNvSpPr>
            <a:spLocks xmlns:a="http://schemas.openxmlformats.org/drawingml/2006/main" noGrp="1"/>
          </p:cNvSpPr>
          <p:nvPr/>
        </p:nvSpPr>
        <p:spPr>
          <a:xfrm xmlns:a="http://schemas.openxmlformats.org/drawingml/2006/main">
            <a:off x="11887200" y="7800975"/>
            <a:ext cx="238125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42A3D"/>
                </a:solidFill>
                <a:latin typeface="DejaVu Sans"/>
                <a:ea typeface="DejaVu Sans"/>
                <a:cs typeface="DejaVu Sans"/>
              </a:defRPr>
            </a:pPr>
            <a:r>
              <a:rPr sz="1950" b="1">
                <a:solidFill>
                  <a:srgbClr val="142A3D"/>
                </a:solidFill>
                <a:latin typeface="DejaVu Sans"/>
                <a:ea typeface="DejaVu Sans"/>
                <a:cs typeface="DejaVu Sans"/>
              </a:rPr>
              <a:t>Versioned model</a:t>
            </a:r>
          </a:p>
        </p:txBody>
      </p:sp>
      <p:sp>
        <p:nvSpPr>
          <p:cNvPr id="139" name="github-text-138">
            <a:extLst xmlns:a="http://schemas.openxmlformats.org/drawingml/2006/main">
              <a:ext uri="{FF2B5EF4-FFF2-40B4-BE49-F238E27FC236}">
                <a16:creationId xmlns:a16="http://schemas.microsoft.com/office/drawing/2014/main" id="{9A5618C8-9822-41A7-B31E-D56CBC0B6D04}"/>
              </a:ext>
            </a:extLst>
          </p:cNvPr>
          <p:cNvSpPr>
            <a:spLocks xmlns:a="http://schemas.openxmlformats.org/drawingml/2006/main" noGrp="1"/>
          </p:cNvSpPr>
          <p:nvPr/>
        </p:nvSpPr>
        <p:spPr>
          <a:xfrm xmlns:a="http://schemas.openxmlformats.org/drawingml/2006/main">
            <a:off x="11887200" y="8201025"/>
            <a:ext cx="2381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GCS model artifact</a:t>
            </a:r>
          </a:p>
        </p:txBody>
      </p:sp>
      <p:sp>
        <p:nvSpPr>
          <p:cNvPr id="140" name="github-text-139">
            <a:extLst xmlns:a="http://schemas.openxmlformats.org/drawingml/2006/main">
              <a:ext uri="{FF2B5EF4-FFF2-40B4-BE49-F238E27FC236}">
                <a16:creationId xmlns:a16="http://schemas.microsoft.com/office/drawing/2014/main" id="{A4F682C3-AA21-42C1-9E42-7509F51750BB}"/>
              </a:ext>
            </a:extLst>
          </p:cNvPr>
          <p:cNvSpPr>
            <a:spLocks xmlns:a="http://schemas.openxmlformats.org/drawingml/2006/main" noGrp="1"/>
          </p:cNvSpPr>
          <p:nvPr/>
        </p:nvSpPr>
        <p:spPr>
          <a:xfrm xmlns:a="http://schemas.openxmlformats.org/drawingml/2006/main">
            <a:off x="11887200" y="8505825"/>
            <a:ext cx="2381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Approve model rollout</a:t>
            </a:r>
          </a:p>
        </p:txBody>
      </p:sp>
      <p:sp>
        <p:nvSpPr>
          <p:cNvPr id="141" name="github-text-140">
            <a:extLst xmlns:a="http://schemas.openxmlformats.org/drawingml/2006/main">
              <a:ext uri="{FF2B5EF4-FFF2-40B4-BE49-F238E27FC236}">
                <a16:creationId xmlns:a16="http://schemas.microsoft.com/office/drawing/2014/main" id="{25AC1155-9314-4119-8666-012A6248B438}"/>
              </a:ext>
            </a:extLst>
          </p:cNvPr>
          <p:cNvSpPr>
            <a:spLocks xmlns:a="http://schemas.openxmlformats.org/drawingml/2006/main" noGrp="1"/>
          </p:cNvSpPr>
          <p:nvPr/>
        </p:nvSpPr>
        <p:spPr>
          <a:xfrm xmlns:a="http://schemas.openxmlformats.org/drawingml/2006/main">
            <a:off x="609600" y="7715250"/>
            <a:ext cx="31432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42A3D"/>
                </a:solidFill>
                <a:latin typeface="DejaVu Sans"/>
                <a:ea typeface="DejaVu Sans"/>
                <a:cs typeface="DejaVu Sans"/>
              </a:defRPr>
            </a:pPr>
            <a:r>
              <a:rPr sz="1725" b="1">
                <a:solidFill>
                  <a:srgbClr val="142A3D"/>
                </a:solidFill>
                <a:latin typeface="DejaVu Sans"/>
                <a:ea typeface="DejaVu Sans"/>
                <a:cs typeface="DejaVu Sans"/>
              </a:rPr>
              <a:t>Bank controls</a:t>
            </a:r>
          </a:p>
        </p:txBody>
      </p:sp>
      <p:sp>
        <p:nvSpPr>
          <p:cNvPr id="142" name="github-text-141">
            <a:extLst xmlns:a="http://schemas.openxmlformats.org/drawingml/2006/main">
              <a:ext uri="{FF2B5EF4-FFF2-40B4-BE49-F238E27FC236}">
                <a16:creationId xmlns:a16="http://schemas.microsoft.com/office/drawing/2014/main" id="{0EEDD679-8283-4AE9-B9AE-949671B07D16}"/>
              </a:ext>
            </a:extLst>
          </p:cNvPr>
          <p:cNvSpPr>
            <a:spLocks xmlns:a="http://schemas.openxmlformats.org/drawingml/2006/main" noGrp="1"/>
          </p:cNvSpPr>
          <p:nvPr/>
        </p:nvSpPr>
        <p:spPr>
          <a:xfrm xmlns:a="http://schemas.openxmlformats.org/drawingml/2006/main">
            <a:off x="609600" y="8124825"/>
            <a:ext cx="3143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Terraform-managed resources</a:t>
            </a:r>
          </a:p>
        </p:txBody>
      </p:sp>
      <p:sp>
        <p:nvSpPr>
          <p:cNvPr id="143" name="github-text-142">
            <a:extLst xmlns:a="http://schemas.openxmlformats.org/drawingml/2006/main">
              <a:ext uri="{FF2B5EF4-FFF2-40B4-BE49-F238E27FC236}">
                <a16:creationId xmlns:a16="http://schemas.microsoft.com/office/drawing/2014/main" id="{765A3DA5-659B-4623-96F5-64E2190A86B5}"/>
              </a:ext>
            </a:extLst>
          </p:cNvPr>
          <p:cNvSpPr>
            <a:spLocks xmlns:a="http://schemas.openxmlformats.org/drawingml/2006/main" noGrp="1"/>
          </p:cNvSpPr>
          <p:nvPr/>
        </p:nvSpPr>
        <p:spPr>
          <a:xfrm xmlns:a="http://schemas.openxmlformats.org/drawingml/2006/main">
            <a:off x="609600" y="8420100"/>
            <a:ext cx="3143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Scoped secrets and IAM</a:t>
            </a:r>
          </a:p>
        </p:txBody>
      </p:sp>
      <p:sp>
        <p:nvSpPr>
          <p:cNvPr id="144" name="github-text-143">
            <a:extLst xmlns:a="http://schemas.openxmlformats.org/drawingml/2006/main">
              <a:ext uri="{FF2B5EF4-FFF2-40B4-BE49-F238E27FC236}">
                <a16:creationId xmlns:a16="http://schemas.microsoft.com/office/drawing/2014/main" id="{BDCD8B1A-A8BE-49AA-8EA5-DCD5E21B220D}"/>
              </a:ext>
            </a:extLst>
          </p:cNvPr>
          <p:cNvSpPr>
            <a:spLocks xmlns:a="http://schemas.openxmlformats.org/drawingml/2006/main" noGrp="1"/>
          </p:cNvSpPr>
          <p:nvPr/>
        </p:nvSpPr>
        <p:spPr>
          <a:xfrm xmlns:a="http://schemas.openxmlformats.org/drawingml/2006/main">
            <a:off x="609600" y="8715375"/>
            <a:ext cx="3143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Approved VPC / proxy egress</a:t>
            </a:r>
          </a:p>
        </p:txBody>
      </p:sp>
      <p:sp>
        <p:nvSpPr>
          <p:cNvPr id="145" name="github-text-144">
            <a:extLst xmlns:a="http://schemas.openxmlformats.org/drawingml/2006/main">
              <a:ext uri="{FF2B5EF4-FFF2-40B4-BE49-F238E27FC236}">
                <a16:creationId xmlns:a16="http://schemas.microsoft.com/office/drawing/2014/main" id="{1815B272-7BDE-4C10-B906-23A6599409E6}"/>
              </a:ext>
            </a:extLst>
          </p:cNvPr>
          <p:cNvSpPr>
            <a:spLocks xmlns:a="http://schemas.openxmlformats.org/drawingml/2006/main" noGrp="1"/>
          </p:cNvSpPr>
          <p:nvPr/>
        </p:nvSpPr>
        <p:spPr>
          <a:xfrm xmlns:a="http://schemas.openxmlformats.org/drawingml/2006/main">
            <a:off x="14954250" y="7715250"/>
            <a:ext cx="2724150" cy="301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42A3D"/>
                </a:solidFill>
                <a:latin typeface="DejaVu Sans"/>
                <a:ea typeface="DejaVu Sans"/>
                <a:cs typeface="DejaVu Sans"/>
              </a:defRPr>
            </a:pPr>
            <a:r>
              <a:rPr sz="1800" b="1">
                <a:solidFill>
                  <a:srgbClr val="142A3D"/>
                </a:solidFill>
                <a:latin typeface="DejaVu Sans"/>
                <a:ea typeface="DejaVu Sans"/>
                <a:cs typeface="DejaVu Sans"/>
              </a:rPr>
              <a:t>Pilot measures</a:t>
            </a:r>
          </a:p>
        </p:txBody>
      </p:sp>
      <p:sp>
        <p:nvSpPr>
          <p:cNvPr id="146" name="github-text-145">
            <a:extLst xmlns:a="http://schemas.openxmlformats.org/drawingml/2006/main">
              <a:ext uri="{FF2B5EF4-FFF2-40B4-BE49-F238E27FC236}">
                <a16:creationId xmlns:a16="http://schemas.microsoft.com/office/drawing/2014/main" id="{D8C6F034-6B77-4A3A-BE64-5640CE56D3FE}"/>
              </a:ext>
            </a:extLst>
          </p:cNvPr>
          <p:cNvSpPr>
            <a:spLocks xmlns:a="http://schemas.openxmlformats.org/drawingml/2006/main" noGrp="1"/>
          </p:cNvSpPr>
          <p:nvPr/>
        </p:nvSpPr>
        <p:spPr>
          <a:xfrm xmlns:a="http://schemas.openxmlformats.org/drawingml/2006/main">
            <a:off x="14954250" y="8124825"/>
            <a:ext cx="27241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Useful warning lead time</a:t>
            </a:r>
          </a:p>
        </p:txBody>
      </p:sp>
      <p:sp>
        <p:nvSpPr>
          <p:cNvPr id="147" name="github-text-146">
            <a:extLst xmlns:a="http://schemas.openxmlformats.org/drawingml/2006/main">
              <a:ext uri="{FF2B5EF4-FFF2-40B4-BE49-F238E27FC236}">
                <a16:creationId xmlns:a16="http://schemas.microsoft.com/office/drawing/2014/main" id="{1558988D-94FB-49DB-A861-B3FB2D6E194D}"/>
              </a:ext>
            </a:extLst>
          </p:cNvPr>
          <p:cNvSpPr>
            <a:spLocks xmlns:a="http://schemas.openxmlformats.org/drawingml/2006/main" noGrp="1"/>
          </p:cNvSpPr>
          <p:nvPr/>
        </p:nvSpPr>
        <p:spPr>
          <a:xfrm xmlns:a="http://schemas.openxmlformats.org/drawingml/2006/main">
            <a:off x="14954250" y="8420100"/>
            <a:ext cx="27241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False alerts per service</a:t>
            </a:r>
          </a:p>
        </p:txBody>
      </p:sp>
      <p:sp>
        <p:nvSpPr>
          <p:cNvPr id="148" name="github-text-147">
            <a:extLst xmlns:a="http://schemas.openxmlformats.org/drawingml/2006/main">
              <a:ext uri="{FF2B5EF4-FFF2-40B4-BE49-F238E27FC236}">
                <a16:creationId xmlns:a16="http://schemas.microsoft.com/office/drawing/2014/main" id="{DCCD4DF5-C820-4078-8AEB-FC9DDEAAB7B8}"/>
              </a:ext>
            </a:extLst>
          </p:cNvPr>
          <p:cNvSpPr>
            <a:spLocks xmlns:a="http://schemas.openxmlformats.org/drawingml/2006/main" noGrp="1"/>
          </p:cNvSpPr>
          <p:nvPr/>
        </p:nvSpPr>
        <p:spPr>
          <a:xfrm xmlns:a="http://schemas.openxmlformats.org/drawingml/2006/main">
            <a:off x="14954250" y="8715375"/>
            <a:ext cx="27241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Coverage of past incidents</a:t>
            </a:r>
          </a:p>
        </p:txBody>
      </p:sp>
      <p:sp>
        <p:nvSpPr>
          <p:cNvPr id="149" name="github-text-148">
            <a:extLst xmlns:a="http://schemas.openxmlformats.org/drawingml/2006/main">
              <a:ext uri="{FF2B5EF4-FFF2-40B4-BE49-F238E27FC236}">
                <a16:creationId xmlns:a16="http://schemas.microsoft.com/office/drawing/2014/main" id="{5EEE0F87-B401-4C0D-8445-40A410673041}"/>
              </a:ext>
            </a:extLst>
          </p:cNvPr>
          <p:cNvSpPr>
            <a:spLocks xmlns:a="http://schemas.openxmlformats.org/drawingml/2006/main" noGrp="1"/>
          </p:cNvSpPr>
          <p:nvPr/>
        </p:nvSpPr>
        <p:spPr>
          <a:xfrm xmlns:a="http://schemas.openxmlformats.org/drawingml/2006/main">
            <a:off x="8372475" y="9077325"/>
            <a:ext cx="90487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7A8998"/>
                </a:solidFill>
                <a:latin typeface="DejaVu Sans"/>
                <a:ea typeface="DejaVu Sans"/>
                <a:cs typeface="DejaVu Sans"/>
              </a:defRPr>
            </a:pPr>
            <a:r>
              <a:rPr sz="1500" b="0">
                <a:solidFill>
                  <a:srgbClr val="7A8998"/>
                </a:solidFill>
                <a:latin typeface="DejaVu Sans"/>
                <a:ea typeface="DejaVu Sans"/>
                <a:cs typeface="DejaVu Sans"/>
              </a:rPr>
              <a:t>Incident outcomes, impact onset and operator action</a:t>
            </a:r>
          </a:p>
        </p:txBody>
      </p:sp>
      <p:sp>
        <p:nvSpPr>
          <p:cNvPr id="150" name="github-text-149">
            <a:extLst xmlns:a="http://schemas.openxmlformats.org/drawingml/2006/main">
              <a:ext uri="{FF2B5EF4-FFF2-40B4-BE49-F238E27FC236}">
                <a16:creationId xmlns:a16="http://schemas.microsoft.com/office/drawing/2014/main" id="{F0941C60-21F3-463E-8CAE-E0FBE12F2823}"/>
              </a:ext>
            </a:extLst>
          </p:cNvPr>
          <p:cNvSpPr>
            <a:spLocks xmlns:a="http://schemas.openxmlformats.org/drawingml/2006/main" noGrp="1"/>
          </p:cNvSpPr>
          <p:nvPr/>
        </p:nvSpPr>
        <p:spPr>
          <a:xfrm xmlns:a="http://schemas.openxmlformats.org/drawingml/2006/main">
            <a:off x="609600" y="9763125"/>
            <a:ext cx="170688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Proposed pilot. Forecasts and warning times are illustrative; validate useful lead time against actual incidents.</a:t>
            </a:r>
          </a:p>
        </p:txBody>
      </p:sp>
    </p:spTree>
    <p:extLst>
      <p:ext uri="{BB962C8B-B14F-4D97-AF65-F5344CB8AC3E}">
        <p14:creationId xmlns:p14="http://schemas.microsoft.com/office/powerpoint/2010/main" val="371310556"/>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1" name="artifactory-path-0">
            <a:extLst xmlns:a="http://schemas.openxmlformats.org/drawingml/2006/main">
              <a:ext uri="{FF2B5EF4-FFF2-40B4-BE49-F238E27FC236}">
                <a16:creationId xmlns:a16="http://schemas.microsoft.com/office/drawing/2014/main" id="{B147B1A4-DEE1-4EAC-8886-02B035479448}"/>
              </a:ext>
            </a:extLst>
          </p:cNvPr>
          <p:cNvSpPr>
            <a:spLocks xmlns:a="http://schemas.openxmlformats.org/drawingml/2006/main" noGrp="1"/>
          </p:cNvSpPr>
          <p:nvPr/>
        </p:nvSpPr>
        <p:spPr>
          <a:xfrm xmlns:a="http://schemas.openxmlformats.org/drawingml/2006/main">
            <a:off x="3752850" y="265747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3813">
            <a:solidFill>
              <a:srgbClr val="23649F"/>
            </a:solidFill>
            <a:prstDash val="solid"/>
          </a:ln>
        </p:spPr>
      </p:sp>
      <p:sp>
        <p:nvSpPr>
          <p:cNvPr id="2" name="artifactory-path-1">
            <a:extLst xmlns:a="http://schemas.openxmlformats.org/drawingml/2006/main">
              <a:ext uri="{FF2B5EF4-FFF2-40B4-BE49-F238E27FC236}">
                <a16:creationId xmlns:a16="http://schemas.microsoft.com/office/drawing/2014/main" id="{CD8BCF48-C91B-4035-B69A-AC958BFF26C0}"/>
              </a:ext>
            </a:extLst>
          </p:cNvPr>
          <p:cNvSpPr>
            <a:spLocks xmlns:a="http://schemas.openxmlformats.org/drawingml/2006/main" noGrp="1"/>
          </p:cNvSpPr>
          <p:nvPr/>
        </p:nvSpPr>
        <p:spPr>
          <a:xfrm xmlns:a="http://schemas.openxmlformats.org/drawingml/2006/main">
            <a:off x="3752850" y="36766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3813">
            <a:solidFill>
              <a:srgbClr val="23649F"/>
            </a:solidFill>
            <a:prstDash val="solid"/>
          </a:ln>
        </p:spPr>
      </p:sp>
      <p:sp>
        <p:nvSpPr>
          <p:cNvPr id="3" name="artifactory-path-2">
            <a:extLst xmlns:a="http://schemas.openxmlformats.org/drawingml/2006/main">
              <a:ext uri="{FF2B5EF4-FFF2-40B4-BE49-F238E27FC236}">
                <a16:creationId xmlns:a16="http://schemas.microsoft.com/office/drawing/2014/main" id="{CAD9D5D7-BBDA-407B-BB4A-7B7465ED4BF9}"/>
              </a:ext>
            </a:extLst>
          </p:cNvPr>
          <p:cNvSpPr>
            <a:spLocks xmlns:a="http://schemas.openxmlformats.org/drawingml/2006/main" noGrp="1"/>
          </p:cNvSpPr>
          <p:nvPr/>
        </p:nvSpPr>
        <p:spPr>
          <a:xfrm xmlns:a="http://schemas.openxmlformats.org/drawingml/2006/main">
            <a:off x="3752850" y="46958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3813">
            <a:solidFill>
              <a:srgbClr val="23649F"/>
            </a:solidFill>
            <a:prstDash val="solid"/>
          </a:ln>
        </p:spPr>
      </p:sp>
      <p:sp>
        <p:nvSpPr>
          <p:cNvPr id="4" name="artifactory-path-3">
            <a:extLst xmlns:a="http://schemas.openxmlformats.org/drawingml/2006/main">
              <a:ext uri="{FF2B5EF4-FFF2-40B4-BE49-F238E27FC236}">
                <a16:creationId xmlns:a16="http://schemas.microsoft.com/office/drawing/2014/main" id="{56ABFB1E-D96C-40BF-949C-01FD0BA21DF3}"/>
              </a:ext>
            </a:extLst>
          </p:cNvPr>
          <p:cNvSpPr>
            <a:spLocks xmlns:a="http://schemas.openxmlformats.org/drawingml/2006/main" noGrp="1"/>
          </p:cNvSpPr>
          <p:nvPr/>
        </p:nvSpPr>
        <p:spPr>
          <a:xfrm xmlns:a="http://schemas.openxmlformats.org/drawingml/2006/main">
            <a:off x="3752850" y="57150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3813">
            <a:solidFill>
              <a:srgbClr val="23649F"/>
            </a:solidFill>
            <a:prstDash val="solid"/>
          </a:ln>
        </p:spPr>
      </p:sp>
      <p:sp>
        <p:nvSpPr>
          <p:cNvPr id="5" name="artifactory-path-4">
            <a:extLst xmlns:a="http://schemas.openxmlformats.org/drawingml/2006/main">
              <a:ext uri="{FF2B5EF4-FFF2-40B4-BE49-F238E27FC236}">
                <a16:creationId xmlns:a16="http://schemas.microsoft.com/office/drawing/2014/main" id="{1619DDB6-7C5C-407C-B3E9-7234E46E1442}"/>
              </a:ext>
            </a:extLst>
          </p:cNvPr>
          <p:cNvSpPr>
            <a:spLocks xmlns:a="http://schemas.openxmlformats.org/drawingml/2006/main" noGrp="1"/>
          </p:cNvSpPr>
          <p:nvPr/>
        </p:nvSpPr>
        <p:spPr>
          <a:xfrm xmlns:a="http://schemas.openxmlformats.org/drawingml/2006/main">
            <a:off x="3943350" y="2657475"/>
            <a:ext cx="9525" cy="3057525"/>
          </a:xfrm>
          <a:custGeom xmlns:a="http://schemas.openxmlformats.org/drawingml/2006/main">
            <a:pathLst>
              <a:path w="9525" h="3057525">
                <a:moveTo>
                  <a:pt x="0" y="0"/>
                </a:moveTo>
                <a:lnTo>
                  <a:pt x="0" y="3057525"/>
                </a:lnTo>
              </a:path>
            </a:pathLst>
          </a:custGeom>
          <a:noFill xmlns:a="http://schemas.openxmlformats.org/drawingml/2006/main"/>
          <a:ln xmlns:a="http://schemas.openxmlformats.org/drawingml/2006/main" w="23813">
            <a:solidFill>
              <a:srgbClr val="23649F"/>
            </a:solidFill>
            <a:prstDash val="solid"/>
          </a:ln>
        </p:spPr>
      </p:sp>
      <p:sp>
        <p:nvSpPr>
          <p:cNvPr id="6" name="artifactory-path-5">
            <a:extLst xmlns:a="http://schemas.openxmlformats.org/drawingml/2006/main">
              <a:ext uri="{FF2B5EF4-FFF2-40B4-BE49-F238E27FC236}">
                <a16:creationId xmlns:a16="http://schemas.microsoft.com/office/drawing/2014/main" id="{F6E72210-0C69-4860-9328-4CCE4D737124}"/>
              </a:ext>
            </a:extLst>
          </p:cNvPr>
          <p:cNvSpPr>
            <a:spLocks xmlns:a="http://schemas.openxmlformats.org/drawingml/2006/main" noGrp="1"/>
          </p:cNvSpPr>
          <p:nvPr/>
        </p:nvSpPr>
        <p:spPr>
          <a:xfrm xmlns:a="http://schemas.openxmlformats.org/drawingml/2006/main">
            <a:off x="3943350" y="3000375"/>
            <a:ext cx="266700" cy="9525"/>
          </a:xfrm>
          <a:custGeom xmlns:a="http://schemas.openxmlformats.org/drawingml/2006/main">
            <a:pathLst>
              <a:path w="266700" h="9525">
                <a:moveTo>
                  <a:pt x="0" y="0"/>
                </a:moveTo>
                <a:lnTo>
                  <a:pt x="266700" y="0"/>
                </a:lnTo>
              </a:path>
            </a:pathLst>
          </a:custGeom>
          <a:noFill xmlns:a="http://schemas.openxmlformats.org/drawingml/2006/main"/>
          <a:ln xmlns:a="http://schemas.openxmlformats.org/drawingml/2006/main" w="28575">
            <a:solidFill>
              <a:srgbClr val="23649F"/>
            </a:solidFill>
            <a:prstDash val="solid"/>
          </a:ln>
        </p:spPr>
      </p:sp>
      <p:sp>
        <p:nvSpPr>
          <p:cNvPr id="7" name="artifactory-path-6">
            <a:extLst xmlns:a="http://schemas.openxmlformats.org/drawingml/2006/main">
              <a:ext uri="{FF2B5EF4-FFF2-40B4-BE49-F238E27FC236}">
                <a16:creationId xmlns:a16="http://schemas.microsoft.com/office/drawing/2014/main" id="{56EFCD7A-E423-43DD-8D0E-873F127E50AD}"/>
              </a:ext>
            </a:extLst>
          </p:cNvPr>
          <p:cNvSpPr>
            <a:spLocks xmlns:a="http://schemas.openxmlformats.org/drawingml/2006/main" noGrp="1"/>
          </p:cNvSpPr>
          <p:nvPr/>
        </p:nvSpPr>
        <p:spPr>
          <a:xfrm xmlns:a="http://schemas.openxmlformats.org/drawingml/2006/main">
            <a:off x="4114800" y="2952750"/>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23649F"/>
          </a:solidFill>
          <a:ln xmlns:a="http://schemas.openxmlformats.org/drawingml/2006/main" w="9525">
            <a:solidFill>
              <a:srgbClr val="23649F"/>
            </a:solidFill>
            <a:prstDash val="solid"/>
          </a:ln>
        </p:spPr>
      </p:sp>
      <p:sp>
        <p:nvSpPr>
          <p:cNvPr id="8" name="artifactory-path-7">
            <a:extLst xmlns:a="http://schemas.openxmlformats.org/drawingml/2006/main">
              <a:ext uri="{FF2B5EF4-FFF2-40B4-BE49-F238E27FC236}">
                <a16:creationId xmlns:a16="http://schemas.microsoft.com/office/drawing/2014/main" id="{930324AD-CB40-407C-AAF8-1F4E4C1347B6}"/>
              </a:ext>
            </a:extLst>
          </p:cNvPr>
          <p:cNvSpPr>
            <a:spLocks xmlns:a="http://schemas.openxmlformats.org/drawingml/2006/main" noGrp="1"/>
          </p:cNvSpPr>
          <p:nvPr/>
        </p:nvSpPr>
        <p:spPr>
          <a:xfrm xmlns:a="http://schemas.openxmlformats.org/drawingml/2006/main">
            <a:off x="5638800" y="3848100"/>
            <a:ext cx="9525" cy="419100"/>
          </a:xfrm>
          <a:custGeom xmlns:a="http://schemas.openxmlformats.org/drawingml/2006/main">
            <a:pathLst>
              <a:path w="9525" h="419100">
                <a:moveTo>
                  <a:pt x="0" y="0"/>
                </a:moveTo>
                <a:lnTo>
                  <a:pt x="0" y="419100"/>
                </a:lnTo>
              </a:path>
            </a:pathLst>
          </a:custGeom>
          <a:noFill xmlns:a="http://schemas.openxmlformats.org/drawingml/2006/main"/>
          <a:ln xmlns:a="http://schemas.openxmlformats.org/drawingml/2006/main" w="28575">
            <a:solidFill>
              <a:srgbClr val="157F82"/>
            </a:solidFill>
            <a:prstDash val="solid"/>
          </a:ln>
        </p:spPr>
      </p:sp>
      <p:sp>
        <p:nvSpPr>
          <p:cNvPr id="9" name="artifactory-path-8">
            <a:extLst xmlns:a="http://schemas.openxmlformats.org/drawingml/2006/main">
              <a:ext uri="{FF2B5EF4-FFF2-40B4-BE49-F238E27FC236}">
                <a16:creationId xmlns:a16="http://schemas.microsoft.com/office/drawing/2014/main" id="{7EEC0731-559B-4A8E-B5A9-727B50D8CAF7}"/>
              </a:ext>
            </a:extLst>
          </p:cNvPr>
          <p:cNvSpPr>
            <a:spLocks xmlns:a="http://schemas.openxmlformats.org/drawingml/2006/main" noGrp="1"/>
          </p:cNvSpPr>
          <p:nvPr/>
        </p:nvSpPr>
        <p:spPr>
          <a:xfrm xmlns:a="http://schemas.openxmlformats.org/drawingml/2006/main">
            <a:off x="5591175" y="4171950"/>
            <a:ext cx="95250" cy="95250"/>
          </a:xfrm>
          <a:custGeom xmlns:a="http://schemas.openxmlformats.org/drawingml/2006/main">
            <a:pathLst>
              <a:path w="95250" h="95250">
                <a:moveTo>
                  <a:pt x="47625" y="95250"/>
                </a:moveTo>
                <a:lnTo>
                  <a:pt x="0" y="0"/>
                </a:lnTo>
                <a:lnTo>
                  <a:pt x="95250" y="0"/>
                </a:lnTo>
                <a:close/>
              </a:path>
            </a:pathLst>
          </a:custGeom>
          <a:solidFill xmlns:a="http://schemas.openxmlformats.org/drawingml/2006/main">
            <a:srgbClr val="157F82"/>
          </a:solidFill>
          <a:ln xmlns:a="http://schemas.openxmlformats.org/drawingml/2006/main" w="9525">
            <a:solidFill>
              <a:srgbClr val="157F82"/>
            </a:solidFill>
            <a:prstDash val="solid"/>
          </a:ln>
        </p:spPr>
      </p:sp>
      <p:sp>
        <p:nvSpPr>
          <p:cNvPr id="10" name="artifactory-path-9">
            <a:extLst xmlns:a="http://schemas.openxmlformats.org/drawingml/2006/main">
              <a:ext uri="{FF2B5EF4-FFF2-40B4-BE49-F238E27FC236}">
                <a16:creationId xmlns:a16="http://schemas.microsoft.com/office/drawing/2014/main" id="{976F8999-2249-405E-AD1D-328190C55FD9}"/>
              </a:ext>
            </a:extLst>
          </p:cNvPr>
          <p:cNvSpPr>
            <a:spLocks xmlns:a="http://schemas.openxmlformats.org/drawingml/2006/main" noGrp="1"/>
          </p:cNvSpPr>
          <p:nvPr/>
        </p:nvSpPr>
        <p:spPr>
          <a:xfrm xmlns:a="http://schemas.openxmlformats.org/drawingml/2006/main">
            <a:off x="7067550" y="4095750"/>
            <a:ext cx="457200" cy="1085850"/>
          </a:xfrm>
          <a:custGeom xmlns:a="http://schemas.openxmlformats.org/drawingml/2006/main">
            <a:pathLst>
              <a:path w="457200" h="1085850">
                <a:moveTo>
                  <a:pt x="0" y="1085850"/>
                </a:moveTo>
                <a:lnTo>
                  <a:pt x="228600" y="1085850"/>
                </a:lnTo>
                <a:lnTo>
                  <a:pt x="228600" y="0"/>
                </a:lnTo>
                <a:lnTo>
                  <a:pt x="457200" y="0"/>
                </a:lnTo>
              </a:path>
            </a:pathLst>
          </a:custGeom>
          <a:noFill xmlns:a="http://schemas.openxmlformats.org/drawingml/2006/main"/>
          <a:ln xmlns:a="http://schemas.openxmlformats.org/drawingml/2006/main" w="28575">
            <a:solidFill>
              <a:srgbClr val="157F82"/>
            </a:solidFill>
            <a:prstDash val="solid"/>
          </a:ln>
        </p:spPr>
      </p:sp>
      <p:sp>
        <p:nvSpPr>
          <p:cNvPr id="11" name="artifactory-path-10">
            <a:extLst xmlns:a="http://schemas.openxmlformats.org/drawingml/2006/main">
              <a:ext uri="{FF2B5EF4-FFF2-40B4-BE49-F238E27FC236}">
                <a16:creationId xmlns:a16="http://schemas.microsoft.com/office/drawing/2014/main" id="{A26E382F-9D2B-4805-A4E6-22D911ACDFC5}"/>
              </a:ext>
            </a:extLst>
          </p:cNvPr>
          <p:cNvSpPr>
            <a:spLocks xmlns:a="http://schemas.openxmlformats.org/drawingml/2006/main" noGrp="1"/>
          </p:cNvSpPr>
          <p:nvPr/>
        </p:nvSpPr>
        <p:spPr>
          <a:xfrm xmlns:a="http://schemas.openxmlformats.org/drawingml/2006/main">
            <a:off x="7429500" y="4048125"/>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157F82"/>
          </a:solidFill>
          <a:ln xmlns:a="http://schemas.openxmlformats.org/drawingml/2006/main" w="9525">
            <a:solidFill>
              <a:srgbClr val="157F82"/>
            </a:solidFill>
            <a:prstDash val="solid"/>
          </a:ln>
        </p:spPr>
      </p:sp>
      <p:sp>
        <p:nvSpPr>
          <p:cNvPr id="12" name="artifactory-path-11">
            <a:extLst xmlns:a="http://schemas.openxmlformats.org/drawingml/2006/main">
              <a:ext uri="{FF2B5EF4-FFF2-40B4-BE49-F238E27FC236}">
                <a16:creationId xmlns:a16="http://schemas.microsoft.com/office/drawing/2014/main" id="{5BEA4781-0289-4F61-8FFC-3B0EA0C97ADC}"/>
              </a:ext>
            </a:extLst>
          </p:cNvPr>
          <p:cNvSpPr>
            <a:spLocks xmlns:a="http://schemas.openxmlformats.org/drawingml/2006/main" noGrp="1"/>
          </p:cNvSpPr>
          <p:nvPr/>
        </p:nvSpPr>
        <p:spPr>
          <a:xfrm xmlns:a="http://schemas.openxmlformats.org/drawingml/2006/main">
            <a:off x="11201400" y="40957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6850B5"/>
            </a:solidFill>
            <a:prstDash val="solid"/>
          </a:ln>
        </p:spPr>
      </p:sp>
      <p:sp>
        <p:nvSpPr>
          <p:cNvPr id="13" name="artifactory-path-12">
            <a:extLst xmlns:a="http://schemas.openxmlformats.org/drawingml/2006/main">
              <a:ext uri="{FF2B5EF4-FFF2-40B4-BE49-F238E27FC236}">
                <a16:creationId xmlns:a16="http://schemas.microsoft.com/office/drawing/2014/main" id="{2163C8FE-068A-4E8F-A0A7-D3A4FB74E616}"/>
              </a:ext>
            </a:extLst>
          </p:cNvPr>
          <p:cNvSpPr>
            <a:spLocks xmlns:a="http://schemas.openxmlformats.org/drawingml/2006/main" noGrp="1"/>
          </p:cNvSpPr>
          <p:nvPr/>
        </p:nvSpPr>
        <p:spPr>
          <a:xfrm xmlns:a="http://schemas.openxmlformats.org/drawingml/2006/main">
            <a:off x="11563350" y="4048125"/>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6850B5"/>
          </a:solidFill>
          <a:ln xmlns:a="http://schemas.openxmlformats.org/drawingml/2006/main" w="9525">
            <a:solidFill>
              <a:srgbClr val="6850B5"/>
            </a:solidFill>
            <a:prstDash val="solid"/>
          </a:ln>
        </p:spPr>
      </p:sp>
      <p:sp>
        <p:nvSpPr>
          <p:cNvPr id="14" name="artifactory-path-13">
            <a:extLst xmlns:a="http://schemas.openxmlformats.org/drawingml/2006/main">
              <a:ext uri="{FF2B5EF4-FFF2-40B4-BE49-F238E27FC236}">
                <a16:creationId xmlns:a16="http://schemas.microsoft.com/office/drawing/2014/main" id="{D4056EB8-CBE1-4864-8C94-BE9085809DF8}"/>
              </a:ext>
            </a:extLst>
          </p:cNvPr>
          <p:cNvSpPr>
            <a:spLocks xmlns:a="http://schemas.openxmlformats.org/drawingml/2006/main" noGrp="1"/>
          </p:cNvSpPr>
          <p:nvPr/>
        </p:nvSpPr>
        <p:spPr>
          <a:xfrm xmlns:a="http://schemas.openxmlformats.org/drawingml/2006/main">
            <a:off x="14497050" y="40957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C75F32"/>
            </a:solidFill>
            <a:prstDash val="solid"/>
          </a:ln>
        </p:spPr>
      </p:sp>
      <p:sp>
        <p:nvSpPr>
          <p:cNvPr id="15" name="artifactory-path-14">
            <a:extLst xmlns:a="http://schemas.openxmlformats.org/drawingml/2006/main">
              <a:ext uri="{FF2B5EF4-FFF2-40B4-BE49-F238E27FC236}">
                <a16:creationId xmlns:a16="http://schemas.microsoft.com/office/drawing/2014/main" id="{A378CFF9-C7B1-44C5-BEC8-BF9BCE5AD03E}"/>
              </a:ext>
            </a:extLst>
          </p:cNvPr>
          <p:cNvSpPr>
            <a:spLocks xmlns:a="http://schemas.openxmlformats.org/drawingml/2006/main" noGrp="1"/>
          </p:cNvSpPr>
          <p:nvPr/>
        </p:nvSpPr>
        <p:spPr>
          <a:xfrm xmlns:a="http://schemas.openxmlformats.org/drawingml/2006/main">
            <a:off x="14859000" y="4048125"/>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C75F32"/>
          </a:solidFill>
          <a:ln xmlns:a="http://schemas.openxmlformats.org/drawingml/2006/main" w="9525">
            <a:solidFill>
              <a:srgbClr val="C75F32"/>
            </a:solidFill>
            <a:prstDash val="solid"/>
          </a:ln>
        </p:spPr>
      </p:sp>
      <p:sp>
        <p:nvSpPr>
          <p:cNvPr id="16" name="artifactory-path-15">
            <a:extLst xmlns:a="http://schemas.openxmlformats.org/drawingml/2006/main">
              <a:ext uri="{FF2B5EF4-FFF2-40B4-BE49-F238E27FC236}">
                <a16:creationId xmlns:a16="http://schemas.microsoft.com/office/drawing/2014/main" id="{5FA8F364-9DE8-4938-A258-0CB8E88662EA}"/>
              </a:ext>
            </a:extLst>
          </p:cNvPr>
          <p:cNvSpPr>
            <a:spLocks xmlns:a="http://schemas.openxmlformats.org/drawingml/2006/main" noGrp="1"/>
          </p:cNvSpPr>
          <p:nvPr/>
        </p:nvSpPr>
        <p:spPr>
          <a:xfrm xmlns:a="http://schemas.openxmlformats.org/drawingml/2006/main">
            <a:off x="5638800" y="6019800"/>
            <a:ext cx="9525" cy="1600200"/>
          </a:xfrm>
          <a:custGeom xmlns:a="http://schemas.openxmlformats.org/drawingml/2006/main">
            <a:pathLst>
              <a:path w="9525" h="1600200">
                <a:moveTo>
                  <a:pt x="0" y="0"/>
                </a:moveTo>
                <a:lnTo>
                  <a:pt x="0" y="1600200"/>
                </a:lnTo>
              </a:path>
            </a:pathLst>
          </a:custGeom>
          <a:noFill xmlns:a="http://schemas.openxmlformats.org/drawingml/2006/main"/>
          <a:ln xmlns:a="http://schemas.openxmlformats.org/drawingml/2006/main" w="28575">
            <a:solidFill>
              <a:srgbClr val="23649F"/>
            </a:solidFill>
            <a:prstDash val="solid"/>
          </a:ln>
        </p:spPr>
      </p:sp>
      <p:sp>
        <p:nvSpPr>
          <p:cNvPr id="17" name="artifactory-path-16">
            <a:extLst xmlns:a="http://schemas.openxmlformats.org/drawingml/2006/main">
              <a:ext uri="{FF2B5EF4-FFF2-40B4-BE49-F238E27FC236}">
                <a16:creationId xmlns:a16="http://schemas.microsoft.com/office/drawing/2014/main" id="{20251DE3-24D6-48A4-AECE-BAEED02E5E1F}"/>
              </a:ext>
            </a:extLst>
          </p:cNvPr>
          <p:cNvSpPr>
            <a:spLocks xmlns:a="http://schemas.openxmlformats.org/drawingml/2006/main" noGrp="1"/>
          </p:cNvSpPr>
          <p:nvPr/>
        </p:nvSpPr>
        <p:spPr>
          <a:xfrm xmlns:a="http://schemas.openxmlformats.org/drawingml/2006/main">
            <a:off x="5591175" y="7524750"/>
            <a:ext cx="95250" cy="95250"/>
          </a:xfrm>
          <a:custGeom xmlns:a="http://schemas.openxmlformats.org/drawingml/2006/main">
            <a:pathLst>
              <a:path w="95250" h="95250">
                <a:moveTo>
                  <a:pt x="47625" y="95250"/>
                </a:moveTo>
                <a:lnTo>
                  <a:pt x="0" y="0"/>
                </a:lnTo>
                <a:lnTo>
                  <a:pt x="95250" y="0"/>
                </a:lnTo>
                <a:close/>
              </a:path>
            </a:pathLst>
          </a:custGeom>
          <a:solidFill xmlns:a="http://schemas.openxmlformats.org/drawingml/2006/main">
            <a:srgbClr val="23649F"/>
          </a:solidFill>
          <a:ln xmlns:a="http://schemas.openxmlformats.org/drawingml/2006/main" w="9525">
            <a:solidFill>
              <a:srgbClr val="23649F"/>
            </a:solidFill>
            <a:prstDash val="solid"/>
          </a:ln>
        </p:spPr>
      </p:sp>
      <p:sp>
        <p:nvSpPr>
          <p:cNvPr id="18" name="artifactory-path-17">
            <a:extLst xmlns:a="http://schemas.openxmlformats.org/drawingml/2006/main">
              <a:ext uri="{FF2B5EF4-FFF2-40B4-BE49-F238E27FC236}">
                <a16:creationId xmlns:a16="http://schemas.microsoft.com/office/drawing/2014/main" id="{BF81A555-F695-4645-95F3-0457B4EB509C}"/>
              </a:ext>
            </a:extLst>
          </p:cNvPr>
          <p:cNvSpPr>
            <a:spLocks xmlns:a="http://schemas.openxmlformats.org/drawingml/2006/main" noGrp="1"/>
          </p:cNvSpPr>
          <p:nvPr/>
        </p:nvSpPr>
        <p:spPr>
          <a:xfrm xmlns:a="http://schemas.openxmlformats.org/drawingml/2006/main">
            <a:off x="7067550" y="82867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6850B5"/>
            </a:solidFill>
            <a:prstDash val="dash"/>
          </a:ln>
        </p:spPr>
      </p:sp>
      <p:sp>
        <p:nvSpPr>
          <p:cNvPr id="19" name="artifactory-path-18">
            <a:extLst xmlns:a="http://schemas.openxmlformats.org/drawingml/2006/main">
              <a:ext uri="{FF2B5EF4-FFF2-40B4-BE49-F238E27FC236}">
                <a16:creationId xmlns:a16="http://schemas.microsoft.com/office/drawing/2014/main" id="{D853958C-0862-4044-A3F2-74867D7F11D9}"/>
              </a:ext>
            </a:extLst>
          </p:cNvPr>
          <p:cNvSpPr>
            <a:spLocks xmlns:a="http://schemas.openxmlformats.org/drawingml/2006/main" noGrp="1"/>
          </p:cNvSpPr>
          <p:nvPr/>
        </p:nvSpPr>
        <p:spPr>
          <a:xfrm xmlns:a="http://schemas.openxmlformats.org/drawingml/2006/main">
            <a:off x="7429500" y="8239125"/>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6850B5"/>
          </a:solidFill>
          <a:ln xmlns:a="http://schemas.openxmlformats.org/drawingml/2006/main" w="9525">
            <a:solidFill>
              <a:srgbClr val="6850B5"/>
            </a:solidFill>
            <a:prstDash val="solid"/>
          </a:ln>
        </p:spPr>
      </p:sp>
      <p:sp>
        <p:nvSpPr>
          <p:cNvPr id="20" name="artifactory-path-19">
            <a:extLst xmlns:a="http://schemas.openxmlformats.org/drawingml/2006/main">
              <a:ext uri="{FF2B5EF4-FFF2-40B4-BE49-F238E27FC236}">
                <a16:creationId xmlns:a16="http://schemas.microsoft.com/office/drawing/2014/main" id="{055A5169-8C3D-439C-8AA1-CE7D0F8D1130}"/>
              </a:ext>
            </a:extLst>
          </p:cNvPr>
          <p:cNvSpPr>
            <a:spLocks xmlns:a="http://schemas.openxmlformats.org/drawingml/2006/main" noGrp="1"/>
          </p:cNvSpPr>
          <p:nvPr/>
        </p:nvSpPr>
        <p:spPr>
          <a:xfrm xmlns:a="http://schemas.openxmlformats.org/drawingml/2006/main">
            <a:off x="11201400" y="82867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6850B5"/>
            </a:solidFill>
            <a:prstDash val="dash"/>
          </a:ln>
        </p:spPr>
      </p:sp>
      <p:sp>
        <p:nvSpPr>
          <p:cNvPr id="21" name="artifactory-path-20">
            <a:extLst xmlns:a="http://schemas.openxmlformats.org/drawingml/2006/main">
              <a:ext uri="{FF2B5EF4-FFF2-40B4-BE49-F238E27FC236}">
                <a16:creationId xmlns:a16="http://schemas.microsoft.com/office/drawing/2014/main" id="{2E32D11B-E12D-464D-95E6-6934DA4C5B7F}"/>
              </a:ext>
            </a:extLst>
          </p:cNvPr>
          <p:cNvSpPr>
            <a:spLocks xmlns:a="http://schemas.openxmlformats.org/drawingml/2006/main" noGrp="1"/>
          </p:cNvSpPr>
          <p:nvPr/>
        </p:nvSpPr>
        <p:spPr>
          <a:xfrm xmlns:a="http://schemas.openxmlformats.org/drawingml/2006/main">
            <a:off x="11563350" y="8239125"/>
            <a:ext cx="95250" cy="95250"/>
          </a:xfrm>
          <a:custGeom xmlns:a="http://schemas.openxmlformats.org/drawingml/2006/main">
            <a:pathLst>
              <a:path w="95250" h="95250">
                <a:moveTo>
                  <a:pt x="95250" y="47625"/>
                </a:moveTo>
                <a:lnTo>
                  <a:pt x="0" y="95250"/>
                </a:lnTo>
                <a:lnTo>
                  <a:pt x="0" y="0"/>
                </a:lnTo>
                <a:close/>
              </a:path>
            </a:pathLst>
          </a:custGeom>
          <a:solidFill xmlns:a="http://schemas.openxmlformats.org/drawingml/2006/main">
            <a:srgbClr val="6850B5"/>
          </a:solidFill>
          <a:ln xmlns:a="http://schemas.openxmlformats.org/drawingml/2006/main" w="9525">
            <a:solidFill>
              <a:srgbClr val="6850B5"/>
            </a:solidFill>
            <a:prstDash val="solid"/>
          </a:ln>
        </p:spPr>
      </p:sp>
      <p:sp>
        <p:nvSpPr>
          <p:cNvPr id="22" name="artifactory-path-21">
            <a:extLst xmlns:a="http://schemas.openxmlformats.org/drawingml/2006/main">
              <a:ext uri="{FF2B5EF4-FFF2-40B4-BE49-F238E27FC236}">
                <a16:creationId xmlns:a16="http://schemas.microsoft.com/office/drawing/2014/main" id="{24A51783-FB2D-448E-A5E2-A5D53A1D0C9C}"/>
              </a:ext>
            </a:extLst>
          </p:cNvPr>
          <p:cNvSpPr>
            <a:spLocks xmlns:a="http://schemas.openxmlformats.org/drawingml/2006/main" noGrp="1"/>
          </p:cNvSpPr>
          <p:nvPr/>
        </p:nvSpPr>
        <p:spPr>
          <a:xfrm xmlns:a="http://schemas.openxmlformats.org/drawingml/2006/main">
            <a:off x="9363075" y="6019800"/>
            <a:ext cx="3714750" cy="1600200"/>
          </a:xfrm>
          <a:custGeom xmlns:a="http://schemas.openxmlformats.org/drawingml/2006/main">
            <a:pathLst>
              <a:path w="3714750" h="1600200">
                <a:moveTo>
                  <a:pt x="3714750" y="1600200"/>
                </a:moveTo>
                <a:lnTo>
                  <a:pt x="3714750" y="1019175"/>
                </a:lnTo>
                <a:lnTo>
                  <a:pt x="0" y="1019175"/>
                </a:lnTo>
                <a:lnTo>
                  <a:pt x="0" y="0"/>
                </a:lnTo>
              </a:path>
            </a:pathLst>
          </a:custGeom>
          <a:noFill xmlns:a="http://schemas.openxmlformats.org/drawingml/2006/main"/>
          <a:ln xmlns:a="http://schemas.openxmlformats.org/drawingml/2006/main" w="28575">
            <a:solidFill>
              <a:srgbClr val="6850B5"/>
            </a:solidFill>
            <a:prstDash val="dash"/>
          </a:ln>
        </p:spPr>
      </p:sp>
      <p:sp>
        <p:nvSpPr>
          <p:cNvPr id="23" name="artifactory-path-22">
            <a:extLst xmlns:a="http://schemas.openxmlformats.org/drawingml/2006/main">
              <a:ext uri="{FF2B5EF4-FFF2-40B4-BE49-F238E27FC236}">
                <a16:creationId xmlns:a16="http://schemas.microsoft.com/office/drawing/2014/main" id="{FFF78B22-B878-4863-992F-35ED654CB80A}"/>
              </a:ext>
            </a:extLst>
          </p:cNvPr>
          <p:cNvSpPr>
            <a:spLocks xmlns:a="http://schemas.openxmlformats.org/drawingml/2006/main" noGrp="1"/>
          </p:cNvSpPr>
          <p:nvPr/>
        </p:nvSpPr>
        <p:spPr>
          <a:xfrm xmlns:a="http://schemas.openxmlformats.org/drawingml/2006/main">
            <a:off x="9315450" y="6019800"/>
            <a:ext cx="95250" cy="95250"/>
          </a:xfrm>
          <a:custGeom xmlns:a="http://schemas.openxmlformats.org/drawingml/2006/main">
            <a:pathLst>
              <a:path w="95250" h="95250">
                <a:moveTo>
                  <a:pt x="47625" y="0"/>
                </a:moveTo>
                <a:lnTo>
                  <a:pt x="95250" y="95250"/>
                </a:lnTo>
                <a:lnTo>
                  <a:pt x="0" y="95250"/>
                </a:lnTo>
                <a:close/>
              </a:path>
            </a:pathLst>
          </a:custGeom>
          <a:solidFill xmlns:a="http://schemas.openxmlformats.org/drawingml/2006/main">
            <a:srgbClr val="6850B5"/>
          </a:solidFill>
          <a:ln xmlns:a="http://schemas.openxmlformats.org/drawingml/2006/main" w="9525">
            <a:solidFill>
              <a:srgbClr val="6850B5"/>
            </a:solidFill>
            <a:prstDash val="solid"/>
          </a:ln>
        </p:spPr>
      </p:sp>
      <p:sp>
        <p:nvSpPr>
          <p:cNvPr id="24" name="artifactory-path-23">
            <a:extLst xmlns:a="http://schemas.openxmlformats.org/drawingml/2006/main">
              <a:ext uri="{FF2B5EF4-FFF2-40B4-BE49-F238E27FC236}">
                <a16:creationId xmlns:a16="http://schemas.microsoft.com/office/drawing/2014/main" id="{EE0B3F97-6295-4EA9-BD9C-CE115A3D37D5}"/>
              </a:ext>
            </a:extLst>
          </p:cNvPr>
          <p:cNvSpPr>
            <a:spLocks xmlns:a="http://schemas.openxmlformats.org/drawingml/2006/main" noGrp="1"/>
          </p:cNvSpPr>
          <p:nvPr/>
        </p:nvSpPr>
        <p:spPr>
          <a:xfrm xmlns:a="http://schemas.openxmlformats.org/drawingml/2006/main">
            <a:off x="5638800" y="6019800"/>
            <a:ext cx="12211050" cy="3333750"/>
          </a:xfrm>
          <a:custGeom xmlns:a="http://schemas.openxmlformats.org/drawingml/2006/main">
            <a:pathLst>
              <a:path w="12211050" h="3333750">
                <a:moveTo>
                  <a:pt x="10677525" y="0"/>
                </a:moveTo>
                <a:lnTo>
                  <a:pt x="10677525" y="428625"/>
                </a:lnTo>
                <a:lnTo>
                  <a:pt x="12211050" y="428625"/>
                </a:lnTo>
                <a:lnTo>
                  <a:pt x="12211050" y="3333750"/>
                </a:lnTo>
                <a:lnTo>
                  <a:pt x="0" y="3333750"/>
                </a:lnTo>
                <a:lnTo>
                  <a:pt x="0" y="2952750"/>
                </a:lnTo>
              </a:path>
            </a:pathLst>
          </a:custGeom>
          <a:noFill xmlns:a="http://schemas.openxmlformats.org/drawingml/2006/main"/>
          <a:ln xmlns:a="http://schemas.openxmlformats.org/drawingml/2006/main" w="23813">
            <a:solidFill>
              <a:srgbClr val="7A8998"/>
            </a:solidFill>
            <a:prstDash val="dash"/>
          </a:ln>
        </p:spPr>
      </p:sp>
      <p:sp>
        <p:nvSpPr>
          <p:cNvPr id="25" name="artifactory-path-24">
            <a:extLst xmlns:a="http://schemas.openxmlformats.org/drawingml/2006/main">
              <a:ext uri="{FF2B5EF4-FFF2-40B4-BE49-F238E27FC236}">
                <a16:creationId xmlns:a16="http://schemas.microsoft.com/office/drawing/2014/main" id="{F73DDE4C-E84D-4CB0-8CBC-1B7219EEAC7B}"/>
              </a:ext>
            </a:extLst>
          </p:cNvPr>
          <p:cNvSpPr>
            <a:spLocks xmlns:a="http://schemas.openxmlformats.org/drawingml/2006/main" noGrp="1"/>
          </p:cNvSpPr>
          <p:nvPr/>
        </p:nvSpPr>
        <p:spPr>
          <a:xfrm xmlns:a="http://schemas.openxmlformats.org/drawingml/2006/main">
            <a:off x="5591175" y="8972550"/>
            <a:ext cx="95250" cy="95250"/>
          </a:xfrm>
          <a:custGeom xmlns:a="http://schemas.openxmlformats.org/drawingml/2006/main">
            <a:pathLst>
              <a:path w="95250" h="95250">
                <a:moveTo>
                  <a:pt x="47625" y="0"/>
                </a:moveTo>
                <a:lnTo>
                  <a:pt x="95250" y="95250"/>
                </a:lnTo>
                <a:lnTo>
                  <a:pt x="0" y="95250"/>
                </a:lnTo>
                <a:close/>
              </a:path>
            </a:pathLst>
          </a:custGeom>
          <a:solidFill xmlns:a="http://schemas.openxmlformats.org/drawingml/2006/main">
            <a:srgbClr val="7A8998"/>
          </a:solidFill>
          <a:ln xmlns:a="http://schemas.openxmlformats.org/drawingml/2006/main" w="9525">
            <a:solidFill>
              <a:srgbClr val="7A8998"/>
            </a:solidFill>
            <a:prstDash val="solid"/>
          </a:ln>
        </p:spPr>
      </p:sp>
      <p:sp>
        <p:nvSpPr>
          <p:cNvPr id="26" name="artifactory-text-25">
            <a:extLst xmlns:a="http://schemas.openxmlformats.org/drawingml/2006/main">
              <a:ext uri="{FF2B5EF4-FFF2-40B4-BE49-F238E27FC236}">
                <a16:creationId xmlns:a16="http://schemas.microsoft.com/office/drawing/2014/main" id="{47C955B9-A82F-41B0-AF5C-4EDB3F6587E1}"/>
              </a:ext>
            </a:extLst>
          </p:cNvPr>
          <p:cNvSpPr>
            <a:spLocks xmlns:a="http://schemas.openxmlformats.org/drawingml/2006/main" noGrp="1"/>
          </p:cNvSpPr>
          <p:nvPr/>
        </p:nvSpPr>
        <p:spPr>
          <a:xfrm xmlns:a="http://schemas.openxmlformats.org/drawingml/2006/main">
            <a:off x="609600" y="457200"/>
            <a:ext cx="13811250" cy="691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125" b="1">
                <a:solidFill>
                  <a:srgbClr val="142A3D"/>
                </a:solidFill>
                <a:latin typeface="DejaVu Sans"/>
                <a:ea typeface="DejaVu Sans"/>
                <a:cs typeface="DejaVu Sans"/>
              </a:defRPr>
            </a:pPr>
            <a:r>
              <a:rPr sz="4125" b="1">
                <a:solidFill>
                  <a:srgbClr val="142A3D"/>
                </a:solidFill>
                <a:latin typeface="DejaVu Sans"/>
                <a:ea typeface="DejaVu Sans"/>
                <a:cs typeface="DejaVu Sans"/>
              </a:rPr>
              <a:t>Artifactory outage prediction</a:t>
            </a:r>
          </a:p>
        </p:txBody>
      </p:sp>
      <p:sp>
        <p:nvSpPr>
          <p:cNvPr id="27" name="artifactory-text-26">
            <a:extLst xmlns:a="http://schemas.openxmlformats.org/drawingml/2006/main">
              <a:ext uri="{FF2B5EF4-FFF2-40B4-BE49-F238E27FC236}">
                <a16:creationId xmlns:a16="http://schemas.microsoft.com/office/drawing/2014/main" id="{D14BCC1D-A17F-483D-899A-458E135C8698}"/>
              </a:ext>
            </a:extLst>
          </p:cNvPr>
          <p:cNvSpPr>
            <a:spLocks xmlns:a="http://schemas.openxmlformats.org/drawingml/2006/main" noGrp="1"/>
          </p:cNvSpPr>
          <p:nvPr/>
        </p:nvSpPr>
        <p:spPr>
          <a:xfrm xmlns:a="http://schemas.openxmlformats.org/drawingml/2006/main">
            <a:off x="609600" y="1123950"/>
            <a:ext cx="1457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46779"/>
                </a:solidFill>
                <a:latin typeface="DejaVu Sans"/>
                <a:ea typeface="DejaVu Sans"/>
                <a:cs typeface="DejaVu Sans"/>
              </a:defRPr>
            </a:pPr>
            <a:r>
              <a:rPr sz="1875" b="0">
                <a:solidFill>
                  <a:srgbClr val="546779"/>
                </a:solidFill>
                <a:latin typeface="DejaVu Sans"/>
                <a:ea typeface="DejaVu Sans"/>
                <a:cs typeface="DejaVu Sans"/>
              </a:rPr>
              <a:t>Early warning for artifact availability, storage and dependency downloads</a:t>
            </a:r>
          </a:p>
        </p:txBody>
      </p:sp>
      <p:sp>
        <p:nvSpPr>
          <p:cNvPr id="28" name="artifactory-text-27">
            <a:extLst xmlns:a="http://schemas.openxmlformats.org/drawingml/2006/main">
              <a:ext uri="{FF2B5EF4-FFF2-40B4-BE49-F238E27FC236}">
                <a16:creationId xmlns:a16="http://schemas.microsoft.com/office/drawing/2014/main" id="{73BE0F9B-731F-4843-9E95-24CF33324039}"/>
              </a:ext>
            </a:extLst>
          </p:cNvPr>
          <p:cNvSpPr>
            <a:spLocks xmlns:a="http://schemas.openxmlformats.org/drawingml/2006/main" noGrp="1"/>
          </p:cNvSpPr>
          <p:nvPr/>
        </p:nvSpPr>
        <p:spPr>
          <a:xfrm xmlns:a="http://schemas.openxmlformats.org/drawingml/2006/main">
            <a:off x="15144750" y="600075"/>
            <a:ext cx="25336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546779"/>
                </a:solidFill>
                <a:latin typeface="DejaVu Sans"/>
                <a:ea typeface="DejaVu Sans"/>
                <a:cs typeface="DejaVu Sans"/>
              </a:defRPr>
            </a:pPr>
            <a:r>
              <a:rPr sz="1500" b="1">
                <a:solidFill>
                  <a:srgbClr val="546779"/>
                </a:solidFill>
                <a:latin typeface="DejaVu Sans"/>
                <a:ea typeface="DejaVu Sans"/>
                <a:cs typeface="DejaVu Sans"/>
              </a:rPr>
              <a:t>PROPOSED PILOT</a:t>
            </a:r>
          </a:p>
        </p:txBody>
      </p:sp>
      <p:sp>
        <p:nvSpPr>
          <p:cNvPr id="29" name="artifactory-path-28">
            <a:extLst xmlns:a="http://schemas.openxmlformats.org/drawingml/2006/main">
              <a:ext uri="{FF2B5EF4-FFF2-40B4-BE49-F238E27FC236}">
                <a16:creationId xmlns:a16="http://schemas.microsoft.com/office/drawing/2014/main" id="{EFD0D742-E419-4166-8E72-EC58B863825C}"/>
              </a:ext>
            </a:extLst>
          </p:cNvPr>
          <p:cNvSpPr>
            <a:spLocks xmlns:a="http://schemas.openxmlformats.org/drawingml/2006/main" noGrp="1"/>
          </p:cNvSpPr>
          <p:nvPr/>
        </p:nvSpPr>
        <p:spPr>
          <a:xfrm xmlns:a="http://schemas.openxmlformats.org/drawingml/2006/main">
            <a:off x="609600" y="1543050"/>
            <a:ext cx="17068800" cy="9525"/>
          </a:xfrm>
          <a:custGeom xmlns:a="http://schemas.openxmlformats.org/drawingml/2006/main">
            <a:pathLst>
              <a:path w="17068800" h="9525">
                <a:moveTo>
                  <a:pt x="0" y="0"/>
                </a:moveTo>
                <a:lnTo>
                  <a:pt x="17068800" y="0"/>
                </a:lnTo>
              </a:path>
            </a:pathLst>
          </a:custGeom>
          <a:noFill xmlns:a="http://schemas.openxmlformats.org/drawingml/2006/main"/>
          <a:ln xmlns:a="http://schemas.openxmlformats.org/drawingml/2006/main" w="15240">
            <a:solidFill>
              <a:srgbClr val="D7E0E9"/>
            </a:solidFill>
            <a:prstDash val="solid"/>
          </a:ln>
        </p:spPr>
      </p:sp>
      <p:sp>
        <p:nvSpPr>
          <p:cNvPr id="30" name="artifactory-circle-29">
            <a:extLst xmlns:a="http://schemas.openxmlformats.org/drawingml/2006/main">
              <a:ext uri="{FF2B5EF4-FFF2-40B4-BE49-F238E27FC236}">
                <a16:creationId xmlns:a16="http://schemas.microsoft.com/office/drawing/2014/main" id="{AAFAB1F5-063B-4C05-8146-1C5BA2A181D0}"/>
              </a:ext>
            </a:extLst>
          </p:cNvPr>
          <p:cNvSpPr>
            <a:spLocks xmlns:a="http://schemas.openxmlformats.org/drawingml/2006/main" noGrp="1"/>
          </p:cNvSpPr>
          <p:nvPr/>
        </p:nvSpPr>
        <p:spPr>
          <a:xfrm xmlns:a="http://schemas.openxmlformats.org/drawingml/2006/main">
            <a:off x="609600" y="1724025"/>
            <a:ext cx="304800" cy="304800"/>
          </a:xfrm>
          <a:prstGeom xmlns:a="http://schemas.openxmlformats.org/drawingml/2006/main" prst="ellipse">
            <a:avLst/>
          </a:prstGeom>
          <a:solidFill xmlns:a="http://schemas.openxmlformats.org/drawingml/2006/main">
            <a:srgbClr val="23649F"/>
          </a:solidFill>
          <a:ln xmlns:a="http://schemas.openxmlformats.org/drawingml/2006/main" w="9525">
            <a:noFill/>
          </a:ln>
        </p:spPr>
      </p:sp>
      <p:sp>
        <p:nvSpPr>
          <p:cNvPr id="31" name="artifactory-text-30">
            <a:extLst xmlns:a="http://schemas.openxmlformats.org/drawingml/2006/main">
              <a:ext uri="{FF2B5EF4-FFF2-40B4-BE49-F238E27FC236}">
                <a16:creationId xmlns:a16="http://schemas.microsoft.com/office/drawing/2014/main" id="{034C72D5-A700-4465-8524-C7DF7AFF4BBD}"/>
              </a:ext>
            </a:extLst>
          </p:cNvPr>
          <p:cNvSpPr>
            <a:spLocks xmlns:a="http://schemas.openxmlformats.org/drawingml/2006/main" noGrp="1"/>
          </p:cNvSpPr>
          <p:nvPr/>
        </p:nvSpPr>
        <p:spPr>
          <a:xfrm xmlns:a="http://schemas.openxmlformats.org/drawingml/2006/main">
            <a:off x="638175" y="1743075"/>
            <a:ext cx="2476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1</a:t>
            </a:r>
          </a:p>
        </p:txBody>
      </p:sp>
      <p:sp>
        <p:nvSpPr>
          <p:cNvPr id="32" name="artifactory-text-31">
            <a:extLst xmlns:a="http://schemas.openxmlformats.org/drawingml/2006/main">
              <a:ext uri="{FF2B5EF4-FFF2-40B4-BE49-F238E27FC236}">
                <a16:creationId xmlns:a16="http://schemas.microsoft.com/office/drawing/2014/main" id="{A7B7A47F-C9C8-4978-98FC-F79A53DC9682}"/>
              </a:ext>
            </a:extLst>
          </p:cNvPr>
          <p:cNvSpPr>
            <a:spLocks xmlns:a="http://schemas.openxmlformats.org/drawingml/2006/main" noGrp="1"/>
          </p:cNvSpPr>
          <p:nvPr/>
        </p:nvSpPr>
        <p:spPr>
          <a:xfrm xmlns:a="http://schemas.openxmlformats.org/drawingml/2006/main">
            <a:off x="1038225" y="1724025"/>
            <a:ext cx="271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23649F"/>
                </a:solidFill>
                <a:latin typeface="DejaVu Sans"/>
                <a:ea typeface="DejaVu Sans"/>
                <a:cs typeface="DejaVu Sans"/>
              </a:defRPr>
            </a:pPr>
            <a:r>
              <a:rPr sz="1875" b="1">
                <a:solidFill>
                  <a:srgbClr val="23649F"/>
                </a:solidFill>
                <a:latin typeface="DejaVu Sans"/>
                <a:ea typeface="DejaVu Sans"/>
                <a:cs typeface="DejaVu Sans"/>
              </a:rPr>
              <a:t>Signals</a:t>
            </a:r>
          </a:p>
        </p:txBody>
      </p:sp>
      <p:sp>
        <p:nvSpPr>
          <p:cNvPr id="33" name="artifactory-circle-32">
            <a:extLst xmlns:a="http://schemas.openxmlformats.org/drawingml/2006/main">
              <a:ext uri="{FF2B5EF4-FFF2-40B4-BE49-F238E27FC236}">
                <a16:creationId xmlns:a16="http://schemas.microsoft.com/office/drawing/2014/main" id="{2F4C930C-7DFC-4CD1-AC22-13AA30BCFB15}"/>
              </a:ext>
            </a:extLst>
          </p:cNvPr>
          <p:cNvSpPr>
            <a:spLocks xmlns:a="http://schemas.openxmlformats.org/drawingml/2006/main" noGrp="1"/>
          </p:cNvSpPr>
          <p:nvPr/>
        </p:nvSpPr>
        <p:spPr>
          <a:xfrm xmlns:a="http://schemas.openxmlformats.org/drawingml/2006/main">
            <a:off x="4210050" y="1724025"/>
            <a:ext cx="304800" cy="304800"/>
          </a:xfrm>
          <a:prstGeom xmlns:a="http://schemas.openxmlformats.org/drawingml/2006/main" prst="ellipse">
            <a:avLst/>
          </a:prstGeom>
          <a:solidFill xmlns:a="http://schemas.openxmlformats.org/drawingml/2006/main">
            <a:srgbClr val="157F82"/>
          </a:solidFill>
          <a:ln xmlns:a="http://schemas.openxmlformats.org/drawingml/2006/main" w="9525">
            <a:noFill/>
          </a:ln>
        </p:spPr>
      </p:sp>
      <p:sp>
        <p:nvSpPr>
          <p:cNvPr id="34" name="artifactory-text-33">
            <a:extLst xmlns:a="http://schemas.openxmlformats.org/drawingml/2006/main">
              <a:ext uri="{FF2B5EF4-FFF2-40B4-BE49-F238E27FC236}">
                <a16:creationId xmlns:a16="http://schemas.microsoft.com/office/drawing/2014/main" id="{BFBF326A-D77D-44B9-8B4C-740CD2232C9D}"/>
              </a:ext>
            </a:extLst>
          </p:cNvPr>
          <p:cNvSpPr>
            <a:spLocks xmlns:a="http://schemas.openxmlformats.org/drawingml/2006/main" noGrp="1"/>
          </p:cNvSpPr>
          <p:nvPr/>
        </p:nvSpPr>
        <p:spPr>
          <a:xfrm xmlns:a="http://schemas.openxmlformats.org/drawingml/2006/main">
            <a:off x="4238625" y="1743075"/>
            <a:ext cx="2476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2</a:t>
            </a:r>
          </a:p>
        </p:txBody>
      </p:sp>
      <p:sp>
        <p:nvSpPr>
          <p:cNvPr id="35" name="artifactory-text-34">
            <a:extLst xmlns:a="http://schemas.openxmlformats.org/drawingml/2006/main">
              <a:ext uri="{FF2B5EF4-FFF2-40B4-BE49-F238E27FC236}">
                <a16:creationId xmlns:a16="http://schemas.microsoft.com/office/drawing/2014/main" id="{7FF5005A-BB3C-4AD1-9FFD-E27D274C98BB}"/>
              </a:ext>
            </a:extLst>
          </p:cNvPr>
          <p:cNvSpPr>
            <a:spLocks xmlns:a="http://schemas.openxmlformats.org/drawingml/2006/main" noGrp="1"/>
          </p:cNvSpPr>
          <p:nvPr/>
        </p:nvSpPr>
        <p:spPr>
          <a:xfrm xmlns:a="http://schemas.openxmlformats.org/drawingml/2006/main">
            <a:off x="4638675" y="1724025"/>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57F82"/>
                </a:solidFill>
                <a:latin typeface="DejaVu Sans"/>
                <a:ea typeface="DejaVu Sans"/>
                <a:cs typeface="DejaVu Sans"/>
              </a:defRPr>
            </a:pPr>
            <a:r>
              <a:rPr sz="1875" b="1">
                <a:solidFill>
                  <a:srgbClr val="157F82"/>
                </a:solidFill>
                <a:latin typeface="DejaVu Sans"/>
                <a:ea typeface="DejaVu Sans"/>
                <a:cs typeface="DejaVu Sans"/>
              </a:rPr>
              <a:t>Collect &amp; prepare</a:t>
            </a:r>
          </a:p>
        </p:txBody>
      </p:sp>
      <p:sp>
        <p:nvSpPr>
          <p:cNvPr id="36" name="artifactory-circle-35">
            <a:extLst xmlns:a="http://schemas.openxmlformats.org/drawingml/2006/main">
              <a:ext uri="{FF2B5EF4-FFF2-40B4-BE49-F238E27FC236}">
                <a16:creationId xmlns:a16="http://schemas.microsoft.com/office/drawing/2014/main" id="{6EF40387-1B98-4FE6-9D41-44DB6A1FF954}"/>
              </a:ext>
            </a:extLst>
          </p:cNvPr>
          <p:cNvSpPr>
            <a:spLocks xmlns:a="http://schemas.openxmlformats.org/drawingml/2006/main" noGrp="1"/>
          </p:cNvSpPr>
          <p:nvPr/>
        </p:nvSpPr>
        <p:spPr>
          <a:xfrm xmlns:a="http://schemas.openxmlformats.org/drawingml/2006/main">
            <a:off x="7524750" y="1724025"/>
            <a:ext cx="304800" cy="304800"/>
          </a:xfrm>
          <a:prstGeom xmlns:a="http://schemas.openxmlformats.org/drawingml/2006/main" prst="ellipse">
            <a:avLst/>
          </a:prstGeom>
          <a:solidFill xmlns:a="http://schemas.openxmlformats.org/drawingml/2006/main">
            <a:srgbClr val="6850B5"/>
          </a:solidFill>
          <a:ln xmlns:a="http://schemas.openxmlformats.org/drawingml/2006/main" w="9525">
            <a:noFill/>
          </a:ln>
        </p:spPr>
      </p:sp>
      <p:sp>
        <p:nvSpPr>
          <p:cNvPr id="37" name="artifactory-text-36">
            <a:extLst xmlns:a="http://schemas.openxmlformats.org/drawingml/2006/main">
              <a:ext uri="{FF2B5EF4-FFF2-40B4-BE49-F238E27FC236}">
                <a16:creationId xmlns:a16="http://schemas.microsoft.com/office/drawing/2014/main" id="{6568F4FF-5833-46C0-8F57-84EEEBED8322}"/>
              </a:ext>
            </a:extLst>
          </p:cNvPr>
          <p:cNvSpPr>
            <a:spLocks xmlns:a="http://schemas.openxmlformats.org/drawingml/2006/main" noGrp="1"/>
          </p:cNvSpPr>
          <p:nvPr/>
        </p:nvSpPr>
        <p:spPr>
          <a:xfrm xmlns:a="http://schemas.openxmlformats.org/drawingml/2006/main">
            <a:off x="7553325" y="1743075"/>
            <a:ext cx="2476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3</a:t>
            </a:r>
          </a:p>
        </p:txBody>
      </p:sp>
      <p:sp>
        <p:nvSpPr>
          <p:cNvPr id="38" name="artifactory-text-37">
            <a:extLst xmlns:a="http://schemas.openxmlformats.org/drawingml/2006/main">
              <a:ext uri="{FF2B5EF4-FFF2-40B4-BE49-F238E27FC236}">
                <a16:creationId xmlns:a16="http://schemas.microsoft.com/office/drawing/2014/main" id="{D7C5B9B8-BD5D-4263-B59F-E75A7B899F4A}"/>
              </a:ext>
            </a:extLst>
          </p:cNvPr>
          <p:cNvSpPr>
            <a:spLocks xmlns:a="http://schemas.openxmlformats.org/drawingml/2006/main" noGrp="1"/>
          </p:cNvSpPr>
          <p:nvPr/>
        </p:nvSpPr>
        <p:spPr>
          <a:xfrm xmlns:a="http://schemas.openxmlformats.org/drawingml/2006/main">
            <a:off x="7953375" y="1724025"/>
            <a:ext cx="3248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6850B5"/>
                </a:solidFill>
                <a:latin typeface="DejaVu Sans"/>
                <a:ea typeface="DejaVu Sans"/>
                <a:cs typeface="DejaVu Sans"/>
              </a:defRPr>
            </a:pPr>
            <a:r>
              <a:rPr sz="1875" b="1">
                <a:solidFill>
                  <a:srgbClr val="6850B5"/>
                </a:solidFill>
                <a:latin typeface="DejaVu Sans"/>
                <a:ea typeface="DejaVu Sans"/>
                <a:cs typeface="DejaVu Sans"/>
              </a:rPr>
              <a:t>ML forecast</a:t>
            </a:r>
          </a:p>
        </p:txBody>
      </p:sp>
      <p:sp>
        <p:nvSpPr>
          <p:cNvPr id="39" name="artifactory-circle-38">
            <a:extLst xmlns:a="http://schemas.openxmlformats.org/drawingml/2006/main">
              <a:ext uri="{FF2B5EF4-FFF2-40B4-BE49-F238E27FC236}">
                <a16:creationId xmlns:a16="http://schemas.microsoft.com/office/drawing/2014/main" id="{02C5FD54-470D-4789-9E89-301A70862C66}"/>
              </a:ext>
            </a:extLst>
          </p:cNvPr>
          <p:cNvSpPr>
            <a:spLocks xmlns:a="http://schemas.openxmlformats.org/drawingml/2006/main" noGrp="1"/>
          </p:cNvSpPr>
          <p:nvPr/>
        </p:nvSpPr>
        <p:spPr>
          <a:xfrm xmlns:a="http://schemas.openxmlformats.org/drawingml/2006/main">
            <a:off x="11658600" y="1724025"/>
            <a:ext cx="304800" cy="304800"/>
          </a:xfrm>
          <a:prstGeom xmlns:a="http://schemas.openxmlformats.org/drawingml/2006/main" prst="ellipse">
            <a:avLst/>
          </a:prstGeom>
          <a:solidFill xmlns:a="http://schemas.openxmlformats.org/drawingml/2006/main">
            <a:srgbClr val="C75F32"/>
          </a:solidFill>
          <a:ln xmlns:a="http://schemas.openxmlformats.org/drawingml/2006/main" w="9525">
            <a:noFill/>
          </a:ln>
        </p:spPr>
      </p:sp>
      <p:sp>
        <p:nvSpPr>
          <p:cNvPr id="40" name="artifactory-text-39">
            <a:extLst xmlns:a="http://schemas.openxmlformats.org/drawingml/2006/main">
              <a:ext uri="{FF2B5EF4-FFF2-40B4-BE49-F238E27FC236}">
                <a16:creationId xmlns:a16="http://schemas.microsoft.com/office/drawing/2014/main" id="{D41DF322-536E-4C8D-84B0-83CD4A2688D3}"/>
              </a:ext>
            </a:extLst>
          </p:cNvPr>
          <p:cNvSpPr>
            <a:spLocks xmlns:a="http://schemas.openxmlformats.org/drawingml/2006/main" noGrp="1"/>
          </p:cNvSpPr>
          <p:nvPr/>
        </p:nvSpPr>
        <p:spPr>
          <a:xfrm xmlns:a="http://schemas.openxmlformats.org/drawingml/2006/main">
            <a:off x="11687175" y="1743075"/>
            <a:ext cx="2476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4</a:t>
            </a:r>
          </a:p>
        </p:txBody>
      </p:sp>
      <p:sp>
        <p:nvSpPr>
          <p:cNvPr id="41" name="artifactory-text-40">
            <a:extLst xmlns:a="http://schemas.openxmlformats.org/drawingml/2006/main">
              <a:ext uri="{FF2B5EF4-FFF2-40B4-BE49-F238E27FC236}">
                <a16:creationId xmlns:a16="http://schemas.microsoft.com/office/drawing/2014/main" id="{7BA83438-099D-4D82-819A-24734F866770}"/>
              </a:ext>
            </a:extLst>
          </p:cNvPr>
          <p:cNvSpPr>
            <a:spLocks xmlns:a="http://schemas.openxmlformats.org/drawingml/2006/main" noGrp="1"/>
          </p:cNvSpPr>
          <p:nvPr/>
        </p:nvSpPr>
        <p:spPr>
          <a:xfrm xmlns:a="http://schemas.openxmlformats.org/drawingml/2006/main">
            <a:off x="12087225" y="1724025"/>
            <a:ext cx="2409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C75F32"/>
                </a:solidFill>
                <a:latin typeface="DejaVu Sans"/>
                <a:ea typeface="DejaVu Sans"/>
                <a:cs typeface="DejaVu Sans"/>
              </a:defRPr>
            </a:pPr>
            <a:r>
              <a:rPr sz="1875" b="1">
                <a:solidFill>
                  <a:srgbClr val="C75F32"/>
                </a:solidFill>
                <a:latin typeface="DejaVu Sans"/>
                <a:ea typeface="DejaVu Sans"/>
                <a:cs typeface="DejaVu Sans"/>
              </a:rPr>
              <a:t>Outage risk</a:t>
            </a:r>
          </a:p>
        </p:txBody>
      </p:sp>
      <p:sp>
        <p:nvSpPr>
          <p:cNvPr id="42" name="artifactory-circle-41">
            <a:extLst xmlns:a="http://schemas.openxmlformats.org/drawingml/2006/main">
              <a:ext uri="{FF2B5EF4-FFF2-40B4-BE49-F238E27FC236}">
                <a16:creationId xmlns:a16="http://schemas.microsoft.com/office/drawing/2014/main" id="{4C0B7A92-EA7C-400B-9C73-FF667892306A}"/>
              </a:ext>
            </a:extLst>
          </p:cNvPr>
          <p:cNvSpPr>
            <a:spLocks xmlns:a="http://schemas.openxmlformats.org/drawingml/2006/main" noGrp="1"/>
          </p:cNvSpPr>
          <p:nvPr/>
        </p:nvSpPr>
        <p:spPr>
          <a:xfrm xmlns:a="http://schemas.openxmlformats.org/drawingml/2006/main">
            <a:off x="14954250" y="1724025"/>
            <a:ext cx="304800" cy="304800"/>
          </a:xfrm>
          <a:prstGeom xmlns:a="http://schemas.openxmlformats.org/drawingml/2006/main" prst="ellipse">
            <a:avLst/>
          </a:prstGeom>
          <a:solidFill xmlns:a="http://schemas.openxmlformats.org/drawingml/2006/main">
            <a:srgbClr val="142A3D"/>
          </a:solidFill>
          <a:ln xmlns:a="http://schemas.openxmlformats.org/drawingml/2006/main" w="9525">
            <a:noFill/>
          </a:ln>
        </p:spPr>
      </p:sp>
      <p:sp>
        <p:nvSpPr>
          <p:cNvPr id="43" name="artifactory-text-42">
            <a:extLst xmlns:a="http://schemas.openxmlformats.org/drawingml/2006/main">
              <a:ext uri="{FF2B5EF4-FFF2-40B4-BE49-F238E27FC236}">
                <a16:creationId xmlns:a16="http://schemas.microsoft.com/office/drawing/2014/main" id="{E2F935DD-224B-4C96-866F-6A5CA7B54EE2}"/>
              </a:ext>
            </a:extLst>
          </p:cNvPr>
          <p:cNvSpPr>
            <a:spLocks xmlns:a="http://schemas.openxmlformats.org/drawingml/2006/main" noGrp="1"/>
          </p:cNvSpPr>
          <p:nvPr/>
        </p:nvSpPr>
        <p:spPr>
          <a:xfrm xmlns:a="http://schemas.openxmlformats.org/drawingml/2006/main">
            <a:off x="14982825" y="1743075"/>
            <a:ext cx="2476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5</a:t>
            </a:r>
          </a:p>
        </p:txBody>
      </p:sp>
      <p:sp>
        <p:nvSpPr>
          <p:cNvPr id="44" name="artifactory-text-43">
            <a:extLst xmlns:a="http://schemas.openxmlformats.org/drawingml/2006/main">
              <a:ext uri="{FF2B5EF4-FFF2-40B4-BE49-F238E27FC236}">
                <a16:creationId xmlns:a16="http://schemas.microsoft.com/office/drawing/2014/main" id="{ECD8FFBB-CF86-4670-8400-1BD9B203076E}"/>
              </a:ext>
            </a:extLst>
          </p:cNvPr>
          <p:cNvSpPr>
            <a:spLocks xmlns:a="http://schemas.openxmlformats.org/drawingml/2006/main" noGrp="1"/>
          </p:cNvSpPr>
          <p:nvPr/>
        </p:nvSpPr>
        <p:spPr>
          <a:xfrm xmlns:a="http://schemas.openxmlformats.org/drawingml/2006/main">
            <a:off x="15382875" y="1724025"/>
            <a:ext cx="2295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42A3D"/>
                </a:solidFill>
                <a:latin typeface="DejaVu Sans"/>
                <a:ea typeface="DejaVu Sans"/>
                <a:cs typeface="DejaVu Sans"/>
              </a:defRPr>
            </a:pPr>
            <a:r>
              <a:rPr sz="1875" b="1">
                <a:solidFill>
                  <a:srgbClr val="142A3D"/>
                </a:solidFill>
                <a:latin typeface="DejaVu Sans"/>
                <a:ea typeface="DejaVu Sans"/>
                <a:cs typeface="DejaVu Sans"/>
              </a:rPr>
              <a:t>Respond</a:t>
            </a:r>
          </a:p>
        </p:txBody>
      </p:sp>
      <p:sp>
        <p:nvSpPr>
          <p:cNvPr id="45" name="artifactory-rect-44">
            <a:extLst xmlns:a="http://schemas.openxmlformats.org/drawingml/2006/main">
              <a:ext uri="{FF2B5EF4-FFF2-40B4-BE49-F238E27FC236}">
                <a16:creationId xmlns:a16="http://schemas.microsoft.com/office/drawing/2014/main" id="{030229B2-9A3F-43FF-A214-B5F1997B39E1}"/>
              </a:ext>
            </a:extLst>
          </p:cNvPr>
          <p:cNvSpPr>
            <a:spLocks xmlns:a="http://schemas.openxmlformats.org/drawingml/2006/main" noGrp="1"/>
          </p:cNvSpPr>
          <p:nvPr/>
        </p:nvSpPr>
        <p:spPr>
          <a:xfrm xmlns:a="http://schemas.openxmlformats.org/drawingml/2006/main">
            <a:off x="609600" y="2171700"/>
            <a:ext cx="3143250" cy="962025"/>
          </a:xfrm>
          <a:prstGeom xmlns:a="http://schemas.openxmlformats.org/drawingml/2006/main" prst="roundRect">
            <a:avLst>
              <a:gd name="adj" fmla="val 9901"/>
            </a:avLst>
          </a:prstGeom>
          <a:solidFill xmlns:a="http://schemas.openxmlformats.org/drawingml/2006/main">
            <a:srgbClr val="FFFFFF"/>
          </a:solidFill>
          <a:ln xmlns:a="http://schemas.openxmlformats.org/drawingml/2006/main" w="14288">
            <a:solidFill>
              <a:srgbClr val="D7E0E9"/>
            </a:solidFill>
          </a:ln>
        </p:spPr>
      </p:sp>
      <p:sp>
        <p:nvSpPr>
          <p:cNvPr id="46" name="artifactory-rect-45">
            <a:extLst xmlns:a="http://schemas.openxmlformats.org/drawingml/2006/main">
              <a:ext uri="{FF2B5EF4-FFF2-40B4-BE49-F238E27FC236}">
                <a16:creationId xmlns:a16="http://schemas.microsoft.com/office/drawing/2014/main" id="{3DA0168F-82A6-4750-840C-838C76C7FFF8}"/>
              </a:ext>
            </a:extLst>
          </p:cNvPr>
          <p:cNvSpPr>
            <a:spLocks xmlns:a="http://schemas.openxmlformats.org/drawingml/2006/main" noGrp="1"/>
          </p:cNvSpPr>
          <p:nvPr/>
        </p:nvSpPr>
        <p:spPr>
          <a:xfrm xmlns:a="http://schemas.openxmlformats.org/drawingml/2006/main">
            <a:off x="609600" y="2171700"/>
            <a:ext cx="47625" cy="962025"/>
          </a:xfrm>
          <a:prstGeom xmlns:a="http://schemas.openxmlformats.org/drawingml/2006/main" prst="roundRect">
            <a:avLst>
              <a:gd name="adj" fmla="val 0"/>
            </a:avLst>
          </a:prstGeom>
          <a:solidFill xmlns:a="http://schemas.openxmlformats.org/drawingml/2006/main">
            <a:srgbClr val="23649F"/>
          </a:solidFill>
          <a:ln xmlns:a="http://schemas.openxmlformats.org/drawingml/2006/main" w="0">
            <a:noFill/>
          </a:ln>
        </p:spPr>
      </p:sp>
      <p:sp>
        <p:nvSpPr>
          <p:cNvPr id="47" name="artifactory-text-46">
            <a:extLst xmlns:a="http://schemas.openxmlformats.org/drawingml/2006/main">
              <a:ext uri="{FF2B5EF4-FFF2-40B4-BE49-F238E27FC236}">
                <a16:creationId xmlns:a16="http://schemas.microsoft.com/office/drawing/2014/main" id="{D99A30AF-FEF2-4FB8-ACBC-0AF882174FB5}"/>
              </a:ext>
            </a:extLst>
          </p:cNvPr>
          <p:cNvSpPr>
            <a:spLocks xmlns:a="http://schemas.openxmlformats.org/drawingml/2006/main" noGrp="1"/>
          </p:cNvSpPr>
          <p:nvPr/>
        </p:nvSpPr>
        <p:spPr>
          <a:xfrm xmlns:a="http://schemas.openxmlformats.org/drawingml/2006/main">
            <a:off x="790575" y="2295525"/>
            <a:ext cx="281940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42A3D"/>
                </a:solidFill>
                <a:latin typeface="DejaVu Sans"/>
                <a:ea typeface="DejaVu Sans"/>
                <a:cs typeface="DejaVu Sans"/>
              </a:defRPr>
            </a:pPr>
            <a:r>
              <a:rPr sz="1725" b="1">
                <a:solidFill>
                  <a:srgbClr val="142A3D"/>
                </a:solidFill>
                <a:latin typeface="DejaVu Sans"/>
                <a:ea typeface="DejaVu Sans"/>
                <a:cs typeface="DejaVu Sans"/>
              </a:rPr>
              <a:t>Artifactory telemetry</a:t>
            </a:r>
          </a:p>
        </p:txBody>
      </p:sp>
      <p:sp>
        <p:nvSpPr>
          <p:cNvPr id="48" name="artifactory-text-47">
            <a:extLst xmlns:a="http://schemas.openxmlformats.org/drawingml/2006/main">
              <a:ext uri="{FF2B5EF4-FFF2-40B4-BE49-F238E27FC236}">
                <a16:creationId xmlns:a16="http://schemas.microsoft.com/office/drawing/2014/main" id="{E879BD84-D384-496F-B735-3B3D1F77D495}"/>
              </a:ext>
            </a:extLst>
          </p:cNvPr>
          <p:cNvSpPr>
            <a:spLocks xmlns:a="http://schemas.openxmlformats.org/drawingml/2006/main" noGrp="1"/>
          </p:cNvSpPr>
          <p:nvPr/>
        </p:nvSpPr>
        <p:spPr>
          <a:xfrm xmlns:a="http://schemas.openxmlformats.org/drawingml/2006/main">
            <a:off x="790575" y="2609850"/>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OpenMetrics + request logs</a:t>
            </a:r>
          </a:p>
        </p:txBody>
      </p:sp>
      <p:sp>
        <p:nvSpPr>
          <p:cNvPr id="49" name="artifactory-text-48">
            <a:extLst xmlns:a="http://schemas.openxmlformats.org/drawingml/2006/main">
              <a:ext uri="{FF2B5EF4-FFF2-40B4-BE49-F238E27FC236}">
                <a16:creationId xmlns:a16="http://schemas.microsoft.com/office/drawing/2014/main" id="{7A83AE85-45C8-406B-8EF8-B406AF8B9D78}"/>
              </a:ext>
            </a:extLst>
          </p:cNvPr>
          <p:cNvSpPr>
            <a:spLocks xmlns:a="http://schemas.openxmlformats.org/drawingml/2006/main" noGrp="1"/>
          </p:cNvSpPr>
          <p:nvPr/>
        </p:nvSpPr>
        <p:spPr>
          <a:xfrm xmlns:a="http://schemas.openxmlformats.org/drawingml/2006/main">
            <a:off x="790575" y="2857500"/>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Latency, errors, JVM health</a:t>
            </a:r>
          </a:p>
        </p:txBody>
      </p:sp>
      <p:sp>
        <p:nvSpPr>
          <p:cNvPr id="50" name="artifactory-rect-49">
            <a:extLst xmlns:a="http://schemas.openxmlformats.org/drawingml/2006/main">
              <a:ext uri="{FF2B5EF4-FFF2-40B4-BE49-F238E27FC236}">
                <a16:creationId xmlns:a16="http://schemas.microsoft.com/office/drawing/2014/main" id="{E04F8669-7A01-44FB-A038-672944CCCC7A}"/>
              </a:ext>
            </a:extLst>
          </p:cNvPr>
          <p:cNvSpPr>
            <a:spLocks xmlns:a="http://schemas.openxmlformats.org/drawingml/2006/main" noGrp="1"/>
          </p:cNvSpPr>
          <p:nvPr/>
        </p:nvSpPr>
        <p:spPr>
          <a:xfrm xmlns:a="http://schemas.openxmlformats.org/drawingml/2006/main">
            <a:off x="609600" y="3190875"/>
            <a:ext cx="3143250" cy="962025"/>
          </a:xfrm>
          <a:prstGeom xmlns:a="http://schemas.openxmlformats.org/drawingml/2006/main" prst="roundRect">
            <a:avLst>
              <a:gd name="adj" fmla="val 9901"/>
            </a:avLst>
          </a:prstGeom>
          <a:solidFill xmlns:a="http://schemas.openxmlformats.org/drawingml/2006/main">
            <a:srgbClr val="FFFFFF"/>
          </a:solidFill>
          <a:ln xmlns:a="http://schemas.openxmlformats.org/drawingml/2006/main" w="14288">
            <a:solidFill>
              <a:srgbClr val="D7E0E9"/>
            </a:solidFill>
          </a:ln>
        </p:spPr>
      </p:sp>
      <p:sp>
        <p:nvSpPr>
          <p:cNvPr id="51" name="artifactory-rect-50">
            <a:extLst xmlns:a="http://schemas.openxmlformats.org/drawingml/2006/main">
              <a:ext uri="{FF2B5EF4-FFF2-40B4-BE49-F238E27FC236}">
                <a16:creationId xmlns:a16="http://schemas.microsoft.com/office/drawing/2014/main" id="{E1929A5F-B793-4EB9-B508-02F00EDDFDFC}"/>
              </a:ext>
            </a:extLst>
          </p:cNvPr>
          <p:cNvSpPr>
            <a:spLocks xmlns:a="http://schemas.openxmlformats.org/drawingml/2006/main" noGrp="1"/>
          </p:cNvSpPr>
          <p:nvPr/>
        </p:nvSpPr>
        <p:spPr>
          <a:xfrm xmlns:a="http://schemas.openxmlformats.org/drawingml/2006/main">
            <a:off x="609600" y="3190875"/>
            <a:ext cx="47625" cy="962025"/>
          </a:xfrm>
          <a:prstGeom xmlns:a="http://schemas.openxmlformats.org/drawingml/2006/main" prst="roundRect">
            <a:avLst>
              <a:gd name="adj" fmla="val 0"/>
            </a:avLst>
          </a:prstGeom>
          <a:solidFill xmlns:a="http://schemas.openxmlformats.org/drawingml/2006/main">
            <a:srgbClr val="23649F"/>
          </a:solidFill>
          <a:ln xmlns:a="http://schemas.openxmlformats.org/drawingml/2006/main" w="0">
            <a:noFill/>
          </a:ln>
        </p:spPr>
      </p:sp>
      <p:sp>
        <p:nvSpPr>
          <p:cNvPr id="52" name="artifactory-text-51">
            <a:extLst xmlns:a="http://schemas.openxmlformats.org/drawingml/2006/main">
              <a:ext uri="{FF2B5EF4-FFF2-40B4-BE49-F238E27FC236}">
                <a16:creationId xmlns:a16="http://schemas.microsoft.com/office/drawing/2014/main" id="{568FFB5F-1BE6-403E-B497-D39BD2B8BFBC}"/>
              </a:ext>
            </a:extLst>
          </p:cNvPr>
          <p:cNvSpPr>
            <a:spLocks xmlns:a="http://schemas.openxmlformats.org/drawingml/2006/main" noGrp="1"/>
          </p:cNvSpPr>
          <p:nvPr/>
        </p:nvSpPr>
        <p:spPr>
          <a:xfrm xmlns:a="http://schemas.openxmlformats.org/drawingml/2006/main">
            <a:off x="790575" y="3314700"/>
            <a:ext cx="281940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42A3D"/>
                </a:solidFill>
                <a:latin typeface="DejaVu Sans"/>
                <a:ea typeface="DejaVu Sans"/>
                <a:cs typeface="DejaVu Sans"/>
              </a:defRPr>
            </a:pPr>
            <a:r>
              <a:rPr sz="1725" b="1">
                <a:solidFill>
                  <a:srgbClr val="142A3D"/>
                </a:solidFill>
                <a:latin typeface="DejaVu Sans"/>
                <a:ea typeface="DejaVu Sans"/>
                <a:cs typeface="DejaVu Sans"/>
              </a:rPr>
              <a:t>Storage + database</a:t>
            </a:r>
          </a:p>
        </p:txBody>
      </p:sp>
      <p:sp>
        <p:nvSpPr>
          <p:cNvPr id="53" name="artifactory-text-52">
            <a:extLst xmlns:a="http://schemas.openxmlformats.org/drawingml/2006/main">
              <a:ext uri="{FF2B5EF4-FFF2-40B4-BE49-F238E27FC236}">
                <a16:creationId xmlns:a16="http://schemas.microsoft.com/office/drawing/2014/main" id="{2A6EA81D-C544-446E-8CEC-6505FD53489A}"/>
              </a:ext>
            </a:extLst>
          </p:cNvPr>
          <p:cNvSpPr>
            <a:spLocks xmlns:a="http://schemas.openxmlformats.org/drawingml/2006/main" noGrp="1"/>
          </p:cNvSpPr>
          <p:nvPr/>
        </p:nvSpPr>
        <p:spPr>
          <a:xfrm xmlns:a="http://schemas.openxmlformats.org/drawingml/2006/main">
            <a:off x="790575" y="3629025"/>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Fresh storage / quota data</a:t>
            </a:r>
          </a:p>
        </p:txBody>
      </p:sp>
      <p:sp>
        <p:nvSpPr>
          <p:cNvPr id="54" name="artifactory-text-53">
            <a:extLst xmlns:a="http://schemas.openxmlformats.org/drawingml/2006/main">
              <a:ext uri="{FF2B5EF4-FFF2-40B4-BE49-F238E27FC236}">
                <a16:creationId xmlns:a16="http://schemas.microsoft.com/office/drawing/2014/main" id="{8EFCE33E-3816-4A93-A1A9-76719ADF95D0}"/>
              </a:ext>
            </a:extLst>
          </p:cNvPr>
          <p:cNvSpPr>
            <a:spLocks xmlns:a="http://schemas.openxmlformats.org/drawingml/2006/main" noGrp="1"/>
          </p:cNvSpPr>
          <p:nvPr/>
        </p:nvSpPr>
        <p:spPr>
          <a:xfrm xmlns:a="http://schemas.openxmlformats.org/drawingml/2006/main">
            <a:off x="790575" y="3876675"/>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I/O, DB wait, connections</a:t>
            </a:r>
          </a:p>
        </p:txBody>
      </p:sp>
      <p:sp>
        <p:nvSpPr>
          <p:cNvPr id="55" name="artifactory-rect-54">
            <a:extLst xmlns:a="http://schemas.openxmlformats.org/drawingml/2006/main">
              <a:ext uri="{FF2B5EF4-FFF2-40B4-BE49-F238E27FC236}">
                <a16:creationId xmlns:a16="http://schemas.microsoft.com/office/drawing/2014/main" id="{95B639F2-6E45-487B-8C79-F8C709242082}"/>
              </a:ext>
            </a:extLst>
          </p:cNvPr>
          <p:cNvSpPr>
            <a:spLocks xmlns:a="http://schemas.openxmlformats.org/drawingml/2006/main" noGrp="1"/>
          </p:cNvSpPr>
          <p:nvPr/>
        </p:nvSpPr>
        <p:spPr>
          <a:xfrm xmlns:a="http://schemas.openxmlformats.org/drawingml/2006/main">
            <a:off x="609600" y="4210050"/>
            <a:ext cx="3143250" cy="962025"/>
          </a:xfrm>
          <a:prstGeom xmlns:a="http://schemas.openxmlformats.org/drawingml/2006/main" prst="roundRect">
            <a:avLst>
              <a:gd name="adj" fmla="val 9901"/>
            </a:avLst>
          </a:prstGeom>
          <a:solidFill xmlns:a="http://schemas.openxmlformats.org/drawingml/2006/main">
            <a:srgbClr val="FFFFFF"/>
          </a:solidFill>
          <a:ln xmlns:a="http://schemas.openxmlformats.org/drawingml/2006/main" w="14288">
            <a:solidFill>
              <a:srgbClr val="D7E0E9"/>
            </a:solidFill>
          </a:ln>
        </p:spPr>
      </p:sp>
      <p:sp>
        <p:nvSpPr>
          <p:cNvPr id="56" name="artifactory-rect-55">
            <a:extLst xmlns:a="http://schemas.openxmlformats.org/drawingml/2006/main">
              <a:ext uri="{FF2B5EF4-FFF2-40B4-BE49-F238E27FC236}">
                <a16:creationId xmlns:a16="http://schemas.microsoft.com/office/drawing/2014/main" id="{FD8E1FE0-A15F-43E6-93B4-6816A4B5AA23}"/>
              </a:ext>
            </a:extLst>
          </p:cNvPr>
          <p:cNvSpPr>
            <a:spLocks xmlns:a="http://schemas.openxmlformats.org/drawingml/2006/main" noGrp="1"/>
          </p:cNvSpPr>
          <p:nvPr/>
        </p:nvSpPr>
        <p:spPr>
          <a:xfrm xmlns:a="http://schemas.openxmlformats.org/drawingml/2006/main">
            <a:off x="609600" y="4210050"/>
            <a:ext cx="47625" cy="962025"/>
          </a:xfrm>
          <a:prstGeom xmlns:a="http://schemas.openxmlformats.org/drawingml/2006/main" prst="roundRect">
            <a:avLst>
              <a:gd name="adj" fmla="val 0"/>
            </a:avLst>
          </a:prstGeom>
          <a:solidFill xmlns:a="http://schemas.openxmlformats.org/drawingml/2006/main">
            <a:srgbClr val="23649F"/>
          </a:solidFill>
          <a:ln xmlns:a="http://schemas.openxmlformats.org/drawingml/2006/main" w="0">
            <a:noFill/>
          </a:ln>
        </p:spPr>
      </p:sp>
      <p:sp>
        <p:nvSpPr>
          <p:cNvPr id="57" name="artifactory-text-56">
            <a:extLst xmlns:a="http://schemas.openxmlformats.org/drawingml/2006/main">
              <a:ext uri="{FF2B5EF4-FFF2-40B4-BE49-F238E27FC236}">
                <a16:creationId xmlns:a16="http://schemas.microsoft.com/office/drawing/2014/main" id="{2EB45455-307D-41FB-9F52-64761C2DC28B}"/>
              </a:ext>
            </a:extLst>
          </p:cNvPr>
          <p:cNvSpPr>
            <a:spLocks xmlns:a="http://schemas.openxmlformats.org/drawingml/2006/main" noGrp="1"/>
          </p:cNvSpPr>
          <p:nvPr/>
        </p:nvSpPr>
        <p:spPr>
          <a:xfrm xmlns:a="http://schemas.openxmlformats.org/drawingml/2006/main">
            <a:off x="790575" y="4333875"/>
            <a:ext cx="281940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42A3D"/>
                </a:solidFill>
                <a:latin typeface="DejaVu Sans"/>
                <a:ea typeface="DejaVu Sans"/>
                <a:cs typeface="DejaVu Sans"/>
              </a:defRPr>
            </a:pPr>
            <a:r>
              <a:rPr sz="1725" b="1">
                <a:solidFill>
                  <a:srgbClr val="142A3D"/>
                </a:solidFill>
                <a:latin typeface="DejaVu Sans"/>
                <a:ea typeface="DejaVu Sans"/>
                <a:cs typeface="DejaVu Sans"/>
              </a:rPr>
              <a:t>Artifact probes</a:t>
            </a:r>
          </a:p>
        </p:txBody>
      </p:sp>
      <p:sp>
        <p:nvSpPr>
          <p:cNvPr id="58" name="artifactory-text-57">
            <a:extLst xmlns:a="http://schemas.openxmlformats.org/drawingml/2006/main">
              <a:ext uri="{FF2B5EF4-FFF2-40B4-BE49-F238E27FC236}">
                <a16:creationId xmlns:a16="http://schemas.microsoft.com/office/drawing/2014/main" id="{DCEDDA93-114B-41D2-A0DA-BE03DE78FE49}"/>
              </a:ext>
            </a:extLst>
          </p:cNvPr>
          <p:cNvSpPr>
            <a:spLocks xmlns:a="http://schemas.openxmlformats.org/drawingml/2006/main" noGrp="1"/>
          </p:cNvSpPr>
          <p:nvPr/>
        </p:nvSpPr>
        <p:spPr>
          <a:xfrm xmlns:a="http://schemas.openxmlformats.org/drawingml/2006/main">
            <a:off x="790575" y="4648200"/>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Download time and success</a:t>
            </a:r>
          </a:p>
        </p:txBody>
      </p:sp>
      <p:sp>
        <p:nvSpPr>
          <p:cNvPr id="59" name="artifactory-text-58">
            <a:extLst xmlns:a="http://schemas.openxmlformats.org/drawingml/2006/main">
              <a:ext uri="{FF2B5EF4-FFF2-40B4-BE49-F238E27FC236}">
                <a16:creationId xmlns:a16="http://schemas.microsoft.com/office/drawing/2014/main" id="{C8DFBC52-D526-4E84-9FB5-93C189DC1F5B}"/>
              </a:ext>
            </a:extLst>
          </p:cNvPr>
          <p:cNvSpPr>
            <a:spLocks xmlns:a="http://schemas.openxmlformats.org/drawingml/2006/main" noGrp="1"/>
          </p:cNvSpPr>
          <p:nvPr/>
        </p:nvSpPr>
        <p:spPr>
          <a:xfrm xmlns:a="http://schemas.openxmlformats.org/drawingml/2006/main">
            <a:off x="790575" y="4895850"/>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Remote repository latency</a:t>
            </a:r>
          </a:p>
        </p:txBody>
      </p:sp>
      <p:sp>
        <p:nvSpPr>
          <p:cNvPr id="60" name="artifactory-rect-59">
            <a:extLst xmlns:a="http://schemas.openxmlformats.org/drawingml/2006/main">
              <a:ext uri="{FF2B5EF4-FFF2-40B4-BE49-F238E27FC236}">
                <a16:creationId xmlns:a16="http://schemas.microsoft.com/office/drawing/2014/main" id="{3043E96F-869D-45D1-9AC9-789CF357D2F5}"/>
              </a:ext>
            </a:extLst>
          </p:cNvPr>
          <p:cNvSpPr>
            <a:spLocks xmlns:a="http://schemas.openxmlformats.org/drawingml/2006/main" noGrp="1"/>
          </p:cNvSpPr>
          <p:nvPr/>
        </p:nvSpPr>
        <p:spPr>
          <a:xfrm xmlns:a="http://schemas.openxmlformats.org/drawingml/2006/main">
            <a:off x="609600" y="5229225"/>
            <a:ext cx="3143250" cy="962025"/>
          </a:xfrm>
          <a:prstGeom xmlns:a="http://schemas.openxmlformats.org/drawingml/2006/main" prst="roundRect">
            <a:avLst>
              <a:gd name="adj" fmla="val 9901"/>
            </a:avLst>
          </a:prstGeom>
          <a:solidFill xmlns:a="http://schemas.openxmlformats.org/drawingml/2006/main">
            <a:srgbClr val="FFFFFF"/>
          </a:solidFill>
          <a:ln xmlns:a="http://schemas.openxmlformats.org/drawingml/2006/main" w="14288">
            <a:solidFill>
              <a:srgbClr val="D7E0E9"/>
            </a:solidFill>
          </a:ln>
        </p:spPr>
      </p:sp>
      <p:sp>
        <p:nvSpPr>
          <p:cNvPr id="61" name="artifactory-rect-60">
            <a:extLst xmlns:a="http://schemas.openxmlformats.org/drawingml/2006/main">
              <a:ext uri="{FF2B5EF4-FFF2-40B4-BE49-F238E27FC236}">
                <a16:creationId xmlns:a16="http://schemas.microsoft.com/office/drawing/2014/main" id="{24D92205-EBB8-4B22-97D8-D8CD4AEB86FE}"/>
              </a:ext>
            </a:extLst>
          </p:cNvPr>
          <p:cNvSpPr>
            <a:spLocks xmlns:a="http://schemas.openxmlformats.org/drawingml/2006/main" noGrp="1"/>
          </p:cNvSpPr>
          <p:nvPr/>
        </p:nvSpPr>
        <p:spPr>
          <a:xfrm xmlns:a="http://schemas.openxmlformats.org/drawingml/2006/main">
            <a:off x="609600" y="5229225"/>
            <a:ext cx="47625" cy="962025"/>
          </a:xfrm>
          <a:prstGeom xmlns:a="http://schemas.openxmlformats.org/drawingml/2006/main" prst="roundRect">
            <a:avLst>
              <a:gd name="adj" fmla="val 0"/>
            </a:avLst>
          </a:prstGeom>
          <a:solidFill xmlns:a="http://schemas.openxmlformats.org/drawingml/2006/main">
            <a:srgbClr val="23649F"/>
          </a:solidFill>
          <a:ln xmlns:a="http://schemas.openxmlformats.org/drawingml/2006/main" w="0">
            <a:noFill/>
          </a:ln>
        </p:spPr>
      </p:sp>
      <p:sp>
        <p:nvSpPr>
          <p:cNvPr id="62" name="artifactory-text-61">
            <a:extLst xmlns:a="http://schemas.openxmlformats.org/drawingml/2006/main">
              <a:ext uri="{FF2B5EF4-FFF2-40B4-BE49-F238E27FC236}">
                <a16:creationId xmlns:a16="http://schemas.microsoft.com/office/drawing/2014/main" id="{3ACCDF50-71F9-466C-BA0B-7EEFDBD132C2}"/>
              </a:ext>
            </a:extLst>
          </p:cNvPr>
          <p:cNvSpPr>
            <a:spLocks xmlns:a="http://schemas.openxmlformats.org/drawingml/2006/main" noGrp="1"/>
          </p:cNvSpPr>
          <p:nvPr/>
        </p:nvSpPr>
        <p:spPr>
          <a:xfrm xmlns:a="http://schemas.openxmlformats.org/drawingml/2006/main">
            <a:off x="790575" y="5353050"/>
            <a:ext cx="281940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42A3D"/>
                </a:solidFill>
                <a:latin typeface="DejaVu Sans"/>
                <a:ea typeface="DejaVu Sans"/>
                <a:cs typeface="DejaVu Sans"/>
              </a:defRPr>
            </a:pPr>
            <a:r>
              <a:rPr sz="1725" b="1">
                <a:solidFill>
                  <a:srgbClr val="142A3D"/>
                </a:solidFill>
                <a:latin typeface="DejaVu Sans"/>
                <a:ea typeface="DejaVu Sans"/>
                <a:cs typeface="DejaVu Sans"/>
              </a:rPr>
              <a:t>Changes + network</a:t>
            </a:r>
          </a:p>
        </p:txBody>
      </p:sp>
      <p:sp>
        <p:nvSpPr>
          <p:cNvPr id="63" name="artifactory-text-62">
            <a:extLst xmlns:a="http://schemas.openxmlformats.org/drawingml/2006/main">
              <a:ext uri="{FF2B5EF4-FFF2-40B4-BE49-F238E27FC236}">
                <a16:creationId xmlns:a16="http://schemas.microsoft.com/office/drawing/2014/main" id="{EA2727F7-D515-4D65-A870-7B5A2054786E}"/>
              </a:ext>
            </a:extLst>
          </p:cNvPr>
          <p:cNvSpPr>
            <a:spLocks xmlns:a="http://schemas.openxmlformats.org/drawingml/2006/main" noGrp="1"/>
          </p:cNvSpPr>
          <p:nvPr/>
        </p:nvSpPr>
        <p:spPr>
          <a:xfrm xmlns:a="http://schemas.openxmlformats.org/drawingml/2006/main">
            <a:off x="790575" y="5667375"/>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Rollouts and build demand</a:t>
            </a:r>
          </a:p>
        </p:txBody>
      </p:sp>
      <p:sp>
        <p:nvSpPr>
          <p:cNvPr id="64" name="artifactory-text-63">
            <a:extLst xmlns:a="http://schemas.openxmlformats.org/drawingml/2006/main">
              <a:ext uri="{FF2B5EF4-FFF2-40B4-BE49-F238E27FC236}">
                <a16:creationId xmlns:a16="http://schemas.microsoft.com/office/drawing/2014/main" id="{52EB2C5F-69DD-491F-A2B6-13C06D4A63A2}"/>
              </a:ext>
            </a:extLst>
          </p:cNvPr>
          <p:cNvSpPr>
            <a:spLocks xmlns:a="http://schemas.openxmlformats.org/drawingml/2006/main" noGrp="1"/>
          </p:cNvSpPr>
          <p:nvPr/>
        </p:nvSpPr>
        <p:spPr>
          <a:xfrm xmlns:a="http://schemas.openxmlformats.org/drawingml/2006/main">
            <a:off x="790575" y="5915025"/>
            <a:ext cx="28194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Proxy / DNS / load balancer</a:t>
            </a:r>
          </a:p>
        </p:txBody>
      </p:sp>
      <p:sp>
        <p:nvSpPr>
          <p:cNvPr id="65" name="artifactory-rect-64">
            <a:extLst xmlns:a="http://schemas.openxmlformats.org/drawingml/2006/main">
              <a:ext uri="{FF2B5EF4-FFF2-40B4-BE49-F238E27FC236}">
                <a16:creationId xmlns:a16="http://schemas.microsoft.com/office/drawing/2014/main" id="{52FEDFA1-F8FB-4660-A77E-FF254137D5EE}"/>
              </a:ext>
            </a:extLst>
          </p:cNvPr>
          <p:cNvSpPr>
            <a:spLocks xmlns:a="http://schemas.openxmlformats.org/drawingml/2006/main" noGrp="1"/>
          </p:cNvSpPr>
          <p:nvPr/>
        </p:nvSpPr>
        <p:spPr>
          <a:xfrm xmlns:a="http://schemas.openxmlformats.org/drawingml/2006/main">
            <a:off x="4210050" y="2171700"/>
            <a:ext cx="2857500" cy="16764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14288">
            <a:solidFill>
              <a:srgbClr val="D7E0E9"/>
            </a:solidFill>
          </a:ln>
        </p:spPr>
      </p:sp>
      <p:sp>
        <p:nvSpPr>
          <p:cNvPr id="66" name="artifactory-text-65">
            <a:extLst xmlns:a="http://schemas.openxmlformats.org/drawingml/2006/main">
              <a:ext uri="{FF2B5EF4-FFF2-40B4-BE49-F238E27FC236}">
                <a16:creationId xmlns:a16="http://schemas.microsoft.com/office/drawing/2014/main" id="{2A6FF984-B46B-4ACD-9AAE-6CF4C6F5F947}"/>
              </a:ext>
            </a:extLst>
          </p:cNvPr>
          <p:cNvSpPr>
            <a:spLocks xmlns:a="http://schemas.openxmlformats.org/drawingml/2006/main" noGrp="1"/>
          </p:cNvSpPr>
          <p:nvPr/>
        </p:nvSpPr>
        <p:spPr>
          <a:xfrm xmlns:a="http://schemas.openxmlformats.org/drawingml/2006/main">
            <a:off x="4429125" y="2362200"/>
            <a:ext cx="241935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42A3D"/>
                </a:solidFill>
                <a:latin typeface="DejaVu Sans"/>
                <a:ea typeface="DejaVu Sans"/>
                <a:cs typeface="DejaVu Sans"/>
              </a:defRPr>
            </a:pPr>
            <a:r>
              <a:rPr sz="1950" b="1">
                <a:solidFill>
                  <a:srgbClr val="142A3D"/>
                </a:solidFill>
                <a:latin typeface="DejaVu Sans"/>
                <a:ea typeface="DejaVu Sans"/>
                <a:cs typeface="DejaVu Sans"/>
              </a:rPr>
              <a:t>Metric collection</a:t>
            </a:r>
          </a:p>
        </p:txBody>
      </p:sp>
      <p:sp>
        <p:nvSpPr>
          <p:cNvPr id="67" name="artifactory-text-66">
            <a:extLst xmlns:a="http://schemas.openxmlformats.org/drawingml/2006/main">
              <a:ext uri="{FF2B5EF4-FFF2-40B4-BE49-F238E27FC236}">
                <a16:creationId xmlns:a16="http://schemas.microsoft.com/office/drawing/2014/main" id="{3C55E0BB-DEFB-47ED-9337-EDE896B68A47}"/>
              </a:ext>
            </a:extLst>
          </p:cNvPr>
          <p:cNvSpPr>
            <a:spLocks xmlns:a="http://schemas.openxmlformats.org/drawingml/2006/main" noGrp="1"/>
          </p:cNvSpPr>
          <p:nvPr/>
        </p:nvSpPr>
        <p:spPr>
          <a:xfrm xmlns:a="http://schemas.openxmlformats.org/drawingml/2006/main">
            <a:off x="4429125" y="2790825"/>
            <a:ext cx="24193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46779"/>
                </a:solidFill>
                <a:latin typeface="DejaVu Sans"/>
                <a:ea typeface="DejaVu Sans"/>
                <a:cs typeface="DejaVu Sans"/>
              </a:defRPr>
            </a:pPr>
            <a:r>
              <a:rPr sz="1650" b="0">
                <a:solidFill>
                  <a:srgbClr val="546779"/>
                </a:solidFill>
                <a:latin typeface="DejaVu Sans"/>
                <a:ea typeface="DejaVu Sans"/>
                <a:cs typeface="DejaVu Sans"/>
              </a:rPr>
              <a:t>Prometheus + logs</a:t>
            </a:r>
          </a:p>
        </p:txBody>
      </p:sp>
      <p:sp>
        <p:nvSpPr>
          <p:cNvPr id="68" name="artifactory-text-67">
            <a:extLst xmlns:a="http://schemas.openxmlformats.org/drawingml/2006/main">
              <a:ext uri="{FF2B5EF4-FFF2-40B4-BE49-F238E27FC236}">
                <a16:creationId xmlns:a16="http://schemas.microsoft.com/office/drawing/2014/main" id="{A334179F-F532-4953-BAE6-C24B825BB2EA}"/>
              </a:ext>
            </a:extLst>
          </p:cNvPr>
          <p:cNvSpPr>
            <a:spLocks xmlns:a="http://schemas.openxmlformats.org/drawingml/2006/main" noGrp="1"/>
          </p:cNvSpPr>
          <p:nvPr/>
        </p:nvSpPr>
        <p:spPr>
          <a:xfrm xmlns:a="http://schemas.openxmlformats.org/drawingml/2006/main">
            <a:off x="4429125" y="3105150"/>
            <a:ext cx="24193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46779"/>
                </a:solidFill>
                <a:latin typeface="DejaVu Sans"/>
                <a:ea typeface="DejaVu Sans"/>
                <a:cs typeface="DejaVu Sans"/>
              </a:defRPr>
            </a:pPr>
            <a:r>
              <a:rPr sz="1650" b="0">
                <a:solidFill>
                  <a:srgbClr val="546779"/>
                </a:solidFill>
                <a:latin typeface="DejaVu Sans"/>
                <a:ea typeface="DejaVu Sans"/>
                <a:cs typeface="DejaVu Sans"/>
              </a:rPr>
              <a:t>Scrapers + probes</a:t>
            </a:r>
          </a:p>
        </p:txBody>
      </p:sp>
      <p:sp>
        <p:nvSpPr>
          <p:cNvPr id="69" name="artifactory-text-68">
            <a:extLst xmlns:a="http://schemas.openxmlformats.org/drawingml/2006/main">
              <a:ext uri="{FF2B5EF4-FFF2-40B4-BE49-F238E27FC236}">
                <a16:creationId xmlns:a16="http://schemas.microsoft.com/office/drawing/2014/main" id="{CE565321-EE37-4465-90E2-CE64B0C951F2}"/>
              </a:ext>
            </a:extLst>
          </p:cNvPr>
          <p:cNvSpPr>
            <a:spLocks xmlns:a="http://schemas.openxmlformats.org/drawingml/2006/main" noGrp="1"/>
          </p:cNvSpPr>
          <p:nvPr/>
        </p:nvSpPr>
        <p:spPr>
          <a:xfrm xmlns:a="http://schemas.openxmlformats.org/drawingml/2006/main">
            <a:off x="4429125" y="3419475"/>
            <a:ext cx="24193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46779"/>
                </a:solidFill>
                <a:latin typeface="DejaVu Sans"/>
                <a:ea typeface="DejaVu Sans"/>
                <a:cs typeface="DejaVu Sans"/>
              </a:defRPr>
            </a:pPr>
            <a:r>
              <a:rPr sz="1650" b="0">
                <a:solidFill>
                  <a:srgbClr val="546779"/>
                </a:solidFill>
                <a:latin typeface="DejaVu Sans"/>
                <a:ea typeface="DejaVu Sans"/>
                <a:cs typeface="DejaVu Sans"/>
              </a:rPr>
              <a:t>Data freshness checks</a:t>
            </a:r>
          </a:p>
        </p:txBody>
      </p:sp>
      <p:sp>
        <p:nvSpPr>
          <p:cNvPr id="70" name="artifactory-text-69">
            <a:extLst xmlns:a="http://schemas.openxmlformats.org/drawingml/2006/main">
              <a:ext uri="{FF2B5EF4-FFF2-40B4-BE49-F238E27FC236}">
                <a16:creationId xmlns:a16="http://schemas.microsoft.com/office/drawing/2014/main" id="{A735B357-2A78-4B74-9250-DB9BAA3A2F5C}"/>
              </a:ext>
            </a:extLst>
          </p:cNvPr>
          <p:cNvSpPr>
            <a:spLocks xmlns:a="http://schemas.openxmlformats.org/drawingml/2006/main" noGrp="1"/>
          </p:cNvSpPr>
          <p:nvPr/>
        </p:nvSpPr>
        <p:spPr>
          <a:xfrm xmlns:a="http://schemas.openxmlformats.org/drawingml/2006/main">
            <a:off x="5829300" y="3981450"/>
            <a:ext cx="1238250" cy="2137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46779"/>
                </a:solidFill>
                <a:latin typeface="DejaVu Sans"/>
                <a:ea typeface="DejaVu Sans"/>
                <a:cs typeface="DejaVu Sans"/>
              </a:defRPr>
            </a:pPr>
            <a:r>
              <a:rPr sz="1275" b="0">
                <a:solidFill>
                  <a:srgbClr val="546779"/>
                </a:solidFill>
                <a:latin typeface="DejaVu Sans"/>
                <a:ea typeface="DejaVu Sans"/>
                <a:cs typeface="DejaVu Sans"/>
              </a:rPr>
              <a:t>Every minute</a:t>
            </a:r>
          </a:p>
        </p:txBody>
      </p:sp>
      <p:sp>
        <p:nvSpPr>
          <p:cNvPr id="71" name="artifactory-rect-70">
            <a:extLst xmlns:a="http://schemas.openxmlformats.org/drawingml/2006/main">
              <a:ext uri="{FF2B5EF4-FFF2-40B4-BE49-F238E27FC236}">
                <a16:creationId xmlns:a16="http://schemas.microsoft.com/office/drawing/2014/main" id="{142B0C21-712B-4C3D-8454-3EDCDE8DDBB0}"/>
              </a:ext>
            </a:extLst>
          </p:cNvPr>
          <p:cNvSpPr>
            <a:spLocks xmlns:a="http://schemas.openxmlformats.org/drawingml/2006/main" noGrp="1"/>
          </p:cNvSpPr>
          <p:nvPr/>
        </p:nvSpPr>
        <p:spPr>
          <a:xfrm xmlns:a="http://schemas.openxmlformats.org/drawingml/2006/main">
            <a:off x="4210050" y="4362450"/>
            <a:ext cx="2857500" cy="165735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14288">
            <a:solidFill>
              <a:srgbClr val="D7E0E9"/>
            </a:solidFill>
          </a:ln>
        </p:spPr>
      </p:sp>
      <p:sp>
        <p:nvSpPr>
          <p:cNvPr id="72" name="artifactory-text-71">
            <a:extLst xmlns:a="http://schemas.openxmlformats.org/drawingml/2006/main">
              <a:ext uri="{FF2B5EF4-FFF2-40B4-BE49-F238E27FC236}">
                <a16:creationId xmlns:a16="http://schemas.microsoft.com/office/drawing/2014/main" id="{F3347EB2-1A22-430A-80F3-EEA4DB702A77}"/>
              </a:ext>
            </a:extLst>
          </p:cNvPr>
          <p:cNvSpPr>
            <a:spLocks xmlns:a="http://schemas.openxmlformats.org/drawingml/2006/main" noGrp="1"/>
          </p:cNvSpPr>
          <p:nvPr/>
        </p:nvSpPr>
        <p:spPr>
          <a:xfrm xmlns:a="http://schemas.openxmlformats.org/drawingml/2006/main">
            <a:off x="4429125" y="4552950"/>
            <a:ext cx="241935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42A3D"/>
                </a:solidFill>
                <a:latin typeface="DejaVu Sans"/>
                <a:ea typeface="DejaVu Sans"/>
                <a:cs typeface="DejaVu Sans"/>
              </a:defRPr>
            </a:pPr>
            <a:r>
              <a:rPr sz="1950" b="1">
                <a:solidFill>
                  <a:srgbClr val="142A3D"/>
                </a:solidFill>
                <a:latin typeface="DejaVu Sans"/>
                <a:ea typeface="DejaVu Sans"/>
                <a:cs typeface="DejaVu Sans"/>
              </a:rPr>
              <a:t>Rolling features</a:t>
            </a:r>
          </a:p>
        </p:txBody>
      </p:sp>
      <p:sp>
        <p:nvSpPr>
          <p:cNvPr id="73" name="artifactory-text-72">
            <a:extLst xmlns:a="http://schemas.openxmlformats.org/drawingml/2006/main">
              <a:ext uri="{FF2B5EF4-FFF2-40B4-BE49-F238E27FC236}">
                <a16:creationId xmlns:a16="http://schemas.microsoft.com/office/drawing/2014/main" id="{936BD345-486D-475C-8774-CB749A34DDB5}"/>
              </a:ext>
            </a:extLst>
          </p:cNvPr>
          <p:cNvSpPr>
            <a:spLocks xmlns:a="http://schemas.openxmlformats.org/drawingml/2006/main" noGrp="1"/>
          </p:cNvSpPr>
          <p:nvPr/>
        </p:nvSpPr>
        <p:spPr>
          <a:xfrm xmlns:a="http://schemas.openxmlformats.org/drawingml/2006/main">
            <a:off x="4429125" y="4972050"/>
            <a:ext cx="24193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5 / 15 / 60-min windows</a:t>
            </a:r>
          </a:p>
        </p:txBody>
      </p:sp>
      <p:sp>
        <p:nvSpPr>
          <p:cNvPr id="74" name="artifactory-text-73">
            <a:extLst xmlns:a="http://schemas.openxmlformats.org/drawingml/2006/main">
              <a:ext uri="{FF2B5EF4-FFF2-40B4-BE49-F238E27FC236}">
                <a16:creationId xmlns:a16="http://schemas.microsoft.com/office/drawing/2014/main" id="{F9C2145A-DBA0-42D4-914D-3A8B292A6058}"/>
              </a:ext>
            </a:extLst>
          </p:cNvPr>
          <p:cNvSpPr>
            <a:spLocks xmlns:a="http://schemas.openxmlformats.org/drawingml/2006/main" noGrp="1"/>
          </p:cNvSpPr>
          <p:nvPr/>
        </p:nvSpPr>
        <p:spPr>
          <a:xfrm xmlns:a="http://schemas.openxmlformats.org/drawingml/2006/main">
            <a:off x="4429125" y="5286375"/>
            <a:ext cx="24193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p95, trend, seasonality</a:t>
            </a:r>
          </a:p>
        </p:txBody>
      </p:sp>
      <p:sp>
        <p:nvSpPr>
          <p:cNvPr id="75" name="artifactory-text-74">
            <a:extLst xmlns:a="http://schemas.openxmlformats.org/drawingml/2006/main">
              <a:ext uri="{FF2B5EF4-FFF2-40B4-BE49-F238E27FC236}">
                <a16:creationId xmlns:a16="http://schemas.microsoft.com/office/drawing/2014/main" id="{634517E2-3F3C-4AF4-AB18-744E6363E23D}"/>
              </a:ext>
            </a:extLst>
          </p:cNvPr>
          <p:cNvSpPr>
            <a:spLocks xmlns:a="http://schemas.openxmlformats.org/drawingml/2006/main" noGrp="1"/>
          </p:cNvSpPr>
          <p:nvPr/>
        </p:nvSpPr>
        <p:spPr>
          <a:xfrm xmlns:a="http://schemas.openxmlformats.org/drawingml/2006/main">
            <a:off x="4429125" y="5600700"/>
            <a:ext cx="24193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Per node / repo / route</a:t>
            </a:r>
          </a:p>
        </p:txBody>
      </p:sp>
      <p:sp>
        <p:nvSpPr>
          <p:cNvPr id="76" name="artifactory-rect-75">
            <a:extLst xmlns:a="http://schemas.openxmlformats.org/drawingml/2006/main">
              <a:ext uri="{FF2B5EF4-FFF2-40B4-BE49-F238E27FC236}">
                <a16:creationId xmlns:a16="http://schemas.microsoft.com/office/drawing/2014/main" id="{CD9FB4E1-EAB9-442D-A8FF-A5CEAA793622}"/>
              </a:ext>
            </a:extLst>
          </p:cNvPr>
          <p:cNvSpPr>
            <a:spLocks xmlns:a="http://schemas.openxmlformats.org/drawingml/2006/main" noGrp="1"/>
          </p:cNvSpPr>
          <p:nvPr/>
        </p:nvSpPr>
        <p:spPr>
          <a:xfrm xmlns:a="http://schemas.openxmlformats.org/drawingml/2006/main">
            <a:off x="7524750" y="2171700"/>
            <a:ext cx="3676650" cy="3848100"/>
          </a:xfrm>
          <a:prstGeom xmlns:a="http://schemas.openxmlformats.org/drawingml/2006/main" prst="roundRect">
            <a:avLst>
              <a:gd name="adj" fmla="val 3109"/>
            </a:avLst>
          </a:prstGeom>
          <a:solidFill xmlns:a="http://schemas.openxmlformats.org/drawingml/2006/main">
            <a:srgbClr val="F2EFFB"/>
          </a:solidFill>
          <a:ln xmlns:a="http://schemas.openxmlformats.org/drawingml/2006/main" w="14288">
            <a:solidFill>
              <a:srgbClr val="D6CDED"/>
            </a:solidFill>
          </a:ln>
        </p:spPr>
      </p:sp>
      <p:sp>
        <p:nvSpPr>
          <p:cNvPr id="77" name="artifactory-text-76">
            <a:extLst xmlns:a="http://schemas.openxmlformats.org/drawingml/2006/main">
              <a:ext uri="{FF2B5EF4-FFF2-40B4-BE49-F238E27FC236}">
                <a16:creationId xmlns:a16="http://schemas.microsoft.com/office/drawing/2014/main" id="{AA6643AB-D7EE-49EF-98A1-E23261599A21}"/>
              </a:ext>
            </a:extLst>
          </p:cNvPr>
          <p:cNvSpPr>
            <a:spLocks xmlns:a="http://schemas.openxmlformats.org/drawingml/2006/main" noGrp="1"/>
          </p:cNvSpPr>
          <p:nvPr/>
        </p:nvSpPr>
        <p:spPr>
          <a:xfrm xmlns:a="http://schemas.openxmlformats.org/drawingml/2006/main">
            <a:off x="7781925" y="2381250"/>
            <a:ext cx="3162300" cy="377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6850B5"/>
                </a:solidFill>
                <a:latin typeface="DejaVu Sans"/>
                <a:ea typeface="DejaVu Sans"/>
                <a:cs typeface="DejaVu Sans"/>
              </a:defRPr>
            </a:pPr>
            <a:r>
              <a:rPr sz="2250" b="1">
                <a:solidFill>
                  <a:srgbClr val="6850B5"/>
                </a:solidFill>
                <a:latin typeface="DejaVu Sans"/>
                <a:ea typeface="DejaVu Sans"/>
                <a:cs typeface="DejaVu Sans"/>
              </a:rPr>
              <a:t>ML forecasting</a:t>
            </a:r>
          </a:p>
        </p:txBody>
      </p:sp>
      <p:sp>
        <p:nvSpPr>
          <p:cNvPr id="78" name="artifactory-text-77">
            <a:extLst xmlns:a="http://schemas.openxmlformats.org/drawingml/2006/main">
              <a:ext uri="{FF2B5EF4-FFF2-40B4-BE49-F238E27FC236}">
                <a16:creationId xmlns:a16="http://schemas.microsoft.com/office/drawing/2014/main" id="{5C30777C-4583-4A59-84E9-C4A33BE90125}"/>
              </a:ext>
            </a:extLst>
          </p:cNvPr>
          <p:cNvSpPr>
            <a:spLocks xmlns:a="http://schemas.openxmlformats.org/drawingml/2006/main" noGrp="1"/>
          </p:cNvSpPr>
          <p:nvPr/>
        </p:nvSpPr>
        <p:spPr>
          <a:xfrm xmlns:a="http://schemas.openxmlformats.org/drawingml/2006/main">
            <a:off x="7781925" y="2790825"/>
            <a:ext cx="316230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850B5"/>
                </a:solidFill>
                <a:latin typeface="DejaVu Sans"/>
                <a:ea typeface="DejaVu Sans"/>
                <a:cs typeface="DejaVu Sans"/>
              </a:defRPr>
            </a:pPr>
            <a:r>
              <a:rPr sz="1575" b="0">
                <a:solidFill>
                  <a:srgbClr val="6850B5"/>
                </a:solidFill>
                <a:latin typeface="DejaVu Sans"/>
                <a:ea typeface="DejaVu Sans"/>
                <a:cs typeface="DejaVu Sans"/>
              </a:rPr>
              <a:t>Live inference on GKE</a:t>
            </a:r>
          </a:p>
        </p:txBody>
      </p:sp>
      <p:sp>
        <p:nvSpPr>
          <p:cNvPr id="79" name="artifactory-text-78">
            <a:extLst xmlns:a="http://schemas.openxmlformats.org/drawingml/2006/main">
              <a:ext uri="{FF2B5EF4-FFF2-40B4-BE49-F238E27FC236}">
                <a16:creationId xmlns:a16="http://schemas.microsoft.com/office/drawing/2014/main" id="{777AE89F-2E78-4B4C-9EA9-512D5213D4F9}"/>
              </a:ext>
            </a:extLst>
          </p:cNvPr>
          <p:cNvSpPr>
            <a:spLocks xmlns:a="http://schemas.openxmlformats.org/drawingml/2006/main" noGrp="1"/>
          </p:cNvSpPr>
          <p:nvPr/>
        </p:nvSpPr>
        <p:spPr>
          <a:xfrm xmlns:a="http://schemas.openxmlformats.org/drawingml/2006/main">
            <a:off x="7781925" y="3171825"/>
            <a:ext cx="316230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42A3D"/>
                </a:solidFill>
                <a:latin typeface="DejaVu Sans"/>
                <a:ea typeface="DejaVu Sans"/>
                <a:cs typeface="DejaVu Sans"/>
              </a:defRPr>
            </a:pPr>
            <a:r>
              <a:rPr sz="1650" b="0">
                <a:solidFill>
                  <a:srgbClr val="142A3D"/>
                </a:solidFill>
                <a:latin typeface="DejaVu Sans"/>
                <a:ea typeface="DejaVu Sans"/>
                <a:cs typeface="DejaVu Sans"/>
              </a:rPr>
              <a:t>Forecast storage and latency</a:t>
            </a:r>
          </a:p>
        </p:txBody>
      </p:sp>
      <p:sp>
        <p:nvSpPr>
          <p:cNvPr id="80" name="artifactory-text-79">
            <a:extLst xmlns:a="http://schemas.openxmlformats.org/drawingml/2006/main">
              <a:ext uri="{FF2B5EF4-FFF2-40B4-BE49-F238E27FC236}">
                <a16:creationId xmlns:a16="http://schemas.microsoft.com/office/drawing/2014/main" id="{17CF59FA-D52C-4E1B-BB4A-584E21D252F5}"/>
              </a:ext>
            </a:extLst>
          </p:cNvPr>
          <p:cNvSpPr>
            <a:spLocks xmlns:a="http://schemas.openxmlformats.org/drawingml/2006/main" noGrp="1"/>
          </p:cNvSpPr>
          <p:nvPr/>
        </p:nvSpPr>
        <p:spPr>
          <a:xfrm xmlns:a="http://schemas.openxmlformats.org/drawingml/2006/main">
            <a:off x="7781925" y="3457575"/>
            <a:ext cx="316230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42A3D"/>
                </a:solidFill>
                <a:latin typeface="DejaVu Sans"/>
                <a:ea typeface="DejaVu Sans"/>
                <a:cs typeface="DejaVu Sans"/>
              </a:defRPr>
            </a:pPr>
            <a:r>
              <a:rPr sz="1650" b="0">
                <a:solidFill>
                  <a:srgbClr val="142A3D"/>
                </a:solidFill>
                <a:latin typeface="DejaVu Sans"/>
                <a:ea typeface="DejaVu Sans"/>
                <a:cs typeface="DejaVu Sans"/>
              </a:rPr>
              <a:t>30 min / 4 h / 8 h horizons</a:t>
            </a:r>
          </a:p>
        </p:txBody>
      </p:sp>
      <p:sp>
        <p:nvSpPr>
          <p:cNvPr id="81" name="artifactory-text-80">
            <a:extLst xmlns:a="http://schemas.openxmlformats.org/drawingml/2006/main">
              <a:ext uri="{FF2B5EF4-FFF2-40B4-BE49-F238E27FC236}">
                <a16:creationId xmlns:a16="http://schemas.microsoft.com/office/drawing/2014/main" id="{EBABFCD1-4940-4CA1-A120-B081BDACAED5}"/>
              </a:ext>
            </a:extLst>
          </p:cNvPr>
          <p:cNvSpPr>
            <a:spLocks xmlns:a="http://schemas.openxmlformats.org/drawingml/2006/main" noGrp="1"/>
          </p:cNvSpPr>
          <p:nvPr/>
        </p:nvSpPr>
        <p:spPr>
          <a:xfrm xmlns:a="http://schemas.openxmlformats.org/drawingml/2006/main">
            <a:off x="7781925" y="3781425"/>
            <a:ext cx="3162300"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546779"/>
                </a:solidFill>
                <a:latin typeface="DejaVu Sans"/>
                <a:ea typeface="DejaVu Sans"/>
                <a:cs typeface="DejaVu Sans"/>
              </a:defRPr>
            </a:pPr>
            <a:r>
              <a:rPr sz="1350" b="1">
                <a:solidFill>
                  <a:srgbClr val="546779"/>
                </a:solidFill>
                <a:latin typeface="DejaVu Sans"/>
                <a:ea typeface="DejaVu Sans"/>
                <a:cs typeface="DejaVu Sans"/>
              </a:rPr>
              <a:t>Free storage (GB)</a:t>
            </a:r>
          </a:p>
        </p:txBody>
      </p:sp>
      <p:sp>
        <p:nvSpPr>
          <p:cNvPr id="82" name="artifactory-path-81">
            <a:extLst xmlns:a="http://schemas.openxmlformats.org/drawingml/2006/main">
              <a:ext uri="{FF2B5EF4-FFF2-40B4-BE49-F238E27FC236}">
                <a16:creationId xmlns:a16="http://schemas.microsoft.com/office/drawing/2014/main" id="{2A745F5D-B464-40D9-9350-15B98A0694F9}"/>
              </a:ext>
            </a:extLst>
          </p:cNvPr>
          <p:cNvSpPr>
            <a:spLocks xmlns:a="http://schemas.openxmlformats.org/drawingml/2006/main" noGrp="1"/>
          </p:cNvSpPr>
          <p:nvPr/>
        </p:nvSpPr>
        <p:spPr>
          <a:xfrm xmlns:a="http://schemas.openxmlformats.org/drawingml/2006/main">
            <a:off x="9144000" y="4561027"/>
            <a:ext cx="1676400" cy="427939"/>
          </a:xfrm>
          <a:custGeom xmlns:a="http://schemas.openxmlformats.org/drawingml/2006/main">
            <a:pathLst>
              <a:path w="1676400" h="427939">
                <a:moveTo>
                  <a:pt x="0" y="0"/>
                </a:moveTo>
                <a:lnTo>
                  <a:pt x="558800" y="107259"/>
                </a:lnTo>
                <a:lnTo>
                  <a:pt x="1117600" y="216438"/>
                </a:lnTo>
                <a:lnTo>
                  <a:pt x="1676400" y="325526"/>
                </a:lnTo>
                <a:lnTo>
                  <a:pt x="1676400" y="427939"/>
                </a:lnTo>
                <a:lnTo>
                  <a:pt x="1117600" y="293248"/>
                </a:lnTo>
                <a:lnTo>
                  <a:pt x="558800" y="158466"/>
                </a:lnTo>
                <a:lnTo>
                  <a:pt x="0" y="21946"/>
                </a:lnTo>
                <a:close/>
              </a:path>
            </a:pathLst>
          </a:custGeom>
          <a:solidFill xmlns:a="http://schemas.openxmlformats.org/drawingml/2006/main">
            <a:srgbClr val="D9D0F3"/>
          </a:solidFill>
          <a:ln xmlns:a="http://schemas.openxmlformats.org/drawingml/2006/main" w="0">
            <a:noFill/>
            <a:prstDash val="solid"/>
          </a:ln>
        </p:spPr>
      </p:sp>
      <p:sp>
        <p:nvSpPr>
          <p:cNvPr id="83" name="artifactory-path-82">
            <a:extLst xmlns:a="http://schemas.openxmlformats.org/drawingml/2006/main">
              <a:ext uri="{FF2B5EF4-FFF2-40B4-BE49-F238E27FC236}">
                <a16:creationId xmlns:a16="http://schemas.microsoft.com/office/drawing/2014/main" id="{B8336A88-FD73-49BC-9B21-4D4E6A2C564D}"/>
              </a:ext>
            </a:extLst>
          </p:cNvPr>
          <p:cNvSpPr>
            <a:spLocks xmlns:a="http://schemas.openxmlformats.org/drawingml/2006/main" noGrp="1"/>
          </p:cNvSpPr>
          <p:nvPr/>
        </p:nvSpPr>
        <p:spPr>
          <a:xfrm xmlns:a="http://schemas.openxmlformats.org/drawingml/2006/main">
            <a:off x="8267700" y="4937760"/>
            <a:ext cx="2552700" cy="9525"/>
          </a:xfrm>
          <a:custGeom xmlns:a="http://schemas.openxmlformats.org/drawingml/2006/main">
            <a:pathLst>
              <a:path w="2552700" h="9525">
                <a:moveTo>
                  <a:pt x="0" y="0"/>
                </a:moveTo>
                <a:lnTo>
                  <a:pt x="2552700" y="0"/>
                </a:lnTo>
              </a:path>
            </a:pathLst>
          </a:custGeom>
          <a:noFill xmlns:a="http://schemas.openxmlformats.org/drawingml/2006/main"/>
          <a:ln xmlns:a="http://schemas.openxmlformats.org/drawingml/2006/main" w="19050">
            <a:solidFill>
              <a:srgbClr val="C75F32"/>
            </a:solidFill>
            <a:prstDash val="dash"/>
          </a:ln>
        </p:spPr>
      </p:sp>
      <p:sp>
        <p:nvSpPr>
          <p:cNvPr id="84" name="artifactory-path-83">
            <a:extLst xmlns:a="http://schemas.openxmlformats.org/drawingml/2006/main">
              <a:ext uri="{FF2B5EF4-FFF2-40B4-BE49-F238E27FC236}">
                <a16:creationId xmlns:a16="http://schemas.microsoft.com/office/drawing/2014/main" id="{49347F7A-D35D-4C12-A76C-A820F5E4323B}"/>
              </a:ext>
            </a:extLst>
          </p:cNvPr>
          <p:cNvSpPr>
            <a:spLocks xmlns:a="http://schemas.openxmlformats.org/drawingml/2006/main" noGrp="1"/>
          </p:cNvSpPr>
          <p:nvPr/>
        </p:nvSpPr>
        <p:spPr>
          <a:xfrm xmlns:a="http://schemas.openxmlformats.org/drawingml/2006/main">
            <a:off x="8267700" y="4114800"/>
            <a:ext cx="2552700" cy="914400"/>
          </a:xfrm>
          <a:custGeom xmlns:a="http://schemas.openxmlformats.org/drawingml/2006/main">
            <a:pathLst>
              <a:path w="2552700" h="914400">
                <a:moveTo>
                  <a:pt x="0" y="0"/>
                </a:moveTo>
                <a:lnTo>
                  <a:pt x="0" y="914400"/>
                </a:lnTo>
                <a:lnTo>
                  <a:pt x="2552700" y="914400"/>
                </a:lnTo>
              </a:path>
            </a:pathLst>
          </a:custGeom>
          <a:noFill xmlns:a="http://schemas.openxmlformats.org/drawingml/2006/main"/>
          <a:ln xmlns:a="http://schemas.openxmlformats.org/drawingml/2006/main" w="14288">
            <a:solidFill>
              <a:srgbClr val="ACB9C8"/>
            </a:solidFill>
            <a:prstDash val="solid"/>
          </a:ln>
        </p:spPr>
      </p:sp>
      <p:sp>
        <p:nvSpPr>
          <p:cNvPr id="85" name="artifactory-path-84">
            <a:extLst xmlns:a="http://schemas.openxmlformats.org/drawingml/2006/main">
              <a:ext uri="{FF2B5EF4-FFF2-40B4-BE49-F238E27FC236}">
                <a16:creationId xmlns:a16="http://schemas.microsoft.com/office/drawing/2014/main" id="{8AD07AE1-93EB-4D32-936D-1312D779FE21}"/>
              </a:ext>
            </a:extLst>
          </p:cNvPr>
          <p:cNvSpPr>
            <a:spLocks xmlns:a="http://schemas.openxmlformats.org/drawingml/2006/main" noGrp="1"/>
          </p:cNvSpPr>
          <p:nvPr/>
        </p:nvSpPr>
        <p:spPr>
          <a:xfrm xmlns:a="http://schemas.openxmlformats.org/drawingml/2006/main">
            <a:off x="9144000" y="4114800"/>
            <a:ext cx="9525" cy="914400"/>
          </a:xfrm>
          <a:custGeom xmlns:a="http://schemas.openxmlformats.org/drawingml/2006/main">
            <a:pathLst>
              <a:path w="9525" h="914400">
                <a:moveTo>
                  <a:pt x="0" y="0"/>
                </a:moveTo>
                <a:lnTo>
                  <a:pt x="0" y="914400"/>
                </a:lnTo>
              </a:path>
            </a:pathLst>
          </a:custGeom>
          <a:noFill xmlns:a="http://schemas.openxmlformats.org/drawingml/2006/main"/>
          <a:ln xmlns:a="http://schemas.openxmlformats.org/drawingml/2006/main" w="14288">
            <a:solidFill>
              <a:srgbClr val="A79ABE"/>
            </a:solidFill>
            <a:prstDash val="dash"/>
          </a:ln>
        </p:spPr>
      </p:sp>
      <p:sp>
        <p:nvSpPr>
          <p:cNvPr id="86" name="artifactory-path-85">
            <a:extLst xmlns:a="http://schemas.openxmlformats.org/drawingml/2006/main">
              <a:ext uri="{FF2B5EF4-FFF2-40B4-BE49-F238E27FC236}">
                <a16:creationId xmlns:a16="http://schemas.microsoft.com/office/drawing/2014/main" id="{31BB67DC-B6F1-4D88-91A8-6780DB1BE166}"/>
              </a:ext>
            </a:extLst>
          </p:cNvPr>
          <p:cNvSpPr>
            <a:spLocks xmlns:a="http://schemas.openxmlformats.org/drawingml/2006/main" noGrp="1"/>
          </p:cNvSpPr>
          <p:nvPr/>
        </p:nvSpPr>
        <p:spPr>
          <a:xfrm xmlns:a="http://schemas.openxmlformats.org/drawingml/2006/main">
            <a:off x="8267700" y="4293108"/>
            <a:ext cx="876300" cy="278892"/>
          </a:xfrm>
          <a:custGeom xmlns:a="http://schemas.openxmlformats.org/drawingml/2006/main">
            <a:pathLst>
              <a:path w="876300" h="278892">
                <a:moveTo>
                  <a:pt x="0" y="0"/>
                </a:moveTo>
                <a:lnTo>
                  <a:pt x="125186" y="22860"/>
                </a:lnTo>
                <a:lnTo>
                  <a:pt x="250371" y="57607"/>
                </a:lnTo>
                <a:lnTo>
                  <a:pt x="375557" y="96012"/>
                </a:lnTo>
                <a:lnTo>
                  <a:pt x="500743" y="143561"/>
                </a:lnTo>
                <a:lnTo>
                  <a:pt x="625929" y="182880"/>
                </a:lnTo>
                <a:lnTo>
                  <a:pt x="751114" y="232258"/>
                </a:lnTo>
                <a:lnTo>
                  <a:pt x="876300" y="278892"/>
                </a:lnTo>
              </a:path>
            </a:pathLst>
          </a:custGeom>
          <a:noFill xmlns:a="http://schemas.openxmlformats.org/drawingml/2006/main"/>
          <a:ln xmlns:a="http://schemas.openxmlformats.org/drawingml/2006/main" w="36195">
            <a:solidFill>
              <a:srgbClr val="23649F"/>
            </a:solidFill>
            <a:prstDash val="solid"/>
          </a:ln>
        </p:spPr>
      </p:sp>
      <p:sp>
        <p:nvSpPr>
          <p:cNvPr id="87" name="artifactory-path-86">
            <a:extLst xmlns:a="http://schemas.openxmlformats.org/drawingml/2006/main">
              <a:ext uri="{FF2B5EF4-FFF2-40B4-BE49-F238E27FC236}">
                <a16:creationId xmlns:a16="http://schemas.microsoft.com/office/drawing/2014/main" id="{DA426812-080D-472A-8E86-CF79F96905FF}"/>
              </a:ext>
            </a:extLst>
          </p:cNvPr>
          <p:cNvSpPr>
            <a:spLocks xmlns:a="http://schemas.openxmlformats.org/drawingml/2006/main" noGrp="1"/>
          </p:cNvSpPr>
          <p:nvPr/>
        </p:nvSpPr>
        <p:spPr>
          <a:xfrm xmlns:a="http://schemas.openxmlformats.org/drawingml/2006/main">
            <a:off x="9144000" y="4572000"/>
            <a:ext cx="1676400" cy="365760"/>
          </a:xfrm>
          <a:custGeom xmlns:a="http://schemas.openxmlformats.org/drawingml/2006/main">
            <a:pathLst>
              <a:path w="1676400" h="365760">
                <a:moveTo>
                  <a:pt x="0" y="0"/>
                </a:moveTo>
                <a:lnTo>
                  <a:pt x="558800" y="121890"/>
                </a:lnTo>
                <a:lnTo>
                  <a:pt x="1117600" y="243870"/>
                </a:lnTo>
                <a:lnTo>
                  <a:pt x="1676400" y="365760"/>
                </a:lnTo>
              </a:path>
            </a:pathLst>
          </a:custGeom>
          <a:noFill xmlns:a="http://schemas.openxmlformats.org/drawingml/2006/main"/>
          <a:ln xmlns:a="http://schemas.openxmlformats.org/drawingml/2006/main" w="36195">
            <a:solidFill>
              <a:srgbClr val="6850B5"/>
            </a:solidFill>
            <a:prstDash val="dash"/>
          </a:ln>
        </p:spPr>
      </p:sp>
      <p:sp>
        <p:nvSpPr>
          <p:cNvPr id="88" name="artifactory-circle-87">
            <a:extLst xmlns:a="http://schemas.openxmlformats.org/drawingml/2006/main">
              <a:ext uri="{FF2B5EF4-FFF2-40B4-BE49-F238E27FC236}">
                <a16:creationId xmlns:a16="http://schemas.microsoft.com/office/drawing/2014/main" id="{9BF6A36C-53E8-4D8D-BED1-DC77725C404E}"/>
              </a:ext>
            </a:extLst>
          </p:cNvPr>
          <p:cNvSpPr>
            <a:spLocks xmlns:a="http://schemas.openxmlformats.org/drawingml/2006/main" noGrp="1"/>
          </p:cNvSpPr>
          <p:nvPr/>
        </p:nvSpPr>
        <p:spPr>
          <a:xfrm xmlns:a="http://schemas.openxmlformats.org/drawingml/2006/main">
            <a:off x="9105900" y="4533900"/>
            <a:ext cx="76200" cy="76200"/>
          </a:xfrm>
          <a:prstGeom xmlns:a="http://schemas.openxmlformats.org/drawingml/2006/main" prst="ellipse">
            <a:avLst/>
          </a:prstGeom>
          <a:solidFill xmlns:a="http://schemas.openxmlformats.org/drawingml/2006/main">
            <a:srgbClr val="6850B5"/>
          </a:solidFill>
          <a:ln xmlns:a="http://schemas.openxmlformats.org/drawingml/2006/main" w="9525">
            <a:noFill/>
          </a:ln>
        </p:spPr>
      </p:sp>
      <p:sp>
        <p:nvSpPr>
          <p:cNvPr id="89" name="artifactory-text-88">
            <a:extLst xmlns:a="http://schemas.openxmlformats.org/drawingml/2006/main">
              <a:ext uri="{FF2B5EF4-FFF2-40B4-BE49-F238E27FC236}">
                <a16:creationId xmlns:a16="http://schemas.microsoft.com/office/drawing/2014/main" id="{761AAB7F-450A-4294-8D7A-B6325968D38E}"/>
              </a:ext>
            </a:extLst>
          </p:cNvPr>
          <p:cNvSpPr>
            <a:spLocks xmlns:a="http://schemas.openxmlformats.org/drawingml/2006/main" noGrp="1"/>
          </p:cNvSpPr>
          <p:nvPr/>
        </p:nvSpPr>
        <p:spPr>
          <a:xfrm xmlns:a="http://schemas.openxmlformats.org/drawingml/2006/main">
            <a:off x="7781925" y="4029075"/>
            <a:ext cx="428625"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46779"/>
                </a:solidFill>
                <a:latin typeface="DejaVu Sans"/>
                <a:ea typeface="DejaVu Sans"/>
                <a:cs typeface="DejaVu Sans"/>
              </a:defRPr>
            </a:pPr>
            <a:r>
              <a:rPr sz="1200" b="0">
                <a:solidFill>
                  <a:srgbClr val="546779"/>
                </a:solidFill>
                <a:latin typeface="DejaVu Sans"/>
                <a:ea typeface="DejaVu Sans"/>
                <a:cs typeface="DejaVu Sans"/>
              </a:rPr>
              <a:t>1000</a:t>
            </a:r>
          </a:p>
        </p:txBody>
      </p:sp>
      <p:sp>
        <p:nvSpPr>
          <p:cNvPr id="90" name="artifactory-text-89">
            <a:extLst xmlns:a="http://schemas.openxmlformats.org/drawingml/2006/main">
              <a:ext uri="{FF2B5EF4-FFF2-40B4-BE49-F238E27FC236}">
                <a16:creationId xmlns:a16="http://schemas.microsoft.com/office/drawing/2014/main" id="{26C49357-DC3A-4AAC-B391-CDB8AD25919E}"/>
              </a:ext>
            </a:extLst>
          </p:cNvPr>
          <p:cNvSpPr>
            <a:spLocks xmlns:a="http://schemas.openxmlformats.org/drawingml/2006/main" noGrp="1"/>
          </p:cNvSpPr>
          <p:nvPr/>
        </p:nvSpPr>
        <p:spPr>
          <a:xfrm xmlns:a="http://schemas.openxmlformats.org/drawingml/2006/main">
            <a:off x="7781925" y="4905375"/>
            <a:ext cx="428625"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46779"/>
                </a:solidFill>
                <a:latin typeface="DejaVu Sans"/>
                <a:ea typeface="DejaVu Sans"/>
                <a:cs typeface="DejaVu Sans"/>
              </a:defRPr>
            </a:pPr>
            <a:r>
              <a:rPr sz="1200" b="0">
                <a:solidFill>
                  <a:srgbClr val="546779"/>
                </a:solidFill>
                <a:latin typeface="DejaVu Sans"/>
                <a:ea typeface="DejaVu Sans"/>
                <a:cs typeface="DejaVu Sans"/>
              </a:rPr>
              <a:t>0</a:t>
            </a:r>
          </a:p>
        </p:txBody>
      </p:sp>
      <p:sp>
        <p:nvSpPr>
          <p:cNvPr id="91" name="artifactory-text-90">
            <a:extLst xmlns:a="http://schemas.openxmlformats.org/drawingml/2006/main">
              <a:ext uri="{FF2B5EF4-FFF2-40B4-BE49-F238E27FC236}">
                <a16:creationId xmlns:a16="http://schemas.microsoft.com/office/drawing/2014/main" id="{81015927-ABA4-4B60-BC92-EBA0F2CE2E71}"/>
              </a:ext>
            </a:extLst>
          </p:cNvPr>
          <p:cNvSpPr>
            <a:spLocks xmlns:a="http://schemas.openxmlformats.org/drawingml/2006/main" noGrp="1"/>
          </p:cNvSpPr>
          <p:nvPr/>
        </p:nvSpPr>
        <p:spPr>
          <a:xfrm xmlns:a="http://schemas.openxmlformats.org/drawingml/2006/main">
            <a:off x="8362950" y="4699635"/>
            <a:ext cx="1905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C75F32"/>
                </a:solidFill>
                <a:latin typeface="DejaVu Sans"/>
                <a:ea typeface="DejaVu Sans"/>
                <a:cs typeface="DejaVu Sans"/>
              </a:defRPr>
            </a:pPr>
            <a:r>
              <a:rPr sz="1200" b="1">
                <a:solidFill>
                  <a:srgbClr val="C75F32"/>
                </a:solidFill>
                <a:latin typeface="DejaVu Sans"/>
                <a:ea typeface="DejaVu Sans"/>
                <a:cs typeface="DejaVu Sans"/>
              </a:rPr>
              <a:t>100 GB reserve</a:t>
            </a:r>
          </a:p>
        </p:txBody>
      </p:sp>
      <p:sp>
        <p:nvSpPr>
          <p:cNvPr id="92" name="artifactory-text-91">
            <a:extLst xmlns:a="http://schemas.openxmlformats.org/drawingml/2006/main">
              <a:ext uri="{FF2B5EF4-FFF2-40B4-BE49-F238E27FC236}">
                <a16:creationId xmlns:a16="http://schemas.microsoft.com/office/drawing/2014/main" id="{79D25773-9D11-47A6-95CC-75C65C760DE9}"/>
              </a:ext>
            </a:extLst>
          </p:cNvPr>
          <p:cNvSpPr>
            <a:spLocks xmlns:a="http://schemas.openxmlformats.org/drawingml/2006/main" noGrp="1"/>
          </p:cNvSpPr>
          <p:nvPr/>
        </p:nvSpPr>
        <p:spPr>
          <a:xfrm xmlns:a="http://schemas.openxmlformats.org/drawingml/2006/main">
            <a:off x="8267700" y="5133975"/>
            <a:ext cx="523875"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46779"/>
                </a:solidFill>
                <a:latin typeface="DejaVu Sans"/>
                <a:ea typeface="DejaVu Sans"/>
                <a:cs typeface="DejaVu Sans"/>
              </a:defRPr>
            </a:pPr>
            <a:r>
              <a:rPr sz="1200" b="0">
                <a:solidFill>
                  <a:srgbClr val="546779"/>
                </a:solidFill>
                <a:latin typeface="DejaVu Sans"/>
                <a:ea typeface="DejaVu Sans"/>
                <a:cs typeface="DejaVu Sans"/>
              </a:rPr>
              <a:t>Past</a:t>
            </a:r>
          </a:p>
        </p:txBody>
      </p:sp>
      <p:sp>
        <p:nvSpPr>
          <p:cNvPr id="93" name="artifactory-text-92">
            <a:extLst xmlns:a="http://schemas.openxmlformats.org/drawingml/2006/main">
              <a:ext uri="{FF2B5EF4-FFF2-40B4-BE49-F238E27FC236}">
                <a16:creationId xmlns:a16="http://schemas.microsoft.com/office/drawing/2014/main" id="{351144C0-39E6-4D6D-B038-3A528ED6B5D5}"/>
              </a:ext>
            </a:extLst>
          </p:cNvPr>
          <p:cNvSpPr>
            <a:spLocks xmlns:a="http://schemas.openxmlformats.org/drawingml/2006/main" noGrp="1"/>
          </p:cNvSpPr>
          <p:nvPr/>
        </p:nvSpPr>
        <p:spPr>
          <a:xfrm xmlns:a="http://schemas.openxmlformats.org/drawingml/2006/main">
            <a:off x="8934450" y="5133975"/>
            <a:ext cx="4953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546779"/>
                </a:solidFill>
                <a:latin typeface="DejaVu Sans"/>
                <a:ea typeface="DejaVu Sans"/>
                <a:cs typeface="DejaVu Sans"/>
              </a:defRPr>
            </a:pPr>
            <a:r>
              <a:rPr sz="1200" b="0">
                <a:solidFill>
                  <a:srgbClr val="546779"/>
                </a:solidFill>
                <a:latin typeface="DejaVu Sans"/>
                <a:ea typeface="DejaVu Sans"/>
                <a:cs typeface="DejaVu Sans"/>
              </a:rPr>
              <a:t>Now</a:t>
            </a:r>
          </a:p>
        </p:txBody>
      </p:sp>
      <p:sp>
        <p:nvSpPr>
          <p:cNvPr id="94" name="artifactory-text-93">
            <a:extLst xmlns:a="http://schemas.openxmlformats.org/drawingml/2006/main">
              <a:ext uri="{FF2B5EF4-FFF2-40B4-BE49-F238E27FC236}">
                <a16:creationId xmlns:a16="http://schemas.microsoft.com/office/drawing/2014/main" id="{54E7E908-8A69-4C45-9D59-48F13F2BA627}"/>
              </a:ext>
            </a:extLst>
          </p:cNvPr>
          <p:cNvSpPr>
            <a:spLocks xmlns:a="http://schemas.openxmlformats.org/drawingml/2006/main" noGrp="1"/>
          </p:cNvSpPr>
          <p:nvPr/>
        </p:nvSpPr>
        <p:spPr>
          <a:xfrm xmlns:a="http://schemas.openxmlformats.org/drawingml/2006/main">
            <a:off x="10020300" y="5133975"/>
            <a:ext cx="8001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46779"/>
                </a:solidFill>
                <a:latin typeface="DejaVu Sans"/>
                <a:ea typeface="DejaVu Sans"/>
                <a:cs typeface="DejaVu Sans"/>
              </a:defRPr>
            </a:pPr>
            <a:r>
              <a:rPr sz="1200" b="0">
                <a:solidFill>
                  <a:srgbClr val="546779"/>
                </a:solidFill>
                <a:latin typeface="DejaVu Sans"/>
                <a:ea typeface="DejaVu Sans"/>
                <a:cs typeface="DejaVu Sans"/>
              </a:rPr>
              <a:t>+8 h</a:t>
            </a:r>
          </a:p>
        </p:txBody>
      </p:sp>
      <p:sp>
        <p:nvSpPr>
          <p:cNvPr id="95" name="artifactory-path-94">
            <a:extLst xmlns:a="http://schemas.openxmlformats.org/drawingml/2006/main">
              <a:ext uri="{FF2B5EF4-FFF2-40B4-BE49-F238E27FC236}">
                <a16:creationId xmlns:a16="http://schemas.microsoft.com/office/drawing/2014/main" id="{1F17F269-CCEA-422F-96BE-219035545B20}"/>
              </a:ext>
            </a:extLst>
          </p:cNvPr>
          <p:cNvSpPr>
            <a:spLocks xmlns:a="http://schemas.openxmlformats.org/drawingml/2006/main" noGrp="1"/>
          </p:cNvSpPr>
          <p:nvPr/>
        </p:nvSpPr>
        <p:spPr>
          <a:xfrm xmlns:a="http://schemas.openxmlformats.org/drawingml/2006/main">
            <a:off x="7781925" y="5524500"/>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28575">
            <a:solidFill>
              <a:srgbClr val="23649F"/>
            </a:solidFill>
            <a:prstDash val="solid"/>
          </a:ln>
        </p:spPr>
      </p:sp>
      <p:sp>
        <p:nvSpPr>
          <p:cNvPr id="96" name="artifactory-text-95">
            <a:extLst xmlns:a="http://schemas.openxmlformats.org/drawingml/2006/main">
              <a:ext uri="{FF2B5EF4-FFF2-40B4-BE49-F238E27FC236}">
                <a16:creationId xmlns:a16="http://schemas.microsoft.com/office/drawing/2014/main" id="{9D6071E2-B889-4D8D-8A99-2720F44AE793}"/>
              </a:ext>
            </a:extLst>
          </p:cNvPr>
          <p:cNvSpPr>
            <a:spLocks xmlns:a="http://schemas.openxmlformats.org/drawingml/2006/main" noGrp="1"/>
          </p:cNvSpPr>
          <p:nvPr/>
        </p:nvSpPr>
        <p:spPr>
          <a:xfrm xmlns:a="http://schemas.openxmlformats.org/drawingml/2006/main">
            <a:off x="8077200" y="5410200"/>
            <a:ext cx="1095375"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46779"/>
                </a:solidFill>
                <a:latin typeface="DejaVu Sans"/>
                <a:ea typeface="DejaVu Sans"/>
                <a:cs typeface="DejaVu Sans"/>
              </a:defRPr>
            </a:pPr>
            <a:r>
              <a:rPr sz="1350" b="0">
                <a:solidFill>
                  <a:srgbClr val="546779"/>
                </a:solidFill>
                <a:latin typeface="DejaVu Sans"/>
                <a:ea typeface="DejaVu Sans"/>
                <a:cs typeface="DejaVu Sans"/>
              </a:rPr>
              <a:t>Observed</a:t>
            </a:r>
          </a:p>
        </p:txBody>
      </p:sp>
      <p:sp>
        <p:nvSpPr>
          <p:cNvPr id="97" name="artifactory-path-96">
            <a:extLst xmlns:a="http://schemas.openxmlformats.org/drawingml/2006/main">
              <a:ext uri="{FF2B5EF4-FFF2-40B4-BE49-F238E27FC236}">
                <a16:creationId xmlns:a16="http://schemas.microsoft.com/office/drawing/2014/main" id="{69A052F2-3F58-440B-9169-65B81055AC01}"/>
              </a:ext>
            </a:extLst>
          </p:cNvPr>
          <p:cNvSpPr>
            <a:spLocks xmlns:a="http://schemas.openxmlformats.org/drawingml/2006/main" noGrp="1"/>
          </p:cNvSpPr>
          <p:nvPr/>
        </p:nvSpPr>
        <p:spPr>
          <a:xfrm xmlns:a="http://schemas.openxmlformats.org/drawingml/2006/main">
            <a:off x="9229725" y="5524500"/>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28575">
            <a:solidFill>
              <a:srgbClr val="6850B5"/>
            </a:solidFill>
            <a:prstDash val="dash"/>
          </a:ln>
        </p:spPr>
      </p:sp>
      <p:sp>
        <p:nvSpPr>
          <p:cNvPr id="98" name="artifactory-text-97">
            <a:extLst xmlns:a="http://schemas.openxmlformats.org/drawingml/2006/main">
              <a:ext uri="{FF2B5EF4-FFF2-40B4-BE49-F238E27FC236}">
                <a16:creationId xmlns:a16="http://schemas.microsoft.com/office/drawing/2014/main" id="{D091059E-767C-4505-9129-E402B326C254}"/>
              </a:ext>
            </a:extLst>
          </p:cNvPr>
          <p:cNvSpPr>
            <a:spLocks xmlns:a="http://schemas.openxmlformats.org/drawingml/2006/main" noGrp="1"/>
          </p:cNvSpPr>
          <p:nvPr/>
        </p:nvSpPr>
        <p:spPr>
          <a:xfrm xmlns:a="http://schemas.openxmlformats.org/drawingml/2006/main">
            <a:off x="9515475" y="5410200"/>
            <a:ext cx="1514475"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46779"/>
                </a:solidFill>
                <a:latin typeface="DejaVu Sans"/>
                <a:ea typeface="DejaVu Sans"/>
                <a:cs typeface="DejaVu Sans"/>
              </a:defRPr>
            </a:pPr>
            <a:r>
              <a:rPr sz="1350" b="0">
                <a:solidFill>
                  <a:srgbClr val="546779"/>
                </a:solidFill>
                <a:latin typeface="DejaVu Sans"/>
                <a:ea typeface="DejaVu Sans"/>
                <a:cs typeface="DejaVu Sans"/>
              </a:rPr>
              <a:t>Forecast + band</a:t>
            </a:r>
          </a:p>
        </p:txBody>
      </p:sp>
      <p:sp>
        <p:nvSpPr>
          <p:cNvPr id="99" name="artifactory-text-98">
            <a:extLst xmlns:a="http://schemas.openxmlformats.org/drawingml/2006/main">
              <a:ext uri="{FF2B5EF4-FFF2-40B4-BE49-F238E27FC236}">
                <a16:creationId xmlns:a16="http://schemas.microsoft.com/office/drawing/2014/main" id="{1EB4E4BC-9B70-4125-A721-82D161148C4F}"/>
              </a:ext>
            </a:extLst>
          </p:cNvPr>
          <p:cNvSpPr>
            <a:spLocks xmlns:a="http://schemas.openxmlformats.org/drawingml/2006/main" noGrp="1"/>
          </p:cNvSpPr>
          <p:nvPr/>
        </p:nvSpPr>
        <p:spPr>
          <a:xfrm xmlns:a="http://schemas.openxmlformats.org/drawingml/2006/main">
            <a:off x="7781925" y="5743575"/>
            <a:ext cx="3171825"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850B5"/>
                </a:solidFill>
                <a:latin typeface="DejaVu Sans"/>
                <a:ea typeface="DejaVu Sans"/>
                <a:cs typeface="DejaVu Sans"/>
              </a:defRPr>
            </a:pPr>
            <a:r>
              <a:rPr sz="1350" b="0">
                <a:solidFill>
                  <a:srgbClr val="6850B5"/>
                </a:solidFill>
                <a:latin typeface="DejaVu Sans"/>
                <a:ea typeface="DejaVu Sans"/>
                <a:cs typeface="DejaVu Sans"/>
              </a:rPr>
              <a:t>Capacity rules add evidence</a:t>
            </a:r>
          </a:p>
        </p:txBody>
      </p:sp>
      <p:sp>
        <p:nvSpPr>
          <p:cNvPr id="100" name="artifactory-rect-99">
            <a:extLst xmlns:a="http://schemas.openxmlformats.org/drawingml/2006/main">
              <a:ext uri="{FF2B5EF4-FFF2-40B4-BE49-F238E27FC236}">
                <a16:creationId xmlns:a16="http://schemas.microsoft.com/office/drawing/2014/main" id="{F6BB45F5-BFF4-4FF7-865D-BAE2E76124CA}"/>
              </a:ext>
            </a:extLst>
          </p:cNvPr>
          <p:cNvSpPr>
            <a:spLocks xmlns:a="http://schemas.openxmlformats.org/drawingml/2006/main" noGrp="1"/>
          </p:cNvSpPr>
          <p:nvPr/>
        </p:nvSpPr>
        <p:spPr>
          <a:xfrm xmlns:a="http://schemas.openxmlformats.org/drawingml/2006/main">
            <a:off x="11658600" y="2171700"/>
            <a:ext cx="2838450" cy="3848100"/>
          </a:xfrm>
          <a:prstGeom xmlns:a="http://schemas.openxmlformats.org/drawingml/2006/main" prst="roundRect">
            <a:avLst>
              <a:gd name="adj" fmla="val 4027"/>
            </a:avLst>
          </a:prstGeom>
          <a:solidFill xmlns:a="http://schemas.openxmlformats.org/drawingml/2006/main">
            <a:srgbClr val="FFFFFF"/>
          </a:solidFill>
          <a:ln xmlns:a="http://schemas.openxmlformats.org/drawingml/2006/main" w="14288">
            <a:solidFill>
              <a:srgbClr val="D7E0E9"/>
            </a:solidFill>
          </a:ln>
        </p:spPr>
      </p:sp>
      <p:sp>
        <p:nvSpPr>
          <p:cNvPr id="101" name="artifactory-rect-100">
            <a:extLst xmlns:a="http://schemas.openxmlformats.org/drawingml/2006/main">
              <a:ext uri="{FF2B5EF4-FFF2-40B4-BE49-F238E27FC236}">
                <a16:creationId xmlns:a16="http://schemas.microsoft.com/office/drawing/2014/main" id="{947BD60B-06EA-4808-9C7C-10269E9F26EB}"/>
              </a:ext>
            </a:extLst>
          </p:cNvPr>
          <p:cNvSpPr>
            <a:spLocks xmlns:a="http://schemas.openxmlformats.org/drawingml/2006/main" noGrp="1"/>
          </p:cNvSpPr>
          <p:nvPr/>
        </p:nvSpPr>
        <p:spPr>
          <a:xfrm xmlns:a="http://schemas.openxmlformats.org/drawingml/2006/main">
            <a:off x="11658600" y="2171700"/>
            <a:ext cx="2838450" cy="47625"/>
          </a:xfrm>
          <a:prstGeom xmlns:a="http://schemas.openxmlformats.org/drawingml/2006/main" prst="roundRect">
            <a:avLst>
              <a:gd name="adj" fmla="val 0"/>
            </a:avLst>
          </a:prstGeom>
          <a:solidFill xmlns:a="http://schemas.openxmlformats.org/drawingml/2006/main">
            <a:srgbClr val="C75F32"/>
          </a:solidFill>
          <a:ln xmlns:a="http://schemas.openxmlformats.org/drawingml/2006/main" w="0">
            <a:noFill/>
          </a:ln>
        </p:spPr>
      </p:sp>
      <p:sp>
        <p:nvSpPr>
          <p:cNvPr id="102" name="artifactory-text-101">
            <a:extLst xmlns:a="http://schemas.openxmlformats.org/drawingml/2006/main">
              <a:ext uri="{FF2B5EF4-FFF2-40B4-BE49-F238E27FC236}">
                <a16:creationId xmlns:a16="http://schemas.microsoft.com/office/drawing/2014/main" id="{81468807-7CB0-4A40-8AA5-71C1716E71F9}"/>
              </a:ext>
            </a:extLst>
          </p:cNvPr>
          <p:cNvSpPr>
            <a:spLocks xmlns:a="http://schemas.openxmlformats.org/drawingml/2006/main" noGrp="1"/>
          </p:cNvSpPr>
          <p:nvPr/>
        </p:nvSpPr>
        <p:spPr>
          <a:xfrm xmlns:a="http://schemas.openxmlformats.org/drawingml/2006/main">
            <a:off x="11887200" y="2371725"/>
            <a:ext cx="2381250" cy="339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42A3D"/>
                </a:solidFill>
                <a:latin typeface="DejaVu Sans"/>
                <a:ea typeface="DejaVu Sans"/>
                <a:cs typeface="DejaVu Sans"/>
              </a:defRPr>
            </a:pPr>
            <a:r>
              <a:rPr sz="2025" b="1">
                <a:solidFill>
                  <a:srgbClr val="142A3D"/>
                </a:solidFill>
                <a:latin typeface="DejaVu Sans"/>
                <a:ea typeface="DejaVu Sans"/>
                <a:cs typeface="DejaVu Sans"/>
              </a:rPr>
              <a:t>Risk evaluation</a:t>
            </a:r>
          </a:p>
        </p:txBody>
      </p:sp>
      <p:sp>
        <p:nvSpPr>
          <p:cNvPr id="103" name="artifactory-text-102">
            <a:extLst xmlns:a="http://schemas.openxmlformats.org/drawingml/2006/main">
              <a:ext uri="{FF2B5EF4-FFF2-40B4-BE49-F238E27FC236}">
                <a16:creationId xmlns:a16="http://schemas.microsoft.com/office/drawing/2014/main" id="{E8D8A0CA-7C98-4D19-8BEE-A80412BD2D8D}"/>
              </a:ext>
            </a:extLst>
          </p:cNvPr>
          <p:cNvSpPr>
            <a:spLocks xmlns:a="http://schemas.openxmlformats.org/drawingml/2006/main" noGrp="1"/>
          </p:cNvSpPr>
          <p:nvPr/>
        </p:nvSpPr>
        <p:spPr>
          <a:xfrm xmlns:a="http://schemas.openxmlformats.org/drawingml/2006/main">
            <a:off x="11887200" y="2781300"/>
            <a:ext cx="2381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Storage headroom risk</a:t>
            </a:r>
          </a:p>
        </p:txBody>
      </p:sp>
      <p:sp>
        <p:nvSpPr>
          <p:cNvPr id="104" name="artifactory-text-103">
            <a:extLst xmlns:a="http://schemas.openxmlformats.org/drawingml/2006/main">
              <a:ext uri="{FF2B5EF4-FFF2-40B4-BE49-F238E27FC236}">
                <a16:creationId xmlns:a16="http://schemas.microsoft.com/office/drawing/2014/main" id="{3B33A928-DE3B-4AC2-8E2D-A3CBCC92E56F}"/>
              </a:ext>
            </a:extLst>
          </p:cNvPr>
          <p:cNvSpPr>
            <a:spLocks xmlns:a="http://schemas.openxmlformats.org/drawingml/2006/main" noGrp="1"/>
          </p:cNvSpPr>
          <p:nvPr/>
        </p:nvSpPr>
        <p:spPr>
          <a:xfrm xmlns:a="http://schemas.openxmlformats.org/drawingml/2006/main">
            <a:off x="11887200" y="3076575"/>
            <a:ext cx="2381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Download SLO breach</a:t>
            </a:r>
          </a:p>
        </p:txBody>
      </p:sp>
      <p:sp>
        <p:nvSpPr>
          <p:cNvPr id="105" name="artifactory-text-104">
            <a:extLst xmlns:a="http://schemas.openxmlformats.org/drawingml/2006/main">
              <a:ext uri="{FF2B5EF4-FFF2-40B4-BE49-F238E27FC236}">
                <a16:creationId xmlns:a16="http://schemas.microsoft.com/office/drawing/2014/main" id="{34F18CBE-0F78-4BD7-B370-24D2614362D6}"/>
              </a:ext>
            </a:extLst>
          </p:cNvPr>
          <p:cNvSpPr>
            <a:spLocks xmlns:a="http://schemas.openxmlformats.org/drawingml/2006/main" noGrp="1"/>
          </p:cNvSpPr>
          <p:nvPr/>
        </p:nvSpPr>
        <p:spPr>
          <a:xfrm xmlns:a="http://schemas.openxmlformats.org/drawingml/2006/main">
            <a:off x="11887200" y="3371850"/>
            <a:ext cx="2381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Database pressure</a:t>
            </a:r>
          </a:p>
        </p:txBody>
      </p:sp>
      <p:sp>
        <p:nvSpPr>
          <p:cNvPr id="106" name="artifactory-text-105">
            <a:extLst xmlns:a="http://schemas.openxmlformats.org/drawingml/2006/main">
              <a:ext uri="{FF2B5EF4-FFF2-40B4-BE49-F238E27FC236}">
                <a16:creationId xmlns:a16="http://schemas.microsoft.com/office/drawing/2014/main" id="{7EBB2C47-F1CA-4A41-BEAB-F7D641B6B5C4}"/>
              </a:ext>
            </a:extLst>
          </p:cNvPr>
          <p:cNvSpPr>
            <a:spLocks xmlns:a="http://schemas.openxmlformats.org/drawingml/2006/main" noGrp="1"/>
          </p:cNvSpPr>
          <p:nvPr/>
        </p:nvSpPr>
        <p:spPr>
          <a:xfrm xmlns:a="http://schemas.openxmlformats.org/drawingml/2006/main">
            <a:off x="11887200" y="3800475"/>
            <a:ext cx="23812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C75F32"/>
                </a:solidFill>
                <a:latin typeface="DejaVu Sans"/>
                <a:ea typeface="DejaVu Sans"/>
                <a:cs typeface="DejaVu Sans"/>
              </a:defRPr>
            </a:pPr>
            <a:r>
              <a:rPr sz="1725" b="1">
                <a:solidFill>
                  <a:srgbClr val="C75F32"/>
                </a:solidFill>
                <a:latin typeface="DejaVu Sans"/>
                <a:ea typeface="DejaVu Sans"/>
                <a:cs typeface="DejaVu Sans"/>
              </a:rPr>
              <a:t>Warning gate</a:t>
            </a:r>
          </a:p>
        </p:txBody>
      </p:sp>
      <p:sp>
        <p:nvSpPr>
          <p:cNvPr id="107" name="artifactory-text-106">
            <a:extLst xmlns:a="http://schemas.openxmlformats.org/drawingml/2006/main">
              <a:ext uri="{FF2B5EF4-FFF2-40B4-BE49-F238E27FC236}">
                <a16:creationId xmlns:a16="http://schemas.microsoft.com/office/drawing/2014/main" id="{452F2A04-E86A-491D-BA57-922DE1948C40}"/>
              </a:ext>
            </a:extLst>
          </p:cNvPr>
          <p:cNvSpPr>
            <a:spLocks xmlns:a="http://schemas.openxmlformats.org/drawingml/2006/main" noGrp="1"/>
          </p:cNvSpPr>
          <p:nvPr/>
        </p:nvSpPr>
        <p:spPr>
          <a:xfrm xmlns:a="http://schemas.openxmlformats.org/drawingml/2006/main">
            <a:off x="11887200" y="4152900"/>
            <a:ext cx="2381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Fresh + persistent signal</a:t>
            </a:r>
          </a:p>
        </p:txBody>
      </p:sp>
      <p:sp>
        <p:nvSpPr>
          <p:cNvPr id="108" name="artifactory-text-107">
            <a:extLst xmlns:a="http://schemas.openxmlformats.org/drawingml/2006/main">
              <a:ext uri="{FF2B5EF4-FFF2-40B4-BE49-F238E27FC236}">
                <a16:creationId xmlns:a16="http://schemas.microsoft.com/office/drawing/2014/main" id="{2E792314-8D08-42FA-9E66-295DC3927858}"/>
              </a:ext>
            </a:extLst>
          </p:cNvPr>
          <p:cNvSpPr>
            <a:spLocks xmlns:a="http://schemas.openxmlformats.org/drawingml/2006/main" noGrp="1"/>
          </p:cNvSpPr>
          <p:nvPr/>
        </p:nvSpPr>
        <p:spPr>
          <a:xfrm xmlns:a="http://schemas.openxmlformats.org/drawingml/2006/main">
            <a:off x="11887200" y="4419600"/>
            <a:ext cx="2381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Corroborating evidence</a:t>
            </a:r>
          </a:p>
        </p:txBody>
      </p:sp>
      <p:sp>
        <p:nvSpPr>
          <p:cNvPr id="109" name="artifactory-text-108">
            <a:extLst xmlns:a="http://schemas.openxmlformats.org/drawingml/2006/main">
              <a:ext uri="{FF2B5EF4-FFF2-40B4-BE49-F238E27FC236}">
                <a16:creationId xmlns:a16="http://schemas.microsoft.com/office/drawing/2014/main" id="{6F3598F2-634A-48E9-AD91-A40051504036}"/>
              </a:ext>
            </a:extLst>
          </p:cNvPr>
          <p:cNvSpPr>
            <a:spLocks xmlns:a="http://schemas.openxmlformats.org/drawingml/2006/main" noGrp="1"/>
          </p:cNvSpPr>
          <p:nvPr/>
        </p:nvSpPr>
        <p:spPr>
          <a:xfrm xmlns:a="http://schemas.openxmlformats.org/drawingml/2006/main">
            <a:off x="11887200" y="4686300"/>
            <a:ext cx="2381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Time to potential impact</a:t>
            </a:r>
          </a:p>
        </p:txBody>
      </p:sp>
      <p:sp>
        <p:nvSpPr>
          <p:cNvPr id="110" name="artifactory-rect-109">
            <a:extLst xmlns:a="http://schemas.openxmlformats.org/drawingml/2006/main">
              <a:ext uri="{FF2B5EF4-FFF2-40B4-BE49-F238E27FC236}">
                <a16:creationId xmlns:a16="http://schemas.microsoft.com/office/drawing/2014/main" id="{783436B6-5BBF-433F-B63C-781D61DEA1C6}"/>
              </a:ext>
            </a:extLst>
          </p:cNvPr>
          <p:cNvSpPr>
            <a:spLocks xmlns:a="http://schemas.openxmlformats.org/drawingml/2006/main" noGrp="1"/>
          </p:cNvSpPr>
          <p:nvPr/>
        </p:nvSpPr>
        <p:spPr>
          <a:xfrm xmlns:a="http://schemas.openxmlformats.org/drawingml/2006/main">
            <a:off x="11858625" y="5076825"/>
            <a:ext cx="2438400" cy="762000"/>
          </a:xfrm>
          <a:prstGeom xmlns:a="http://schemas.openxmlformats.org/drawingml/2006/main" prst="roundRect">
            <a:avLst>
              <a:gd name="adj" fmla="val 8750"/>
            </a:avLst>
          </a:prstGeom>
          <a:solidFill xmlns:a="http://schemas.openxmlformats.org/drawingml/2006/main">
            <a:srgbClr val="FFF1E7"/>
          </a:solidFill>
          <a:ln xmlns:a="http://schemas.openxmlformats.org/drawingml/2006/main" w="0">
            <a:noFill/>
          </a:ln>
        </p:spPr>
      </p:sp>
      <p:sp>
        <p:nvSpPr>
          <p:cNvPr id="111" name="artifactory-text-110">
            <a:extLst xmlns:a="http://schemas.openxmlformats.org/drawingml/2006/main">
              <a:ext uri="{FF2B5EF4-FFF2-40B4-BE49-F238E27FC236}">
                <a16:creationId xmlns:a16="http://schemas.microsoft.com/office/drawing/2014/main" id="{C0EA76AD-C3F7-47E4-AD71-6C681A8257EA}"/>
              </a:ext>
            </a:extLst>
          </p:cNvPr>
          <p:cNvSpPr>
            <a:spLocks xmlns:a="http://schemas.openxmlformats.org/drawingml/2006/main" noGrp="1"/>
          </p:cNvSpPr>
          <p:nvPr/>
        </p:nvSpPr>
        <p:spPr>
          <a:xfrm xmlns:a="http://schemas.openxmlformats.org/drawingml/2006/main">
            <a:off x="12001500" y="5162550"/>
            <a:ext cx="2152650" cy="1885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C75F32"/>
                </a:solidFill>
                <a:latin typeface="DejaVu Sans"/>
                <a:ea typeface="DejaVu Sans"/>
                <a:cs typeface="DejaVu Sans"/>
              </a:defRPr>
            </a:pPr>
            <a:r>
              <a:rPr sz="1125" b="1">
                <a:solidFill>
                  <a:srgbClr val="C75F32"/>
                </a:solidFill>
                <a:latin typeface="DejaVu Sans"/>
                <a:ea typeface="DejaVu Sans"/>
                <a:cs typeface="DejaVu Sans"/>
              </a:rPr>
              <a:t>ILLUSTRATIVE WARNING</a:t>
            </a:r>
          </a:p>
        </p:txBody>
      </p:sp>
      <p:sp>
        <p:nvSpPr>
          <p:cNvPr id="112" name="artifactory-text-111">
            <a:extLst xmlns:a="http://schemas.openxmlformats.org/drawingml/2006/main">
              <a:ext uri="{FF2B5EF4-FFF2-40B4-BE49-F238E27FC236}">
                <a16:creationId xmlns:a16="http://schemas.microsoft.com/office/drawing/2014/main" id="{2F46B02A-6D51-48BC-8DC2-85A2E473FF2B}"/>
              </a:ext>
            </a:extLst>
          </p:cNvPr>
          <p:cNvSpPr>
            <a:spLocks xmlns:a="http://schemas.openxmlformats.org/drawingml/2006/main" noGrp="1"/>
          </p:cNvSpPr>
          <p:nvPr/>
        </p:nvSpPr>
        <p:spPr>
          <a:xfrm xmlns:a="http://schemas.openxmlformats.org/drawingml/2006/main">
            <a:off x="12001500" y="5381625"/>
            <a:ext cx="21526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42A3D"/>
                </a:solidFill>
                <a:latin typeface="DejaVu Sans"/>
                <a:ea typeface="DejaVu Sans"/>
                <a:cs typeface="DejaVu Sans"/>
              </a:defRPr>
            </a:pPr>
            <a:r>
              <a:rPr sz="1500" b="1">
                <a:solidFill>
                  <a:srgbClr val="142A3D"/>
                </a:solidFill>
                <a:latin typeface="DejaVu Sans"/>
                <a:ea typeface="DejaVu Sans"/>
                <a:cs typeface="DejaVu Sans"/>
              </a:rPr>
              <a:t>Storage reserve</a:t>
            </a:r>
          </a:p>
        </p:txBody>
      </p:sp>
      <p:sp>
        <p:nvSpPr>
          <p:cNvPr id="113" name="artifactory-text-112">
            <a:extLst xmlns:a="http://schemas.openxmlformats.org/drawingml/2006/main">
              <a:ext uri="{FF2B5EF4-FFF2-40B4-BE49-F238E27FC236}">
                <a16:creationId xmlns:a16="http://schemas.microsoft.com/office/drawing/2014/main" id="{5BD72C60-433F-43C1-B9DC-1739C4EFF167}"/>
              </a:ext>
            </a:extLst>
          </p:cNvPr>
          <p:cNvSpPr>
            <a:spLocks xmlns:a="http://schemas.openxmlformats.org/drawingml/2006/main" noGrp="1"/>
          </p:cNvSpPr>
          <p:nvPr/>
        </p:nvSpPr>
        <p:spPr>
          <a:xfrm xmlns:a="http://schemas.openxmlformats.org/drawingml/2006/main">
            <a:off x="12001500" y="5619750"/>
            <a:ext cx="21526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42A3D"/>
                </a:solidFill>
                <a:latin typeface="DejaVu Sans"/>
                <a:ea typeface="DejaVu Sans"/>
                <a:cs typeface="DejaVu Sans"/>
              </a:defRPr>
            </a:pPr>
            <a:r>
              <a:rPr sz="1500" b="1">
                <a:solidFill>
                  <a:srgbClr val="142A3D"/>
                </a:solidFill>
                <a:latin typeface="DejaVu Sans"/>
                <a:ea typeface="DejaVu Sans"/>
                <a:cs typeface="DejaVu Sans"/>
              </a:rPr>
              <a:t>in about 8 hours</a:t>
            </a:r>
          </a:p>
        </p:txBody>
      </p:sp>
      <p:sp>
        <p:nvSpPr>
          <p:cNvPr id="114" name="artifactory-rect-113">
            <a:extLst xmlns:a="http://schemas.openxmlformats.org/drawingml/2006/main">
              <a:ext uri="{FF2B5EF4-FFF2-40B4-BE49-F238E27FC236}">
                <a16:creationId xmlns:a16="http://schemas.microsoft.com/office/drawing/2014/main" id="{8BAAC0BF-7597-4B6E-BFE3-5836392FCEFF}"/>
              </a:ext>
            </a:extLst>
          </p:cNvPr>
          <p:cNvSpPr>
            <a:spLocks xmlns:a="http://schemas.openxmlformats.org/drawingml/2006/main" noGrp="1"/>
          </p:cNvSpPr>
          <p:nvPr/>
        </p:nvSpPr>
        <p:spPr>
          <a:xfrm xmlns:a="http://schemas.openxmlformats.org/drawingml/2006/main">
            <a:off x="14954250" y="2171700"/>
            <a:ext cx="2724150" cy="3848100"/>
          </a:xfrm>
          <a:prstGeom xmlns:a="http://schemas.openxmlformats.org/drawingml/2006/main" prst="roundRect">
            <a:avLst>
              <a:gd name="adj" fmla="val 4196"/>
            </a:avLst>
          </a:prstGeom>
          <a:solidFill xmlns:a="http://schemas.openxmlformats.org/drawingml/2006/main">
            <a:srgbClr val="142E43"/>
          </a:solidFill>
          <a:ln xmlns:a="http://schemas.openxmlformats.org/drawingml/2006/main" w="14288">
            <a:solidFill>
              <a:srgbClr val="142E43"/>
            </a:solidFill>
          </a:ln>
        </p:spPr>
      </p:sp>
      <p:sp>
        <p:nvSpPr>
          <p:cNvPr id="115" name="artifactory-text-114">
            <a:extLst xmlns:a="http://schemas.openxmlformats.org/drawingml/2006/main">
              <a:ext uri="{FF2B5EF4-FFF2-40B4-BE49-F238E27FC236}">
                <a16:creationId xmlns:a16="http://schemas.microsoft.com/office/drawing/2014/main" id="{DA4F6D6D-C333-4E41-B0AE-3CA5714B9BDA}"/>
              </a:ext>
            </a:extLst>
          </p:cNvPr>
          <p:cNvSpPr>
            <a:spLocks xmlns:a="http://schemas.openxmlformats.org/drawingml/2006/main" noGrp="1"/>
          </p:cNvSpPr>
          <p:nvPr/>
        </p:nvSpPr>
        <p:spPr>
          <a:xfrm xmlns:a="http://schemas.openxmlformats.org/drawingml/2006/main">
            <a:off x="15201900" y="2390775"/>
            <a:ext cx="2228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Grafana + alerts</a:t>
            </a:r>
          </a:p>
        </p:txBody>
      </p:sp>
      <p:sp>
        <p:nvSpPr>
          <p:cNvPr id="116" name="artifactory-text-115">
            <a:extLst xmlns:a="http://schemas.openxmlformats.org/drawingml/2006/main">
              <a:ext uri="{FF2B5EF4-FFF2-40B4-BE49-F238E27FC236}">
                <a16:creationId xmlns:a16="http://schemas.microsoft.com/office/drawing/2014/main" id="{A2DEED80-6010-48BD-8BF3-19F1CB2B58DE}"/>
              </a:ext>
            </a:extLst>
          </p:cNvPr>
          <p:cNvSpPr>
            <a:spLocks xmlns:a="http://schemas.openxmlformats.org/drawingml/2006/main" noGrp="1"/>
          </p:cNvSpPr>
          <p:nvPr/>
        </p:nvSpPr>
        <p:spPr>
          <a:xfrm xmlns:a="http://schemas.openxmlformats.org/drawingml/2006/main">
            <a:off x="15201900" y="2847975"/>
            <a:ext cx="22288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DFE9F2"/>
                </a:solidFill>
                <a:latin typeface="DejaVu Sans"/>
                <a:ea typeface="DejaVu Sans"/>
                <a:cs typeface="DejaVu Sans"/>
              </a:defRPr>
            </a:pPr>
            <a:r>
              <a:rPr sz="1650" b="0">
                <a:solidFill>
                  <a:srgbClr val="DFE9F2"/>
                </a:solidFill>
                <a:latin typeface="DejaVu Sans"/>
                <a:ea typeface="DejaVu Sans"/>
                <a:cs typeface="DejaVu Sans"/>
              </a:rPr>
              <a:t>Forecast window</a:t>
            </a:r>
          </a:p>
        </p:txBody>
      </p:sp>
      <p:sp>
        <p:nvSpPr>
          <p:cNvPr id="117" name="artifactory-text-116">
            <a:extLst xmlns:a="http://schemas.openxmlformats.org/drawingml/2006/main">
              <a:ext uri="{FF2B5EF4-FFF2-40B4-BE49-F238E27FC236}">
                <a16:creationId xmlns:a16="http://schemas.microsoft.com/office/drawing/2014/main" id="{2A1CB067-A0CA-4BF1-AF7E-9B47ED749A78}"/>
              </a:ext>
            </a:extLst>
          </p:cNvPr>
          <p:cNvSpPr>
            <a:spLocks xmlns:a="http://schemas.openxmlformats.org/drawingml/2006/main" noGrp="1"/>
          </p:cNvSpPr>
          <p:nvPr/>
        </p:nvSpPr>
        <p:spPr>
          <a:xfrm xmlns:a="http://schemas.openxmlformats.org/drawingml/2006/main">
            <a:off x="15201900" y="3171825"/>
            <a:ext cx="22288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DFE9F2"/>
                </a:solidFill>
                <a:latin typeface="DejaVu Sans"/>
                <a:ea typeface="DejaVu Sans"/>
                <a:cs typeface="DejaVu Sans"/>
              </a:defRPr>
            </a:pPr>
            <a:r>
              <a:rPr sz="1650" b="0">
                <a:solidFill>
                  <a:srgbClr val="DFE9F2"/>
                </a:solidFill>
                <a:latin typeface="DejaVu Sans"/>
                <a:ea typeface="DejaVu Sans"/>
                <a:cs typeface="DejaVu Sans"/>
              </a:rPr>
              <a:t>Affected operation</a:t>
            </a:r>
          </a:p>
        </p:txBody>
      </p:sp>
      <p:sp>
        <p:nvSpPr>
          <p:cNvPr id="118" name="artifactory-text-117">
            <a:extLst xmlns:a="http://schemas.openxmlformats.org/drawingml/2006/main">
              <a:ext uri="{FF2B5EF4-FFF2-40B4-BE49-F238E27FC236}">
                <a16:creationId xmlns:a16="http://schemas.microsoft.com/office/drawing/2014/main" id="{C3D5816C-05D3-4334-A39A-2F354C8B88B8}"/>
              </a:ext>
            </a:extLst>
          </p:cNvPr>
          <p:cNvSpPr>
            <a:spLocks xmlns:a="http://schemas.openxmlformats.org/drawingml/2006/main" noGrp="1"/>
          </p:cNvSpPr>
          <p:nvPr/>
        </p:nvSpPr>
        <p:spPr>
          <a:xfrm xmlns:a="http://schemas.openxmlformats.org/drawingml/2006/main">
            <a:off x="15201900" y="3495675"/>
            <a:ext cx="2228850" cy="276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DFE9F2"/>
                </a:solidFill>
                <a:latin typeface="DejaVu Sans"/>
                <a:ea typeface="DejaVu Sans"/>
                <a:cs typeface="DejaVu Sans"/>
              </a:defRPr>
            </a:pPr>
            <a:r>
              <a:rPr sz="1650" b="0">
                <a:solidFill>
                  <a:srgbClr val="DFE9F2"/>
                </a:solidFill>
                <a:latin typeface="DejaVu Sans"/>
                <a:ea typeface="DejaVu Sans"/>
                <a:cs typeface="DejaVu Sans"/>
              </a:rPr>
              <a:t>Evidence and owner</a:t>
            </a:r>
          </a:p>
        </p:txBody>
      </p:sp>
      <p:sp>
        <p:nvSpPr>
          <p:cNvPr id="119" name="artifactory-path-118">
            <a:extLst xmlns:a="http://schemas.openxmlformats.org/drawingml/2006/main">
              <a:ext uri="{FF2B5EF4-FFF2-40B4-BE49-F238E27FC236}">
                <a16:creationId xmlns:a16="http://schemas.microsoft.com/office/drawing/2014/main" id="{68BB50EB-4507-400B-85D9-5ABA9E5D81CE}"/>
              </a:ext>
            </a:extLst>
          </p:cNvPr>
          <p:cNvSpPr>
            <a:spLocks xmlns:a="http://schemas.openxmlformats.org/drawingml/2006/main" noGrp="1"/>
          </p:cNvSpPr>
          <p:nvPr/>
        </p:nvSpPr>
        <p:spPr>
          <a:xfrm xmlns:a="http://schemas.openxmlformats.org/drawingml/2006/main">
            <a:off x="15201900" y="3924300"/>
            <a:ext cx="2228850" cy="9525"/>
          </a:xfrm>
          <a:custGeom xmlns:a="http://schemas.openxmlformats.org/drawingml/2006/main">
            <a:pathLst>
              <a:path w="2228850" h="9525">
                <a:moveTo>
                  <a:pt x="0" y="0"/>
                </a:moveTo>
                <a:lnTo>
                  <a:pt x="2228850" y="0"/>
                </a:lnTo>
              </a:path>
            </a:pathLst>
          </a:custGeom>
          <a:noFill xmlns:a="http://schemas.openxmlformats.org/drawingml/2006/main"/>
          <a:ln xmlns:a="http://schemas.openxmlformats.org/drawingml/2006/main" w="12383">
            <a:solidFill>
              <a:srgbClr val="3E5366"/>
            </a:solidFill>
            <a:prstDash val="solid"/>
          </a:ln>
        </p:spPr>
      </p:sp>
      <p:sp>
        <p:nvSpPr>
          <p:cNvPr id="120" name="artifactory-text-119">
            <a:extLst xmlns:a="http://schemas.openxmlformats.org/drawingml/2006/main">
              <a:ext uri="{FF2B5EF4-FFF2-40B4-BE49-F238E27FC236}">
                <a16:creationId xmlns:a16="http://schemas.microsoft.com/office/drawing/2014/main" id="{42A49A9D-5887-4581-B27B-CC42A5F32BAF}"/>
              </a:ext>
            </a:extLst>
          </p:cNvPr>
          <p:cNvSpPr>
            <a:spLocks xmlns:a="http://schemas.openxmlformats.org/drawingml/2006/main" noGrp="1"/>
          </p:cNvSpPr>
          <p:nvPr/>
        </p:nvSpPr>
        <p:spPr>
          <a:xfrm xmlns:a="http://schemas.openxmlformats.org/drawingml/2006/main">
            <a:off x="15201900" y="4105275"/>
            <a:ext cx="22288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On-call response</a:t>
            </a:r>
          </a:p>
        </p:txBody>
      </p:sp>
      <p:sp>
        <p:nvSpPr>
          <p:cNvPr id="121" name="artifactory-text-120">
            <a:extLst xmlns:a="http://schemas.openxmlformats.org/drawingml/2006/main">
              <a:ext uri="{FF2B5EF4-FFF2-40B4-BE49-F238E27FC236}">
                <a16:creationId xmlns:a16="http://schemas.microsoft.com/office/drawing/2014/main" id="{B4990CBB-E89D-4C3A-BB9A-92A55AF96234}"/>
              </a:ext>
            </a:extLst>
          </p:cNvPr>
          <p:cNvSpPr>
            <a:spLocks xmlns:a="http://schemas.openxmlformats.org/drawingml/2006/main" noGrp="1"/>
          </p:cNvSpPr>
          <p:nvPr/>
        </p:nvSpPr>
        <p:spPr>
          <a:xfrm xmlns:a="http://schemas.openxmlformats.org/drawingml/2006/main">
            <a:off x="15201900" y="4486275"/>
            <a:ext cx="22288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DFE9F2"/>
                </a:solidFill>
                <a:latin typeface="DejaVu Sans"/>
                <a:ea typeface="DejaVu Sans"/>
                <a:cs typeface="DejaVu Sans"/>
              </a:defRPr>
            </a:pPr>
            <a:r>
              <a:rPr sz="1500" b="0">
                <a:solidFill>
                  <a:srgbClr val="DFE9F2"/>
                </a:solidFill>
                <a:latin typeface="DejaVu Sans"/>
                <a:ea typeface="DejaVu Sans"/>
                <a:cs typeface="DejaVu Sans"/>
              </a:rPr>
              <a:t>Check storage / DB</a:t>
            </a:r>
          </a:p>
        </p:txBody>
      </p:sp>
      <p:sp>
        <p:nvSpPr>
          <p:cNvPr id="122" name="artifactory-text-121">
            <a:extLst xmlns:a="http://schemas.openxmlformats.org/drawingml/2006/main">
              <a:ext uri="{FF2B5EF4-FFF2-40B4-BE49-F238E27FC236}">
                <a16:creationId xmlns:a16="http://schemas.microsoft.com/office/drawing/2014/main" id="{CA7CCB45-A780-409A-891B-9E27DCD59B69}"/>
              </a:ext>
            </a:extLst>
          </p:cNvPr>
          <p:cNvSpPr>
            <a:spLocks xmlns:a="http://schemas.openxmlformats.org/drawingml/2006/main" noGrp="1"/>
          </p:cNvSpPr>
          <p:nvPr/>
        </p:nvSpPr>
        <p:spPr>
          <a:xfrm xmlns:a="http://schemas.openxmlformats.org/drawingml/2006/main">
            <a:off x="15201900" y="4781550"/>
            <a:ext cx="22288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DFE9F2"/>
                </a:solidFill>
                <a:latin typeface="DejaVu Sans"/>
                <a:ea typeface="DejaVu Sans"/>
                <a:cs typeface="DejaVu Sans"/>
              </a:defRPr>
            </a:pPr>
            <a:r>
              <a:rPr sz="1500" b="0">
                <a:solidFill>
                  <a:srgbClr val="DFE9F2"/>
                </a:solidFill>
                <a:latin typeface="DejaVu Sans"/>
                <a:ea typeface="DejaVu Sans"/>
                <a:cs typeface="DejaVu Sans"/>
              </a:rPr>
              <a:t>Add approved capacity</a:t>
            </a:r>
          </a:p>
        </p:txBody>
      </p:sp>
      <p:sp>
        <p:nvSpPr>
          <p:cNvPr id="123" name="artifactory-text-122">
            <a:extLst xmlns:a="http://schemas.openxmlformats.org/drawingml/2006/main">
              <a:ext uri="{FF2B5EF4-FFF2-40B4-BE49-F238E27FC236}">
                <a16:creationId xmlns:a16="http://schemas.microsoft.com/office/drawing/2014/main" id="{FAD5A6E8-0B9D-42A1-B482-13FA22246464}"/>
              </a:ext>
            </a:extLst>
          </p:cNvPr>
          <p:cNvSpPr>
            <a:spLocks xmlns:a="http://schemas.openxmlformats.org/drawingml/2006/main" noGrp="1"/>
          </p:cNvSpPr>
          <p:nvPr/>
        </p:nvSpPr>
        <p:spPr>
          <a:xfrm xmlns:a="http://schemas.openxmlformats.org/drawingml/2006/main">
            <a:off x="15201900" y="5076825"/>
            <a:ext cx="22288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DFE9F2"/>
                </a:solidFill>
                <a:latin typeface="DejaVu Sans"/>
                <a:ea typeface="DejaVu Sans"/>
                <a:cs typeface="DejaVu Sans"/>
              </a:defRPr>
            </a:pPr>
            <a:r>
              <a:rPr sz="1500" b="0">
                <a:solidFill>
                  <a:srgbClr val="DFE9F2"/>
                </a:solidFill>
                <a:latin typeface="DejaVu Sans"/>
                <a:ea typeface="DejaVu Sans"/>
                <a:cs typeface="DejaVu Sans"/>
              </a:rPr>
              <a:t>Approve retention</a:t>
            </a:r>
          </a:p>
        </p:txBody>
      </p:sp>
      <p:sp>
        <p:nvSpPr>
          <p:cNvPr id="124" name="artifactory-text-123">
            <a:extLst xmlns:a="http://schemas.openxmlformats.org/drawingml/2006/main">
              <a:ext uri="{FF2B5EF4-FFF2-40B4-BE49-F238E27FC236}">
                <a16:creationId xmlns:a16="http://schemas.microsoft.com/office/drawing/2014/main" id="{5BB6F6DA-3956-4C4E-A34F-60ED3FB133CD}"/>
              </a:ext>
            </a:extLst>
          </p:cNvPr>
          <p:cNvSpPr>
            <a:spLocks xmlns:a="http://schemas.openxmlformats.org/drawingml/2006/main" noGrp="1"/>
          </p:cNvSpPr>
          <p:nvPr/>
        </p:nvSpPr>
        <p:spPr>
          <a:xfrm xmlns:a="http://schemas.openxmlformats.org/drawingml/2006/main">
            <a:off x="15201900" y="5629275"/>
            <a:ext cx="2228850"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B3CADB"/>
                </a:solidFill>
                <a:latin typeface="DejaVu Sans"/>
                <a:ea typeface="DejaVu Sans"/>
                <a:cs typeface="DejaVu Sans"/>
              </a:defRPr>
            </a:pPr>
            <a:r>
              <a:rPr sz="1350" b="0">
                <a:solidFill>
                  <a:srgbClr val="B3CADB"/>
                </a:solidFill>
                <a:latin typeface="DejaVu Sans"/>
                <a:ea typeface="DejaVu Sans"/>
                <a:cs typeface="DejaVu Sans"/>
              </a:rPr>
              <a:t>Use an approved runbook</a:t>
            </a:r>
          </a:p>
        </p:txBody>
      </p:sp>
      <p:sp>
        <p:nvSpPr>
          <p:cNvPr id="125" name="artifactory-text-124">
            <a:extLst xmlns:a="http://schemas.openxmlformats.org/drawingml/2006/main">
              <a:ext uri="{FF2B5EF4-FFF2-40B4-BE49-F238E27FC236}">
                <a16:creationId xmlns:a16="http://schemas.microsoft.com/office/drawing/2014/main" id="{EE5C974A-1C59-40CF-9B99-F9E76CBE42D2}"/>
              </a:ext>
            </a:extLst>
          </p:cNvPr>
          <p:cNvSpPr>
            <a:spLocks xmlns:a="http://schemas.openxmlformats.org/drawingml/2006/main" noGrp="1"/>
          </p:cNvSpPr>
          <p:nvPr/>
        </p:nvSpPr>
        <p:spPr>
          <a:xfrm xmlns:a="http://schemas.openxmlformats.org/drawingml/2006/main">
            <a:off x="609600" y="6791325"/>
            <a:ext cx="32385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546779"/>
                </a:solidFill>
                <a:latin typeface="DejaVu Sans"/>
                <a:ea typeface="DejaVu Sans"/>
                <a:cs typeface="DejaVu Sans"/>
              </a:defRPr>
            </a:pPr>
            <a:r>
              <a:rPr sz="1500" b="1">
                <a:solidFill>
                  <a:srgbClr val="546779"/>
                </a:solidFill>
                <a:latin typeface="DejaVu Sans"/>
                <a:ea typeface="DejaVu Sans"/>
                <a:cs typeface="DejaVu Sans"/>
              </a:rPr>
              <a:t>HISTORY &amp; LEARNING</a:t>
            </a:r>
          </a:p>
        </p:txBody>
      </p:sp>
      <p:sp>
        <p:nvSpPr>
          <p:cNvPr id="126" name="artifactory-text-125">
            <a:extLst xmlns:a="http://schemas.openxmlformats.org/drawingml/2006/main">
              <a:ext uri="{FF2B5EF4-FFF2-40B4-BE49-F238E27FC236}">
                <a16:creationId xmlns:a16="http://schemas.microsoft.com/office/drawing/2014/main" id="{E976D796-79D8-4EC9-A5DB-5C57679B646B}"/>
              </a:ext>
            </a:extLst>
          </p:cNvPr>
          <p:cNvSpPr>
            <a:spLocks xmlns:a="http://schemas.openxmlformats.org/drawingml/2006/main" noGrp="1"/>
          </p:cNvSpPr>
          <p:nvPr/>
        </p:nvSpPr>
        <p:spPr>
          <a:xfrm xmlns:a="http://schemas.openxmlformats.org/drawingml/2006/main">
            <a:off x="5810250" y="6724650"/>
            <a:ext cx="1809750" cy="2263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23649F"/>
                </a:solidFill>
                <a:latin typeface="DejaVu Sans"/>
                <a:ea typeface="DejaVu Sans"/>
                <a:cs typeface="DejaVu Sans"/>
              </a:defRPr>
            </a:pPr>
            <a:r>
              <a:rPr sz="1350" b="0">
                <a:solidFill>
                  <a:srgbClr val="23649F"/>
                </a:solidFill>
                <a:latin typeface="DejaVu Sans"/>
                <a:ea typeface="DejaVu Sans"/>
                <a:cs typeface="DejaVu Sans"/>
              </a:rPr>
              <a:t>Async feature export</a:t>
            </a:r>
          </a:p>
        </p:txBody>
      </p:sp>
      <p:sp>
        <p:nvSpPr>
          <p:cNvPr id="127" name="artifactory-text-126">
            <a:extLst xmlns:a="http://schemas.openxmlformats.org/drawingml/2006/main">
              <a:ext uri="{FF2B5EF4-FFF2-40B4-BE49-F238E27FC236}">
                <a16:creationId xmlns:a16="http://schemas.microsoft.com/office/drawing/2014/main" id="{3615DEA3-0D1F-49BB-B87F-432FF164B860}"/>
              </a:ext>
            </a:extLst>
          </p:cNvPr>
          <p:cNvSpPr>
            <a:spLocks xmlns:a="http://schemas.openxmlformats.org/drawingml/2006/main" noGrp="1"/>
          </p:cNvSpPr>
          <p:nvPr/>
        </p:nvSpPr>
        <p:spPr>
          <a:xfrm xmlns:a="http://schemas.openxmlformats.org/drawingml/2006/main">
            <a:off x="9620250" y="6743700"/>
            <a:ext cx="3143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6850B5"/>
                </a:solidFill>
                <a:latin typeface="DejaVu Sans"/>
                <a:ea typeface="DejaVu Sans"/>
                <a:cs typeface="DejaVu Sans"/>
              </a:defRPr>
            </a:pPr>
            <a:r>
              <a:rPr sz="1500" b="1">
                <a:solidFill>
                  <a:srgbClr val="6850B5"/>
                </a:solidFill>
                <a:latin typeface="DejaVu Sans"/>
                <a:ea typeface="DejaVu Sans"/>
                <a:cs typeface="DejaVu Sans"/>
              </a:rPr>
              <a:t>Validated model</a:t>
            </a:r>
          </a:p>
        </p:txBody>
      </p:sp>
      <p:sp>
        <p:nvSpPr>
          <p:cNvPr id="128" name="artifactory-rect-127">
            <a:extLst xmlns:a="http://schemas.openxmlformats.org/drawingml/2006/main">
              <a:ext uri="{FF2B5EF4-FFF2-40B4-BE49-F238E27FC236}">
                <a16:creationId xmlns:a16="http://schemas.microsoft.com/office/drawing/2014/main" id="{BC9EA942-B377-427F-A18A-EFC308105233}"/>
              </a:ext>
            </a:extLst>
          </p:cNvPr>
          <p:cNvSpPr>
            <a:spLocks xmlns:a="http://schemas.openxmlformats.org/drawingml/2006/main" noGrp="1"/>
          </p:cNvSpPr>
          <p:nvPr/>
        </p:nvSpPr>
        <p:spPr>
          <a:xfrm xmlns:a="http://schemas.openxmlformats.org/drawingml/2006/main">
            <a:off x="4210050" y="7620000"/>
            <a:ext cx="28575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14288">
            <a:solidFill>
              <a:srgbClr val="D7E0E9"/>
            </a:solidFill>
          </a:ln>
        </p:spPr>
      </p:sp>
      <p:sp>
        <p:nvSpPr>
          <p:cNvPr id="129" name="artifactory-text-128">
            <a:extLst xmlns:a="http://schemas.openxmlformats.org/drawingml/2006/main">
              <a:ext uri="{FF2B5EF4-FFF2-40B4-BE49-F238E27FC236}">
                <a16:creationId xmlns:a16="http://schemas.microsoft.com/office/drawing/2014/main" id="{E4CB0FA4-A0BB-43C9-8842-1566388A5ED3}"/>
              </a:ext>
            </a:extLst>
          </p:cNvPr>
          <p:cNvSpPr>
            <a:spLocks xmlns:a="http://schemas.openxmlformats.org/drawingml/2006/main" noGrp="1"/>
          </p:cNvSpPr>
          <p:nvPr/>
        </p:nvSpPr>
        <p:spPr>
          <a:xfrm xmlns:a="http://schemas.openxmlformats.org/drawingml/2006/main">
            <a:off x="4429125" y="7800975"/>
            <a:ext cx="241935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42A3D"/>
                </a:solidFill>
                <a:latin typeface="DejaVu Sans"/>
                <a:ea typeface="DejaVu Sans"/>
                <a:cs typeface="DejaVu Sans"/>
              </a:defRPr>
            </a:pPr>
            <a:r>
              <a:rPr sz="1950" b="1">
                <a:solidFill>
                  <a:srgbClr val="142A3D"/>
                </a:solidFill>
                <a:latin typeface="DejaVu Sans"/>
                <a:ea typeface="DejaVu Sans"/>
                <a:cs typeface="DejaVu Sans"/>
              </a:rPr>
              <a:t>BigQuery history</a:t>
            </a:r>
          </a:p>
        </p:txBody>
      </p:sp>
      <p:sp>
        <p:nvSpPr>
          <p:cNvPr id="130" name="artifactory-text-129">
            <a:extLst xmlns:a="http://schemas.openxmlformats.org/drawingml/2006/main">
              <a:ext uri="{FF2B5EF4-FFF2-40B4-BE49-F238E27FC236}">
                <a16:creationId xmlns:a16="http://schemas.microsoft.com/office/drawing/2014/main" id="{7F7A79C4-96A4-40D6-ACAF-17173DC677F8}"/>
              </a:ext>
            </a:extLst>
          </p:cNvPr>
          <p:cNvSpPr>
            <a:spLocks xmlns:a="http://schemas.openxmlformats.org/drawingml/2006/main" noGrp="1"/>
          </p:cNvSpPr>
          <p:nvPr/>
        </p:nvSpPr>
        <p:spPr>
          <a:xfrm xmlns:a="http://schemas.openxmlformats.org/drawingml/2006/main">
            <a:off x="4429125" y="8201025"/>
            <a:ext cx="24193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Features + incidents</a:t>
            </a:r>
          </a:p>
        </p:txBody>
      </p:sp>
      <p:sp>
        <p:nvSpPr>
          <p:cNvPr id="131" name="artifactory-text-130">
            <a:extLst xmlns:a="http://schemas.openxmlformats.org/drawingml/2006/main">
              <a:ext uri="{FF2B5EF4-FFF2-40B4-BE49-F238E27FC236}">
                <a16:creationId xmlns:a16="http://schemas.microsoft.com/office/drawing/2014/main" id="{7FD8A01C-741B-4289-9933-8454437CA380}"/>
              </a:ext>
            </a:extLst>
          </p:cNvPr>
          <p:cNvSpPr>
            <a:spLocks xmlns:a="http://schemas.openxmlformats.org/drawingml/2006/main" noGrp="1"/>
          </p:cNvSpPr>
          <p:nvPr/>
        </p:nvSpPr>
        <p:spPr>
          <a:xfrm xmlns:a="http://schemas.openxmlformats.org/drawingml/2006/main">
            <a:off x="4429125" y="8505825"/>
            <a:ext cx="24193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Event &amp; ingestion times</a:t>
            </a:r>
          </a:p>
        </p:txBody>
      </p:sp>
      <p:sp>
        <p:nvSpPr>
          <p:cNvPr id="132" name="artifactory-rect-131">
            <a:extLst xmlns:a="http://schemas.openxmlformats.org/drawingml/2006/main">
              <a:ext uri="{FF2B5EF4-FFF2-40B4-BE49-F238E27FC236}">
                <a16:creationId xmlns:a16="http://schemas.microsoft.com/office/drawing/2014/main" id="{BFB2D762-AB7E-4922-9EA8-62FCF9A08366}"/>
              </a:ext>
            </a:extLst>
          </p:cNvPr>
          <p:cNvSpPr>
            <a:spLocks xmlns:a="http://schemas.openxmlformats.org/drawingml/2006/main" noGrp="1"/>
          </p:cNvSpPr>
          <p:nvPr/>
        </p:nvSpPr>
        <p:spPr>
          <a:xfrm xmlns:a="http://schemas.openxmlformats.org/drawingml/2006/main">
            <a:off x="7524750" y="7620000"/>
            <a:ext cx="36766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14288">
            <a:solidFill>
              <a:srgbClr val="D6CDED"/>
            </a:solidFill>
          </a:ln>
        </p:spPr>
      </p:sp>
      <p:sp>
        <p:nvSpPr>
          <p:cNvPr id="133" name="artifactory-text-132">
            <a:extLst xmlns:a="http://schemas.openxmlformats.org/drawingml/2006/main">
              <a:ext uri="{FF2B5EF4-FFF2-40B4-BE49-F238E27FC236}">
                <a16:creationId xmlns:a16="http://schemas.microsoft.com/office/drawing/2014/main" id="{A70C1DBE-68A8-4633-9812-4C45825FDE4D}"/>
              </a:ext>
            </a:extLst>
          </p:cNvPr>
          <p:cNvSpPr>
            <a:spLocks xmlns:a="http://schemas.openxmlformats.org/drawingml/2006/main" noGrp="1"/>
          </p:cNvSpPr>
          <p:nvPr/>
        </p:nvSpPr>
        <p:spPr>
          <a:xfrm xmlns:a="http://schemas.openxmlformats.org/drawingml/2006/main">
            <a:off x="7781925" y="7800975"/>
            <a:ext cx="316230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42A3D"/>
                </a:solidFill>
                <a:latin typeface="DejaVu Sans"/>
                <a:ea typeface="DejaVu Sans"/>
                <a:cs typeface="DejaVu Sans"/>
              </a:defRPr>
            </a:pPr>
            <a:r>
              <a:rPr sz="1950" b="1">
                <a:solidFill>
                  <a:srgbClr val="142A3D"/>
                </a:solidFill>
                <a:latin typeface="DejaVu Sans"/>
                <a:ea typeface="DejaVu Sans"/>
                <a:cs typeface="DejaVu Sans"/>
              </a:rPr>
              <a:t>Cloud Run training job</a:t>
            </a:r>
          </a:p>
        </p:txBody>
      </p:sp>
      <p:sp>
        <p:nvSpPr>
          <p:cNvPr id="134" name="artifactory-text-133">
            <a:extLst xmlns:a="http://schemas.openxmlformats.org/drawingml/2006/main">
              <a:ext uri="{FF2B5EF4-FFF2-40B4-BE49-F238E27FC236}">
                <a16:creationId xmlns:a16="http://schemas.microsoft.com/office/drawing/2014/main" id="{71A7776E-FCB7-4CEE-97DD-A6D5C79F068D}"/>
              </a:ext>
            </a:extLst>
          </p:cNvPr>
          <p:cNvSpPr>
            <a:spLocks xmlns:a="http://schemas.openxmlformats.org/drawingml/2006/main" noGrp="1"/>
          </p:cNvSpPr>
          <p:nvPr/>
        </p:nvSpPr>
        <p:spPr>
          <a:xfrm xmlns:a="http://schemas.openxmlformats.org/drawingml/2006/main">
            <a:off x="7781925" y="8181975"/>
            <a:ext cx="316230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Train on earlier windows</a:t>
            </a:r>
          </a:p>
        </p:txBody>
      </p:sp>
      <p:sp>
        <p:nvSpPr>
          <p:cNvPr id="135" name="artifactory-text-134">
            <a:extLst xmlns:a="http://schemas.openxmlformats.org/drawingml/2006/main">
              <a:ext uri="{FF2B5EF4-FFF2-40B4-BE49-F238E27FC236}">
                <a16:creationId xmlns:a16="http://schemas.microsoft.com/office/drawing/2014/main" id="{25614826-F854-4FAD-B16D-5DB936606F1D}"/>
              </a:ext>
            </a:extLst>
          </p:cNvPr>
          <p:cNvSpPr>
            <a:spLocks xmlns:a="http://schemas.openxmlformats.org/drawingml/2006/main" noGrp="1"/>
          </p:cNvSpPr>
          <p:nvPr/>
        </p:nvSpPr>
        <p:spPr>
          <a:xfrm xmlns:a="http://schemas.openxmlformats.org/drawingml/2006/main">
            <a:off x="7781925" y="8429625"/>
            <a:ext cx="316230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Test on later incidents</a:t>
            </a:r>
          </a:p>
        </p:txBody>
      </p:sp>
      <p:sp>
        <p:nvSpPr>
          <p:cNvPr id="136" name="artifactory-text-135">
            <a:extLst xmlns:a="http://schemas.openxmlformats.org/drawingml/2006/main">
              <a:ext uri="{FF2B5EF4-FFF2-40B4-BE49-F238E27FC236}">
                <a16:creationId xmlns:a16="http://schemas.microsoft.com/office/drawing/2014/main" id="{2A0E2AC2-E9BA-4501-AF61-280953D26D4C}"/>
              </a:ext>
            </a:extLst>
          </p:cNvPr>
          <p:cNvSpPr>
            <a:spLocks xmlns:a="http://schemas.openxmlformats.org/drawingml/2006/main" noGrp="1"/>
          </p:cNvSpPr>
          <p:nvPr/>
        </p:nvSpPr>
        <p:spPr>
          <a:xfrm xmlns:a="http://schemas.openxmlformats.org/drawingml/2006/main">
            <a:off x="7781925" y="8677275"/>
            <a:ext cx="316230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Compare with baseline alerts</a:t>
            </a:r>
          </a:p>
        </p:txBody>
      </p:sp>
      <p:sp>
        <p:nvSpPr>
          <p:cNvPr id="137" name="artifactory-rect-136">
            <a:extLst xmlns:a="http://schemas.openxmlformats.org/drawingml/2006/main">
              <a:ext uri="{FF2B5EF4-FFF2-40B4-BE49-F238E27FC236}">
                <a16:creationId xmlns:a16="http://schemas.microsoft.com/office/drawing/2014/main" id="{A9475EDD-634F-4A6D-80DA-372863E6B1E7}"/>
              </a:ext>
            </a:extLst>
          </p:cNvPr>
          <p:cNvSpPr>
            <a:spLocks xmlns:a="http://schemas.openxmlformats.org/drawingml/2006/main" noGrp="1"/>
          </p:cNvSpPr>
          <p:nvPr/>
        </p:nvSpPr>
        <p:spPr>
          <a:xfrm xmlns:a="http://schemas.openxmlformats.org/drawingml/2006/main">
            <a:off x="11658600" y="7620000"/>
            <a:ext cx="28384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14288">
            <a:solidFill>
              <a:srgbClr val="D6CDED"/>
            </a:solidFill>
          </a:ln>
        </p:spPr>
      </p:sp>
      <p:sp>
        <p:nvSpPr>
          <p:cNvPr id="138" name="artifactory-text-137">
            <a:extLst xmlns:a="http://schemas.openxmlformats.org/drawingml/2006/main">
              <a:ext uri="{FF2B5EF4-FFF2-40B4-BE49-F238E27FC236}">
                <a16:creationId xmlns:a16="http://schemas.microsoft.com/office/drawing/2014/main" id="{FBC50BC1-BA8B-45D5-BDFE-C16D676F31DD}"/>
              </a:ext>
            </a:extLst>
          </p:cNvPr>
          <p:cNvSpPr>
            <a:spLocks xmlns:a="http://schemas.openxmlformats.org/drawingml/2006/main" noGrp="1"/>
          </p:cNvSpPr>
          <p:nvPr/>
        </p:nvSpPr>
        <p:spPr>
          <a:xfrm xmlns:a="http://schemas.openxmlformats.org/drawingml/2006/main">
            <a:off x="11887200" y="7800975"/>
            <a:ext cx="2381250" cy="326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42A3D"/>
                </a:solidFill>
                <a:latin typeface="DejaVu Sans"/>
                <a:ea typeface="DejaVu Sans"/>
                <a:cs typeface="DejaVu Sans"/>
              </a:defRPr>
            </a:pPr>
            <a:r>
              <a:rPr sz="1950" b="1">
                <a:solidFill>
                  <a:srgbClr val="142A3D"/>
                </a:solidFill>
                <a:latin typeface="DejaVu Sans"/>
                <a:ea typeface="DejaVu Sans"/>
                <a:cs typeface="DejaVu Sans"/>
              </a:rPr>
              <a:t>Versioned model</a:t>
            </a:r>
          </a:p>
        </p:txBody>
      </p:sp>
      <p:sp>
        <p:nvSpPr>
          <p:cNvPr id="139" name="artifactory-text-138">
            <a:extLst xmlns:a="http://schemas.openxmlformats.org/drawingml/2006/main">
              <a:ext uri="{FF2B5EF4-FFF2-40B4-BE49-F238E27FC236}">
                <a16:creationId xmlns:a16="http://schemas.microsoft.com/office/drawing/2014/main" id="{57C404E6-46A6-47ED-A5FB-71668EA03705}"/>
              </a:ext>
            </a:extLst>
          </p:cNvPr>
          <p:cNvSpPr>
            <a:spLocks xmlns:a="http://schemas.openxmlformats.org/drawingml/2006/main" noGrp="1"/>
          </p:cNvSpPr>
          <p:nvPr/>
        </p:nvSpPr>
        <p:spPr>
          <a:xfrm xmlns:a="http://schemas.openxmlformats.org/drawingml/2006/main">
            <a:off x="11887200" y="8201025"/>
            <a:ext cx="2381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GCS model artifact</a:t>
            </a:r>
          </a:p>
        </p:txBody>
      </p:sp>
      <p:sp>
        <p:nvSpPr>
          <p:cNvPr id="140" name="artifactory-text-139">
            <a:extLst xmlns:a="http://schemas.openxmlformats.org/drawingml/2006/main">
              <a:ext uri="{FF2B5EF4-FFF2-40B4-BE49-F238E27FC236}">
                <a16:creationId xmlns:a16="http://schemas.microsoft.com/office/drawing/2014/main" id="{513FD0C2-AA3F-4E59-A9DB-9D403F212946}"/>
              </a:ext>
            </a:extLst>
          </p:cNvPr>
          <p:cNvSpPr>
            <a:spLocks xmlns:a="http://schemas.openxmlformats.org/drawingml/2006/main" noGrp="1"/>
          </p:cNvSpPr>
          <p:nvPr/>
        </p:nvSpPr>
        <p:spPr>
          <a:xfrm xmlns:a="http://schemas.openxmlformats.org/drawingml/2006/main">
            <a:off x="11887200" y="8505825"/>
            <a:ext cx="23812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Approve model rollout</a:t>
            </a:r>
          </a:p>
        </p:txBody>
      </p:sp>
      <p:sp>
        <p:nvSpPr>
          <p:cNvPr id="141" name="artifactory-text-140">
            <a:extLst xmlns:a="http://schemas.openxmlformats.org/drawingml/2006/main">
              <a:ext uri="{FF2B5EF4-FFF2-40B4-BE49-F238E27FC236}">
                <a16:creationId xmlns:a16="http://schemas.microsoft.com/office/drawing/2014/main" id="{7A7B9942-D993-4D39-BC26-48B22C721873}"/>
              </a:ext>
            </a:extLst>
          </p:cNvPr>
          <p:cNvSpPr>
            <a:spLocks xmlns:a="http://schemas.openxmlformats.org/drawingml/2006/main" noGrp="1"/>
          </p:cNvSpPr>
          <p:nvPr/>
        </p:nvSpPr>
        <p:spPr>
          <a:xfrm xmlns:a="http://schemas.openxmlformats.org/drawingml/2006/main">
            <a:off x="609600" y="7715250"/>
            <a:ext cx="31432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42A3D"/>
                </a:solidFill>
                <a:latin typeface="DejaVu Sans"/>
                <a:ea typeface="DejaVu Sans"/>
                <a:cs typeface="DejaVu Sans"/>
              </a:defRPr>
            </a:pPr>
            <a:r>
              <a:rPr sz="1725" b="1">
                <a:solidFill>
                  <a:srgbClr val="142A3D"/>
                </a:solidFill>
                <a:latin typeface="DejaVu Sans"/>
                <a:ea typeface="DejaVu Sans"/>
                <a:cs typeface="DejaVu Sans"/>
              </a:rPr>
              <a:t>Bank controls</a:t>
            </a:r>
          </a:p>
        </p:txBody>
      </p:sp>
      <p:sp>
        <p:nvSpPr>
          <p:cNvPr id="142" name="artifactory-text-141">
            <a:extLst xmlns:a="http://schemas.openxmlformats.org/drawingml/2006/main">
              <a:ext uri="{FF2B5EF4-FFF2-40B4-BE49-F238E27FC236}">
                <a16:creationId xmlns:a16="http://schemas.microsoft.com/office/drawing/2014/main" id="{559A8649-248D-4859-9B73-03A6D95A13E6}"/>
              </a:ext>
            </a:extLst>
          </p:cNvPr>
          <p:cNvSpPr>
            <a:spLocks xmlns:a="http://schemas.openxmlformats.org/drawingml/2006/main" noGrp="1"/>
          </p:cNvSpPr>
          <p:nvPr/>
        </p:nvSpPr>
        <p:spPr>
          <a:xfrm xmlns:a="http://schemas.openxmlformats.org/drawingml/2006/main">
            <a:off x="609600" y="8124825"/>
            <a:ext cx="3143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Terraform-managed resources</a:t>
            </a:r>
          </a:p>
        </p:txBody>
      </p:sp>
      <p:sp>
        <p:nvSpPr>
          <p:cNvPr id="143" name="artifactory-text-142">
            <a:extLst xmlns:a="http://schemas.openxmlformats.org/drawingml/2006/main">
              <a:ext uri="{FF2B5EF4-FFF2-40B4-BE49-F238E27FC236}">
                <a16:creationId xmlns:a16="http://schemas.microsoft.com/office/drawing/2014/main" id="{E927AC9E-D10B-410C-8EE1-D9EFC8328268}"/>
              </a:ext>
            </a:extLst>
          </p:cNvPr>
          <p:cNvSpPr>
            <a:spLocks xmlns:a="http://schemas.openxmlformats.org/drawingml/2006/main" noGrp="1"/>
          </p:cNvSpPr>
          <p:nvPr/>
        </p:nvSpPr>
        <p:spPr>
          <a:xfrm xmlns:a="http://schemas.openxmlformats.org/drawingml/2006/main">
            <a:off x="609600" y="8420100"/>
            <a:ext cx="3143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Scoped secrets and IAM</a:t>
            </a:r>
          </a:p>
        </p:txBody>
      </p:sp>
      <p:sp>
        <p:nvSpPr>
          <p:cNvPr id="144" name="artifactory-text-143">
            <a:extLst xmlns:a="http://schemas.openxmlformats.org/drawingml/2006/main">
              <a:ext uri="{FF2B5EF4-FFF2-40B4-BE49-F238E27FC236}">
                <a16:creationId xmlns:a16="http://schemas.microsoft.com/office/drawing/2014/main" id="{404AB51E-51BB-4EB7-A004-80EC607F7ABE}"/>
              </a:ext>
            </a:extLst>
          </p:cNvPr>
          <p:cNvSpPr>
            <a:spLocks xmlns:a="http://schemas.openxmlformats.org/drawingml/2006/main" noGrp="1"/>
          </p:cNvSpPr>
          <p:nvPr/>
        </p:nvSpPr>
        <p:spPr>
          <a:xfrm xmlns:a="http://schemas.openxmlformats.org/drawingml/2006/main">
            <a:off x="609600" y="8715375"/>
            <a:ext cx="31432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Approved VPC / proxy egress</a:t>
            </a:r>
          </a:p>
        </p:txBody>
      </p:sp>
      <p:sp>
        <p:nvSpPr>
          <p:cNvPr id="145" name="artifactory-text-144">
            <a:extLst xmlns:a="http://schemas.openxmlformats.org/drawingml/2006/main">
              <a:ext uri="{FF2B5EF4-FFF2-40B4-BE49-F238E27FC236}">
                <a16:creationId xmlns:a16="http://schemas.microsoft.com/office/drawing/2014/main" id="{70DC9E70-4575-4D0F-A2AB-87DCCDD2DAC2}"/>
              </a:ext>
            </a:extLst>
          </p:cNvPr>
          <p:cNvSpPr>
            <a:spLocks xmlns:a="http://schemas.openxmlformats.org/drawingml/2006/main" noGrp="1"/>
          </p:cNvSpPr>
          <p:nvPr/>
        </p:nvSpPr>
        <p:spPr>
          <a:xfrm xmlns:a="http://schemas.openxmlformats.org/drawingml/2006/main">
            <a:off x="14954250" y="7715250"/>
            <a:ext cx="2724150" cy="301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42A3D"/>
                </a:solidFill>
                <a:latin typeface="DejaVu Sans"/>
                <a:ea typeface="DejaVu Sans"/>
                <a:cs typeface="DejaVu Sans"/>
              </a:defRPr>
            </a:pPr>
            <a:r>
              <a:rPr sz="1800" b="1">
                <a:solidFill>
                  <a:srgbClr val="142A3D"/>
                </a:solidFill>
                <a:latin typeface="DejaVu Sans"/>
                <a:ea typeface="DejaVu Sans"/>
                <a:cs typeface="DejaVu Sans"/>
              </a:rPr>
              <a:t>Pilot measures</a:t>
            </a:r>
          </a:p>
        </p:txBody>
      </p:sp>
      <p:sp>
        <p:nvSpPr>
          <p:cNvPr id="146" name="artifactory-text-145">
            <a:extLst xmlns:a="http://schemas.openxmlformats.org/drawingml/2006/main">
              <a:ext uri="{FF2B5EF4-FFF2-40B4-BE49-F238E27FC236}">
                <a16:creationId xmlns:a16="http://schemas.microsoft.com/office/drawing/2014/main" id="{2DE26FAB-2ED5-403C-A301-9A483EC28213}"/>
              </a:ext>
            </a:extLst>
          </p:cNvPr>
          <p:cNvSpPr>
            <a:spLocks xmlns:a="http://schemas.openxmlformats.org/drawingml/2006/main" noGrp="1"/>
          </p:cNvSpPr>
          <p:nvPr/>
        </p:nvSpPr>
        <p:spPr>
          <a:xfrm xmlns:a="http://schemas.openxmlformats.org/drawingml/2006/main">
            <a:off x="14954250" y="8124825"/>
            <a:ext cx="27241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Useful warning lead time</a:t>
            </a:r>
          </a:p>
        </p:txBody>
      </p:sp>
      <p:sp>
        <p:nvSpPr>
          <p:cNvPr id="147" name="artifactory-text-146">
            <a:extLst xmlns:a="http://schemas.openxmlformats.org/drawingml/2006/main">
              <a:ext uri="{FF2B5EF4-FFF2-40B4-BE49-F238E27FC236}">
                <a16:creationId xmlns:a16="http://schemas.microsoft.com/office/drawing/2014/main" id="{C32D3E57-21BB-40E9-8A9E-18F67497EFB2}"/>
              </a:ext>
            </a:extLst>
          </p:cNvPr>
          <p:cNvSpPr>
            <a:spLocks xmlns:a="http://schemas.openxmlformats.org/drawingml/2006/main" noGrp="1"/>
          </p:cNvSpPr>
          <p:nvPr/>
        </p:nvSpPr>
        <p:spPr>
          <a:xfrm xmlns:a="http://schemas.openxmlformats.org/drawingml/2006/main">
            <a:off x="14954250" y="8420100"/>
            <a:ext cx="27241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False alerts per service</a:t>
            </a:r>
          </a:p>
        </p:txBody>
      </p:sp>
      <p:sp>
        <p:nvSpPr>
          <p:cNvPr id="148" name="artifactory-text-147">
            <a:extLst xmlns:a="http://schemas.openxmlformats.org/drawingml/2006/main">
              <a:ext uri="{FF2B5EF4-FFF2-40B4-BE49-F238E27FC236}">
                <a16:creationId xmlns:a16="http://schemas.microsoft.com/office/drawing/2014/main" id="{0FEDB9EC-1EA6-4620-9780-C37910EFB767}"/>
              </a:ext>
            </a:extLst>
          </p:cNvPr>
          <p:cNvSpPr>
            <a:spLocks xmlns:a="http://schemas.openxmlformats.org/drawingml/2006/main" noGrp="1"/>
          </p:cNvSpPr>
          <p:nvPr/>
        </p:nvSpPr>
        <p:spPr>
          <a:xfrm xmlns:a="http://schemas.openxmlformats.org/drawingml/2006/main">
            <a:off x="14954250" y="8715375"/>
            <a:ext cx="272415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46779"/>
                </a:solidFill>
                <a:latin typeface="DejaVu Sans"/>
                <a:ea typeface="DejaVu Sans"/>
                <a:cs typeface="DejaVu Sans"/>
              </a:defRPr>
            </a:pPr>
            <a:r>
              <a:rPr sz="1575" b="0">
                <a:solidFill>
                  <a:srgbClr val="546779"/>
                </a:solidFill>
                <a:latin typeface="DejaVu Sans"/>
                <a:ea typeface="DejaVu Sans"/>
                <a:cs typeface="DejaVu Sans"/>
              </a:rPr>
              <a:t>Coverage of past incidents</a:t>
            </a:r>
          </a:p>
        </p:txBody>
      </p:sp>
      <p:sp>
        <p:nvSpPr>
          <p:cNvPr id="149" name="artifactory-text-148">
            <a:extLst xmlns:a="http://schemas.openxmlformats.org/drawingml/2006/main">
              <a:ext uri="{FF2B5EF4-FFF2-40B4-BE49-F238E27FC236}">
                <a16:creationId xmlns:a16="http://schemas.microsoft.com/office/drawing/2014/main" id="{8D8F24F5-9401-4911-8AF7-CC08FA2D5CFD}"/>
              </a:ext>
            </a:extLst>
          </p:cNvPr>
          <p:cNvSpPr>
            <a:spLocks xmlns:a="http://schemas.openxmlformats.org/drawingml/2006/main" noGrp="1"/>
          </p:cNvSpPr>
          <p:nvPr/>
        </p:nvSpPr>
        <p:spPr>
          <a:xfrm xmlns:a="http://schemas.openxmlformats.org/drawingml/2006/main">
            <a:off x="8372475" y="9077325"/>
            <a:ext cx="904875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7A8998"/>
                </a:solidFill>
                <a:latin typeface="DejaVu Sans"/>
                <a:ea typeface="DejaVu Sans"/>
                <a:cs typeface="DejaVu Sans"/>
              </a:defRPr>
            </a:pPr>
            <a:r>
              <a:rPr sz="1500" b="0">
                <a:solidFill>
                  <a:srgbClr val="7A8998"/>
                </a:solidFill>
                <a:latin typeface="DejaVu Sans"/>
                <a:ea typeface="DejaVu Sans"/>
                <a:cs typeface="DejaVu Sans"/>
              </a:rPr>
              <a:t>Incident outcomes, impact onset and operator action</a:t>
            </a:r>
          </a:p>
        </p:txBody>
      </p:sp>
      <p:sp>
        <p:nvSpPr>
          <p:cNvPr id="150" name="artifactory-text-149">
            <a:extLst xmlns:a="http://schemas.openxmlformats.org/drawingml/2006/main">
              <a:ext uri="{FF2B5EF4-FFF2-40B4-BE49-F238E27FC236}">
                <a16:creationId xmlns:a16="http://schemas.microsoft.com/office/drawing/2014/main" id="{4C905CF5-229B-4A52-883D-18917015AA87}"/>
              </a:ext>
            </a:extLst>
          </p:cNvPr>
          <p:cNvSpPr>
            <a:spLocks xmlns:a="http://schemas.openxmlformats.org/drawingml/2006/main" noGrp="1"/>
          </p:cNvSpPr>
          <p:nvPr/>
        </p:nvSpPr>
        <p:spPr>
          <a:xfrm xmlns:a="http://schemas.openxmlformats.org/drawingml/2006/main">
            <a:off x="609600" y="9763125"/>
            <a:ext cx="170688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46779"/>
                </a:solidFill>
                <a:latin typeface="DejaVu Sans"/>
                <a:ea typeface="DejaVu Sans"/>
                <a:cs typeface="DejaVu Sans"/>
              </a:defRPr>
            </a:pPr>
            <a:r>
              <a:rPr sz="1500" b="0">
                <a:solidFill>
                  <a:srgbClr val="546779"/>
                </a:solidFill>
                <a:latin typeface="DejaVu Sans"/>
                <a:ea typeface="DejaVu Sans"/>
                <a:cs typeface="DejaVu Sans"/>
              </a:rPr>
              <a:t>Proposed pilot. Forecasts and warning times are illustrative; validate useful lead time against actual incidents.</a:t>
            </a:r>
          </a:p>
        </p:txBody>
      </p:sp>
    </p:spTree>
    <p:extLst>
      <p:ext uri="{BB962C8B-B14F-4D97-AF65-F5344CB8AC3E}">
        <p14:creationId xmlns:p14="http://schemas.microsoft.com/office/powerpoint/2010/main" val="3231122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2026-10-07T06:43:02.8080000Z</dcterms:created>
  <dcterms:modified xsi:type="dcterms:W3CDTF">2026-10-07T06:43:02.8080000Z</dcterms:modified>
</coreProperties>
</file>